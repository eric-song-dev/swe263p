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325342eebf41ff" /><Relationship Type="http://schemas.openxmlformats.org/officeDocument/2006/relationships/extended-properties" Target="/docProps/app.xml" Id="R291e4ba9f7b94248" /><Relationship Type="http://schemas.openxmlformats.org/officeDocument/2006/relationships/officeDocument" Target="/ppt/presentation.xml" Id="R097a482ec317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0b091373ab454a"/>
  </p:sldMasterIdLst>
  <p:notesMasterIdLst>
    <p:notesMasterId xmlns:r="http://schemas.openxmlformats.org/officeDocument/2006/relationships" r:id="R607ee36dc04248fc"/>
  </p:notesMasterIdLst>
  <p:sldIdLst>
    <p:sldId xmlns:r="http://schemas.openxmlformats.org/officeDocument/2006/relationships" id="256" r:id="R3b746066f9954bb7"/>
    <p:sldId xmlns:r="http://schemas.openxmlformats.org/officeDocument/2006/relationships" id="257" r:id="R0960da26e2a74aca"/>
    <p:sldId xmlns:r="http://schemas.openxmlformats.org/officeDocument/2006/relationships" id="258" r:id="Rc61b685b84a3444d"/>
    <p:sldId xmlns:r="http://schemas.openxmlformats.org/officeDocument/2006/relationships" id="259" r:id="Rd83a8d88ac93404a"/>
    <p:sldId xmlns:r="http://schemas.openxmlformats.org/officeDocument/2006/relationships" id="260" r:id="R2479178e15424ff5"/>
    <p:sldId xmlns:r="http://schemas.openxmlformats.org/officeDocument/2006/relationships" id="261" r:id="R0bd0bb3fe8fa407d"/>
    <p:sldId xmlns:r="http://schemas.openxmlformats.org/officeDocument/2006/relationships" id="262" r:id="R1035a0190c4248d3"/>
    <p:sldId xmlns:r="http://schemas.openxmlformats.org/officeDocument/2006/relationships" id="263" r:id="R70263bd777d54f91"/>
    <p:sldId xmlns:r="http://schemas.openxmlformats.org/officeDocument/2006/relationships" id="264" r:id="R04c064b15e5441c3"/>
    <p:sldId xmlns:r="http://schemas.openxmlformats.org/officeDocument/2006/relationships" id="265" r:id="Re60091a875164c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b091373ab454a" /><Relationship Type="http://schemas.openxmlformats.org/officeDocument/2006/relationships/theme" Target="/ppt/theme/theme1.xml" Id="R265a63cecd834522" /><Relationship Type="http://schemas.openxmlformats.org/officeDocument/2006/relationships/notesMaster" Target="/ppt/notesMasters/notesMaster1.xml" Id="R607ee36dc04248fc" /><Relationship Type="http://schemas.openxmlformats.org/officeDocument/2006/relationships/presProps" Target="/ppt/presProps.xml" Id="Reebaf44fbfb34b3d" /><Relationship Type="http://schemas.openxmlformats.org/officeDocument/2006/relationships/viewProps" Target="/ppt/viewProps.xml" Id="R78d2598c5aaa4850" /><Relationship Type="http://schemas.openxmlformats.org/officeDocument/2006/relationships/tableStyles" Target="/ppt/tableStyles.xml" Id="R06f65142bd5749ae" /><Relationship Type="http://schemas.openxmlformats.org/officeDocument/2006/relationships/slide" Target="/ppt/slides/slide1.xml" Id="R3b746066f9954bb7" /><Relationship Type="http://schemas.openxmlformats.org/officeDocument/2006/relationships/slide" Target="/ppt/slides/slide2.xml" Id="R0960da26e2a74aca" /><Relationship Type="http://schemas.openxmlformats.org/officeDocument/2006/relationships/slide" Target="/ppt/slides/slide3.xml" Id="Rc61b685b84a3444d" /><Relationship Type="http://schemas.openxmlformats.org/officeDocument/2006/relationships/slide" Target="/ppt/slides/slide4.xml" Id="Rd83a8d88ac93404a" /><Relationship Type="http://schemas.openxmlformats.org/officeDocument/2006/relationships/slide" Target="/ppt/slides/slide5.xml" Id="R2479178e15424ff5" /><Relationship Type="http://schemas.openxmlformats.org/officeDocument/2006/relationships/slide" Target="/ppt/slides/slide6.xml" Id="R0bd0bb3fe8fa407d" /><Relationship Type="http://schemas.openxmlformats.org/officeDocument/2006/relationships/slide" Target="/ppt/slides/slide7.xml" Id="R1035a0190c4248d3" /><Relationship Type="http://schemas.openxmlformats.org/officeDocument/2006/relationships/slide" Target="/ppt/slides/slide8.xml" Id="R70263bd777d54f91" /><Relationship Type="http://schemas.openxmlformats.org/officeDocument/2006/relationships/slide" Target="/ppt/slides/slide9.xml" Id="R04c064b15e5441c3" /><Relationship Type="http://schemas.openxmlformats.org/officeDocument/2006/relationships/slide" Target="/ppt/slides/slide10.xml" Id="Re60091a87516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01ec33e8f944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c3fa2357f4342" /><Relationship Type="http://schemas.openxmlformats.org/officeDocument/2006/relationships/notesMaster" Target="/ppt/notesMasters/notesMaster1.xml" Id="R19e0b7b78916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32c74b32884e4f" /><Relationship Type="http://schemas.openxmlformats.org/officeDocument/2006/relationships/notesMaster" Target="/ppt/notesMasters/notesMaster1.xml" Id="R9672032f5ece45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ecca57e8f041bd" /><Relationship Type="http://schemas.openxmlformats.org/officeDocument/2006/relationships/notesMaster" Target="/ppt/notesMasters/notesMaster1.xml" Id="R91f2ce18013642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56ff00fe43478e" /><Relationship Type="http://schemas.openxmlformats.org/officeDocument/2006/relationships/notesMaster" Target="/ppt/notesMasters/notesMaster1.xml" Id="R80ab6b649e38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1de51e815643d4" /><Relationship Type="http://schemas.openxmlformats.org/officeDocument/2006/relationships/notesMaster" Target="/ppt/notesMasters/notesMaster1.xml" Id="R0fa8183c173440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f844f3f0b94dd9" /><Relationship Type="http://schemas.openxmlformats.org/officeDocument/2006/relationships/notesMaster" Target="/ppt/notesMasters/notesMaster1.xml" Id="Rd76917490a8445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a0f9a1d4154997" /><Relationship Type="http://schemas.openxmlformats.org/officeDocument/2006/relationships/notesMaster" Target="/ppt/notesMasters/notesMaster1.xml" Id="Rdff77b2eb8f040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12a2dad9d04a53" /><Relationship Type="http://schemas.openxmlformats.org/officeDocument/2006/relationships/notesMaster" Target="/ppt/notesMasters/notesMaster1.xml" Id="R5edd8acde78f47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0c666235a54f03" /><Relationship Type="http://schemas.openxmlformats.org/officeDocument/2006/relationships/notesMaster" Target="/ppt/notesMasters/notesMaster1.xml" Id="R2f21d41b480540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803779c444221" /><Relationship Type="http://schemas.openxmlformats.org/officeDocument/2006/relationships/notesMaster" Target="/ppt/notesMasters/notesMaster1.xml" Id="Reda3596554014b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Canvas as the system, the student-side workflows evaluated, and the goal of the video: identify where the interface supports students well and where it creates avoidable friction.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a usability inspection, not a user test. The analysis applies Nielsen's heuristics to common tasks visible in the screenshots and prioritizes four issues for the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walk through the evidence: Dashboard, course homepage, Assignments, Grades, Announcements, and Calendar. Emphasize that the evaluation follows ordinary student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heuristic, then point to the To Do list, badges, due dates, and grade sidebar as strengths. Then explain the weak spots: hidden score symbols, small comment/status icons, and truncated item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consistency and mention Kumar's internal, external, aesthetic, and functional consistency. Canvas is internally consistent in navigation, but icon meanings are not always clear or consistent across contexts.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heuristic. Course navigation and table headers support recognition, but truncated names and icon-only course-card actions require students to remember meanings.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minimalist design. The Dashboard and course home page contain useful information, but course images, icons, To Do entries, utility buttons, and side panels compete for attention.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four actionable fixes: clearer labels, less truncation, recovery steps, and contextual help. Use the search no-results screenshot as an example of a useful recovery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balanced evaluation: Canvas works because core tasks are findable, but it can better show status, clarify icon meaning, and reduce Dashboard clutter.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end card or include the references in the video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3f144e7bf4e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cd34e5a8e324ee4" /><Relationship Type="http://schemas.openxmlformats.org/officeDocument/2006/relationships/slideLayout" Target="/ppt/slideLayouts/slideLayout2.xml" Id="Rb7f230a867f149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230a867f149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1fcd1e5b74c53" /><Relationship Type="http://schemas.openxmlformats.org/officeDocument/2006/relationships/image" Target="/ppt/media/image.png" Id="R3d668ab4fdf747da" /><Relationship Type="http://schemas.openxmlformats.org/officeDocument/2006/relationships/notesSlide" Target="/ppt/notesSlides/notesSlide1.xml" Id="R143fcafdf2e745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ace3162edf4c72" /><Relationship Type="http://schemas.openxmlformats.org/officeDocument/2006/relationships/image" Target="/ppt/media/image2.png" Id="Rfa071fbc5a88424d" /><Relationship Type="http://schemas.openxmlformats.org/officeDocument/2006/relationships/image" Target="/ppt/media/image3.png" Id="R517049f922854091" /><Relationship Type="http://schemas.openxmlformats.org/officeDocument/2006/relationships/image" Target="/ppt/media/image4.png" Id="Rf66f14dea42c420d" /><Relationship Type="http://schemas.openxmlformats.org/officeDocument/2006/relationships/notesSlide" Target="/ppt/notesSlides/notesSlide2.xml" Id="R717ac307bfed47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ff8ddaf7824d09" /><Relationship Type="http://schemas.openxmlformats.org/officeDocument/2006/relationships/image" Target="/ppt/media/image5.png" Id="R439db52a54cb41ff" /><Relationship Type="http://schemas.openxmlformats.org/officeDocument/2006/relationships/image" Target="/ppt/media/image6.png" Id="R3f140485ba0147c3" /><Relationship Type="http://schemas.openxmlformats.org/officeDocument/2006/relationships/image" Target="/ppt/media/image7.png" Id="R75716860429a47a6" /><Relationship Type="http://schemas.openxmlformats.org/officeDocument/2006/relationships/image" Target="/ppt/media/image8.png" Id="R9435a33c67634c95" /><Relationship Type="http://schemas.openxmlformats.org/officeDocument/2006/relationships/notesSlide" Target="/ppt/notesSlides/notesSlide3.xml" Id="R7bb9d11f0163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24b6a0fb0c45d1" /><Relationship Type="http://schemas.openxmlformats.org/officeDocument/2006/relationships/image" Target="/ppt/media/image9.png" Id="R0047a4a543ab45b5" /><Relationship Type="http://schemas.openxmlformats.org/officeDocument/2006/relationships/image" Target="/ppt/media/image10.png" Id="R24f3dbb7d0d64b1b" /><Relationship Type="http://schemas.openxmlformats.org/officeDocument/2006/relationships/notesSlide" Target="/ppt/notesSlides/notesSlide4.xml" Id="R34aa16917a4745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a88e1198c94cd0" /><Relationship Type="http://schemas.openxmlformats.org/officeDocument/2006/relationships/image" Target="/ppt/media/image11.png" Id="Ra61d9a43202e47f4" /><Relationship Type="http://schemas.openxmlformats.org/officeDocument/2006/relationships/image" Target="/ppt/media/image12.png" Id="R41091f32a9d240b7" /><Relationship Type="http://schemas.openxmlformats.org/officeDocument/2006/relationships/notesSlide" Target="/ppt/notesSlides/notesSlide5.xml" Id="R95c947adae6143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9625b7fb1d4aa0" /><Relationship Type="http://schemas.openxmlformats.org/officeDocument/2006/relationships/image" Target="/ppt/media/image13.png" Id="Ra521a94d9a374952" /><Relationship Type="http://schemas.openxmlformats.org/officeDocument/2006/relationships/image" Target="/ppt/media/image14.png" Id="R8975ff4a78bb4c20" /><Relationship Type="http://schemas.openxmlformats.org/officeDocument/2006/relationships/notesSlide" Target="/ppt/notesSlides/notesSlide6.xml" Id="Rba20de20e95240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1feab9d0fe4f28" /><Relationship Type="http://schemas.openxmlformats.org/officeDocument/2006/relationships/image" Target="/ppt/media/image15.png" Id="R10834ae3ca2d4ea0" /><Relationship Type="http://schemas.openxmlformats.org/officeDocument/2006/relationships/image" Target="/ppt/media/image16.png" Id="R66ec5156eebf42d7" /><Relationship Type="http://schemas.openxmlformats.org/officeDocument/2006/relationships/image" Target="/ppt/media/image17.png" Id="R250200b84dfa4557" /><Relationship Type="http://schemas.openxmlformats.org/officeDocument/2006/relationships/notesSlide" Target="/ppt/notesSlides/notesSlide7.xml" Id="Rb45cebf429f54d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bce4e47894b85" /><Relationship Type="http://schemas.openxmlformats.org/officeDocument/2006/relationships/image" Target="/ppt/media/image18.png" Id="R3b45844d4c43425b" /><Relationship Type="http://schemas.openxmlformats.org/officeDocument/2006/relationships/notesSlide" Target="/ppt/notesSlides/notesSlide8.xml" Id="R56da1d57ba9d49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68d75ace249c0" /><Relationship Type="http://schemas.openxmlformats.org/officeDocument/2006/relationships/notesSlide" Target="/ppt/notesSlides/notesSlide9.xml" Id="R5686f17f547f42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e47210fe1d4743" /><Relationship Type="http://schemas.openxmlformats.org/officeDocument/2006/relationships/notesSlide" Target="/ppt/notesSlides/notesSlide10.xml" Id="Rcda0e94cf68f4a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ED76C8-E435-453D-B077-A75CFFEA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05B09-3A03-4280-A492-F87F3B3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91"/>
          </a:solidFill>
          <a:ln xmlns:a="http://schemas.openxmlformats.org/drawingml/2006/main" w="0">
            <a:solidFill>
              <a:srgbClr val="0B3D9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F174E-4666-4301-8D75-C98F6F3D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SWE 263P | Heuristic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97237-490A-442F-AD3F-1599C10F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Canvas LMS: student workflow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E7474-D974-4531-A918-A7D5E66B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focused inspection of how Canvas supports finding assignments, deadlines, announcements, grades, and calendar items.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58B3F-DEB1-4F17-B8B3-FBBA6B7C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6BD28-D811-4F7A-9539-45D71B22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9012D-EDD5-4C18-ADC0-E30FD17B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Evaluated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63F06-C5DD-4C73-87FC-9E0DF894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Assignments, due dates, announcements, grades, calendar, and course navigation.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68ab4fdf747da"/>
          <a:stretch xmlns:a="http://schemas.openxmlformats.org/drawingml/2006/main"/>
        </p:blipFill>
        <p:spPr>
          <a:xfrm xmlns:a="http://schemas.openxmlformats.org/drawingml/2006/main">
            <a:off x="6334125" y="781050"/>
            <a:ext cx="5191125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2E4E6-28ED-4B31-B20A-3E7A799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81050"/>
            <a:ext cx="5191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7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E1AE6-DAE2-45CC-9EB9-BF1829B1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Evaluator: Zhenyu Song | May 30,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09D5E-7953-4EAF-BE78-68294E4A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01</a:t>
            </a:r>
          </a:p>
        </p:txBody>
      </p:sp>
    </p:spTree>
    <p:extLst>
      <p:ext uri="{BB962C8B-B14F-4D97-AF65-F5344CB8AC3E}">
        <p14:creationId xmlns:p14="http://schemas.microsoft.com/office/powerpoint/2010/main" val="2841879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1EEBB-C054-4CC9-B7B3-F3F90849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4093A-D42E-4C2A-A9C2-615EE80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Heuristic evaluation of Canvas student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69C0E-3ED2-4937-83C6-EA7E1197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BBA55-1322-4341-8DF9-9D1B22A5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BF8B4-8E8F-4C7A-80FC-E9DDFA6A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FA677-F3C5-4D14-AC3C-CAAEAB0F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886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Student workflows: assignments, deadlines, announcements, grades, calendar, and course navigation.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28B64-8F2C-4A19-ABC3-951D0C4D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B8AFD-120C-4787-8E55-21BC838C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B6FC4-7C63-4E0F-81F9-74DFFBB9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Inspection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F69AD-9FCA-4652-8781-8956EC2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52650"/>
            <a:ext cx="2886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Applied Nielsen's 10 heuristics as a lightweight usability inspection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711F8-3255-4ED7-8B33-A8C817DF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494D0-A310-4003-A27B-CB8BB761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F09A9-AD03-4592-8E54-855225F7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88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77C99-6EA2-4046-BF48-C9507D7F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886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Used six Canvas screenshots and the completed workbook to select the top four heuristics.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71fbc5a88424d"/>
          <a:stretch xmlns:a="http://schemas.openxmlformats.org/drawingml/2006/main"/>
        </p:blipFill>
        <p:spPr>
          <a:xfrm xmlns:a="http://schemas.openxmlformats.org/drawingml/2006/main">
            <a:off x="704850" y="3638550"/>
            <a:ext cx="4953000" cy="20764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049f922854091"/>
          <a:stretch xmlns:a="http://schemas.openxmlformats.org/drawingml/2006/main"/>
        </p:blipFill>
        <p:spPr>
          <a:xfrm xmlns:a="http://schemas.openxmlformats.org/drawingml/2006/main">
            <a:off x="6429375" y="3476625"/>
            <a:ext cx="1200150" cy="271462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f14dea42c420d"/>
          <a:stretch xmlns:a="http://schemas.openxmlformats.org/drawingml/2006/main"/>
        </p:blipFill>
        <p:spPr>
          <a:xfrm xmlns:a="http://schemas.openxmlformats.org/drawingml/2006/main">
            <a:off x="8953500" y="3476625"/>
            <a:ext cx="1133475" cy="27146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184B0-DD33-401B-A7F5-D18D23CE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Heuristic evaluations are useful for finding visible design issues quickly, but they do not replace testing with students.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A1162-6B8F-48B2-B448-5502BA57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02</a:t>
            </a:r>
          </a:p>
        </p:txBody>
      </p:sp>
    </p:spTree>
    <p:extLst>
      <p:ext uri="{BB962C8B-B14F-4D97-AF65-F5344CB8AC3E}">
        <p14:creationId xmlns:p14="http://schemas.microsoft.com/office/powerpoint/2010/main" val="208591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BC99F-C29C-4DDD-B2EB-4B0E8DC2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DF2D8-5A49-4385-B0BF-FFCC1079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Canvas is a hub for many parallel student tasks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db52a54cb41ff"/>
          <a:stretch xmlns:a="http://schemas.openxmlformats.org/drawingml/2006/main"/>
        </p:blipFill>
        <p:spPr>
          <a:xfrm xmlns:a="http://schemas.openxmlformats.org/drawingml/2006/main">
            <a:off x="666750" y="1504950"/>
            <a:ext cx="3143250" cy="207645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40485ba0147c3"/>
          <a:stretch xmlns:a="http://schemas.openxmlformats.org/drawingml/2006/main"/>
        </p:blipFill>
        <p:spPr>
          <a:xfrm xmlns:a="http://schemas.openxmlformats.org/drawingml/2006/main">
            <a:off x="4171950" y="1504950"/>
            <a:ext cx="3476625" cy="22860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16860429a47a6"/>
          <a:stretch xmlns:a="http://schemas.openxmlformats.org/drawingml/2006/main"/>
        </p:blipFill>
        <p:spPr>
          <a:xfrm xmlns:a="http://schemas.openxmlformats.org/drawingml/2006/main">
            <a:off x="8001000" y="1504950"/>
            <a:ext cx="3476625" cy="2447925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5a33c67634c95"/>
          <a:stretch xmlns:a="http://schemas.openxmlformats.org/drawingml/2006/main"/>
        </p:blipFill>
        <p:spPr>
          <a:xfrm xmlns:a="http://schemas.openxmlformats.org/drawingml/2006/main">
            <a:off x="666750" y="4048125"/>
            <a:ext cx="4095750" cy="2286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D0764-F5E9-45C2-AA3B-19E1F50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005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7D197-491A-43DE-8B17-2C30FA6F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005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4A78A-F264-48F1-9365-885BE79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72000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Core student jobs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25BB1-D9E8-4ED7-9603-462A6955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33950"/>
            <a:ext cx="4933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See what is due, find course material, read updates, interpret grades, and plan time across multiple courses.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F98FA-8664-4133-9E14-FD19C1DB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03</a:t>
            </a:r>
          </a:p>
        </p:txBody>
      </p:sp>
    </p:spTree>
    <p:extLst>
      <p:ext uri="{BB962C8B-B14F-4D97-AF65-F5344CB8AC3E}">
        <p14:creationId xmlns:p14="http://schemas.microsoft.com/office/powerpoint/2010/main" val="202403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3D2E6-6764-456C-8132-FCC28E5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H1. Visibility of System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C9E00-3792-4A38-8D9E-ADB31BA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interface should keep users informed about what is happening.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4BD0A-0A71-496E-B7E5-1B7A87CF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96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Source: Nielsen Norman Group, n.d.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7a4a543ab45b5"/>
          <a:stretch xmlns:a="http://schemas.openxmlformats.org/drawingml/2006/main"/>
        </p:blipFill>
        <p:spPr>
          <a:xfrm xmlns:a="http://schemas.openxmlformats.org/drawingml/2006/main">
            <a:off x="762000" y="1428750"/>
            <a:ext cx="1695450" cy="48006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3dbb7d0d64b1b"/>
          <a:stretch xmlns:a="http://schemas.openxmlformats.org/drawingml/2006/main"/>
        </p:blipFill>
        <p:spPr>
          <a:xfrm xmlns:a="http://schemas.openxmlformats.org/drawingml/2006/main">
            <a:off x="2857500" y="1809750"/>
            <a:ext cx="2238375" cy="2800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056FE-0AC4-448E-BB1C-737D126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68389-4E76-4D89-ADEB-F83CD949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864DB-E89D-4CB9-9E2A-EE5DA64D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4307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Works well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D99FC-2842-4D6E-801F-1CBC3EB1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05025"/>
            <a:ext cx="474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Due dates, To Do items, badges, and grade totals make the system state easy to check.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D2360-84E7-41EB-8B24-9DA705DF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5143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66D44-9C19-4D1F-9CDC-07FE912B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D6770-D334-47ED-9E62-8D162C6D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62325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Needs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B3CC2-4779-41BC-8C90-160FE80B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24275"/>
            <a:ext cx="474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Some status details are hidden behind small icons, hidden-score symbols, and truncated item names.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FE1AB-7977-41D6-865F-E6F171DD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Recommendation: keep the status cues, but label icon-only states and expose full high-priority item names.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3280E-A2B5-4ECB-9946-EE0A3E8E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04</a:t>
            </a:r>
          </a:p>
        </p:txBody>
      </p:sp>
    </p:spTree>
    <p:extLst>
      <p:ext uri="{BB962C8B-B14F-4D97-AF65-F5344CB8AC3E}">
        <p14:creationId xmlns:p14="http://schemas.microsoft.com/office/powerpoint/2010/main" val="19856168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BD86A-FF8E-4DCF-B72F-DB8CA4EF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H4. Consistency and Standards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583FD-F690-4274-8241-37A58C4E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Users should not wonder whether similar words, situations, or actions mean the same thing.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ABBBE-3E89-4E30-9F64-4DA78C6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96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Source: Nielsen Norman Group, n.d.; Kumar, n.d.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d9a43202e47f4"/>
          <a:stretch xmlns:a="http://schemas.openxmlformats.org/drawingml/2006/main"/>
        </p:blipFill>
        <p:spPr>
          <a:xfrm xmlns:a="http://schemas.openxmlformats.org/drawingml/2006/main">
            <a:off x="762000" y="1524000"/>
            <a:ext cx="2476500" cy="3857625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91f32a9d240b7"/>
          <a:stretch xmlns:a="http://schemas.openxmlformats.org/drawingml/2006/main"/>
        </p:blipFill>
        <p:spPr>
          <a:xfrm xmlns:a="http://schemas.openxmlformats.org/drawingml/2006/main">
            <a:off x="3667125" y="1619250"/>
            <a:ext cx="4857750" cy="3209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A80B3-B155-4943-9F43-D323F1B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2238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76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A7E6E-5EDA-4661-ABA2-70973E1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55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7F182-2736-433A-978D-D4063EC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714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FC5A4-268A-42D7-80D6-F20F16FA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74D06-75AD-47A9-82D5-FC147B7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9070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Consistent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A6CE2-A093-4355-AE0E-5D495952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2650"/>
            <a:ext cx="23145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Global navigation, course navigation, blue links, and tables repeat across pages.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E1FBD-DA7E-4505-87B6-8520317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CE3C9-1504-4D65-A091-77BC07FA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04C75-3955-4CF4-B5E6-C2DAE06B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2314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Functional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7AFCA-0045-4912-87E6-949DE159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314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Similar small icons appear in different contexts without visible labels at the decision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0EF6E-A511-4E25-A084-70D9C64F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006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Kumar's lens: Canvas is aesthetically and internally consistent, but functional consistency is weaker when icon meaning is not visible while scanning.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F0829-AE80-4D5A-B972-C696D1E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05</a:t>
            </a:r>
          </a:p>
        </p:txBody>
      </p:sp>
    </p:spTree>
    <p:extLst>
      <p:ext uri="{BB962C8B-B14F-4D97-AF65-F5344CB8AC3E}">
        <p14:creationId xmlns:p14="http://schemas.microsoft.com/office/powerpoint/2010/main" val="14959895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E8B05-5BC9-4E18-AACD-6DC30163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H6. Recognition Rather Than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86B3B-57BC-40AF-8CF9-4DD211B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Visible options reduce memory load.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176EF-9C71-4514-84B5-2D6B4346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96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Source: Nielsen Norman Group, n.d.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1a94d9a374952"/>
          <a:stretch xmlns:a="http://schemas.openxmlformats.org/drawingml/2006/main"/>
        </p:blipFill>
        <p:spPr>
          <a:xfrm xmlns:a="http://schemas.openxmlformats.org/drawingml/2006/main">
            <a:off x="666750" y="1476375"/>
            <a:ext cx="4953000" cy="3267075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5ff4a78bb4c20"/>
          <a:stretch xmlns:a="http://schemas.openxmlformats.org/drawingml/2006/main"/>
        </p:blipFill>
        <p:spPr>
          <a:xfrm xmlns:a="http://schemas.openxmlformats.org/drawingml/2006/main">
            <a:off x="6143625" y="1524000"/>
            <a:ext cx="219075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C5666-FCB7-43D8-8F4F-E470F6F0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3A86C-EAAD-47E6-9E3C-B8FA1EDA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DA0D4-C8D0-4B34-855D-B6D9E588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1952625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2B7B6-BB7F-442E-AA88-473888C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452CA-1BC9-466E-8FBE-3446A543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310AE-2D7B-440D-BB31-B3AF3B3D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Recognition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BF356-61B3-4EFA-A0BA-5D001643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Persistent navigation and table headers make major destinations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F15B4-3EB4-44AC-A3E5-8FCC54AF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762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EE444-1BD3-4C57-A1C3-46869CDF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C5A6D-F335-475F-9237-EFCD4F2F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Recall burden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21618-0B19-4AEC-918E-404E4A74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5285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Truncated course names and icon-only shortcuts ask students to remember meanings before acting.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5A413-0C11-4B02-8523-4F59CEB6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871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Recommendation: reveal full names on hover/focus and add text labels or a compact legend for course-card shortcuts.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A5CE8-256F-4F55-824D-604301F5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06</a:t>
            </a:r>
          </a:p>
        </p:txBody>
      </p:sp>
    </p:spTree>
    <p:extLst>
      <p:ext uri="{BB962C8B-B14F-4D97-AF65-F5344CB8AC3E}">
        <p14:creationId xmlns:p14="http://schemas.microsoft.com/office/powerpoint/2010/main" val="13436536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5AF5B-9943-4D89-9EBA-C124866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H8. Aesthetic and Minimalist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A7196-21C1-47E8-9FAA-F96339D4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Extra information competes with what students need most.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83987-56A6-428E-8ED6-53ADD89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96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Source: Nielsen Norman Group, n.d.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34ae3ca2d4ea0"/>
          <a:stretch xmlns:a="http://schemas.openxmlformats.org/drawingml/2006/main"/>
        </p:blipFill>
        <p:spPr>
          <a:xfrm xmlns:a="http://schemas.openxmlformats.org/drawingml/2006/main">
            <a:off x="628650" y="1524000"/>
            <a:ext cx="5476875" cy="34290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c5156eebf42d7"/>
          <a:stretch xmlns:a="http://schemas.openxmlformats.org/drawingml/2006/main"/>
        </p:blipFill>
        <p:spPr>
          <a:xfrm xmlns:a="http://schemas.openxmlformats.org/drawingml/2006/main">
            <a:off x="6572250" y="1619250"/>
            <a:ext cx="4191000" cy="5905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200b84dfa4557"/>
          <a:stretch xmlns:a="http://schemas.openxmlformats.org/drawingml/2006/main"/>
        </p:blipFill>
        <p:spPr>
          <a:xfrm xmlns:a="http://schemas.openxmlformats.org/drawingml/2006/main">
            <a:off x="6572250" y="2714625"/>
            <a:ext cx="4191000" cy="2343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F9180-AD60-4124-93BE-C0CD1F0D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10477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0D2D3-3FA7-4C81-BC6E-3DF46B1D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85925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76013-A0FD-4448-9834-D72887C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762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A6FBA-3125-418F-A247-9B67FC34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5FF62-ABAE-4E92-B9A9-E724F84A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9CE36-D069-4D5A-9D92-41BB187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Useful information competes for attention, so students scan across cards, images, badges, utility panels, and long To Do lists.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987B7-8158-4974-83D1-20340724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762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9A654-04FD-4F8D-9B33-FB267EB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B20D6-66A1-4C00-9192-CF8630A8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43A97-6A1E-462A-8222-BF8E7F2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Give urgent coursework stronger visual priority, offer a denser list view, and group secondary tools away from main content.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B0F5F-CFBF-4E9B-97E0-22D7204E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07</a:t>
            </a:r>
          </a:p>
        </p:txBody>
      </p:sp>
    </p:spTree>
    <p:extLst>
      <p:ext uri="{BB962C8B-B14F-4D97-AF65-F5344CB8AC3E}">
        <p14:creationId xmlns:p14="http://schemas.microsoft.com/office/powerpoint/2010/main" val="2813138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31711-90B0-40ED-9B55-06DC557C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Prioritized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53191-300D-4107-A54C-EF0448CD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Small changes could reduce repeated student effort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C8790-3DA2-4864-9AE4-6078E031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3E477-745D-4DAD-9778-E2845721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F696F-033A-4C4E-8082-99D8827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954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1. Label status icons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04452-FC23-4B2B-8C50-5016A19D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057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Add visible labels or accessible tooltips for comments, hidden scores, course-card shortcuts, and unread markers.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28FDD-B1EA-49F9-8440-064831D2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C6E5A-3F34-4916-8281-47D45E29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EBABF-ED2C-427D-A5DF-2BCDED0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2. Reduce truncation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84FDA-D448-4A6E-AA02-D50CFD9E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Show full course and assignment names for high-priority items, especially in Dashboard and To 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70AFA-CB6B-4AE5-A31F-D86EBF69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095A0-9EBD-4EB3-AA41-838D95C7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4EFD1-D962-471C-87D6-6228F63A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954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4. Add contextual help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1F26E-9532-4BFF-B757-4A36618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574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Place short help beside grade weighting, hidden scores, calendar filters, and assignment status.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5844d4c43425b"/>
          <a:stretch xmlns:a="http://schemas.openxmlformats.org/drawingml/2006/main"/>
        </p:blipFill>
        <p:spPr>
          <a:xfrm xmlns:a="http://schemas.openxmlformats.org/drawingml/2006/main">
            <a:off x="714375" y="3238500"/>
            <a:ext cx="5143500" cy="28765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7415F-AB1B-4B93-95DA-A4016496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9731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D56227-D7DA-43FA-9B53-72DB8848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5143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45838-298A-4EE2-A92B-38442BD2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9EC74-1EC4-4CA7-B640-17B63758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09950"/>
            <a:ext cx="474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3. Show recovery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E6752-C6E2-4621-9A02-D298D71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7190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search no-results page explains what happened and suggests next actions. Reuse this pattern for dismissed To Do items, hidden calendar events, and confusing grade states.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2B633-B8A7-46B2-B070-309A486F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958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D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3D91"/>
                </a:solidFill>
                <a:latin typeface="Arial"/>
                <a:ea typeface="Arial"/>
                <a:cs typeface="Arial"/>
              </a:rPr>
              <a:t>Priority: favor small UI changes that reduce repeated student scanning, uncertainty, and recovery effort.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27D62-99DD-4690-A22B-A3AD2CC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08</a:t>
            </a:r>
          </a:p>
        </p:txBody>
      </p:sp>
    </p:spTree>
    <p:extLst>
      <p:ext uri="{BB962C8B-B14F-4D97-AF65-F5344CB8AC3E}">
        <p14:creationId xmlns:p14="http://schemas.microsoft.com/office/powerpoint/2010/main" val="10846510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26D49-B622-4D97-A20A-A0B52AD1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678AC-21B2-4707-8CCA-A2D960D3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Canvas is powerful and mostly learnable, but priority and meaning need stronger surface cues.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35F39-C945-4399-94F0-07FD9B03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B787D-925D-47DD-9C9B-363B241A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D8C3A-1C56-4ECB-A2D1-52349A4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812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96857-9ACC-461F-A4DE-78FDBDA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43150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Canvas makes core academic information findable through persistent navigation, To Do, due dates, search, and grade summaries.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45A9E-7C92-41C1-AF00-AF9FFF0A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4B942-1B2B-4B0F-8662-53B895D0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30382-5679-4853-BAE7-32A0DF3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812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Risks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ACF53-06FB-480A-806A-78385C7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43150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Dense pages, truncated labels, and ambiguous icons can make students miss meaning even when the information is present.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6E747-54B1-4125-A885-E95154FD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7334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C1CC0-F3BF-4AF1-B7BE-7CFEAD65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7B8"/>
          </a:solidFill>
          <a:ln xmlns:a="http://schemas.openxmlformats.org/drawingml/2006/main" w="0">
            <a:solidFill>
              <a:srgbClr val="0057B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C97F6-622A-49E7-BB5B-C3DD6A88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71950"/>
            <a:ext cx="693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Overall finding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A58E0-C553-476C-86D1-9AF9D136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33900"/>
            <a:ext cx="693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Canvas works, but it should make status, meaning, and priority easier to see when students decide what to do next.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08729-36EB-424F-AC1A-CADEA464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09</a:t>
            </a:r>
          </a:p>
        </p:txBody>
      </p:sp>
    </p:spTree>
    <p:extLst>
      <p:ext uri="{BB962C8B-B14F-4D97-AF65-F5344CB8AC3E}">
        <p14:creationId xmlns:p14="http://schemas.microsoft.com/office/powerpoint/2010/main" val="5705630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EE24D-303B-4C39-9348-84E9E3C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10219-B2B1-45EB-B49C-CEB6E8A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Sources used for the evaluation criteria and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D25AF-6920-4C18-86A6-B9C00FF7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Nielsen Norman Group. (n.d.). 10 Usability Heuristics for User Interface Design. https://www.nngroup.com/articles/ten-usability-heuristics/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23BC9-71BF-49E0-AE89-0E8EA16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Nielsen Norman Group. (n.d.). How to Conduct a Heuristic Evaluation. https://www.nngroup.com/articles/how-to-conduct-a-heuristic-evaluation/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02302-E4D9-4539-A4DC-2A52ACA8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Baxter, K., Courage, C., &amp; Caine, K. Understanding Your Users, Chapter 14: Evaluation Methods.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7F96F-28B6-4E2C-A31E-D2266D1B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Kumar, V. (n.d.). The four types of consistency in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4A58C-C4D6-4D09-A335-005DB65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Canvas screenshots captured from UCI Canvas student interface, May 30,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BCDF5-A325-4B67-A57E-53B6B7F5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62368-FE7E-4F9A-9529-354D7721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468C0-DE50-4B44-90C8-C6C93891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AI-use 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1E0C5-7925-490B-8633-785D609F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 helped refine script wording and slide layout.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8EB2E-A3CB-4A72-8239-868204DF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B8794"/>
                </a:solidFill>
                <a:latin typeface="Arial"/>
                <a:ea typeface="Arial"/>
                <a:cs typeface="Arial"/>
              </a:rPr>
              <a:t>Canvas heuristic evaluation | 10</a:t>
            </a:r>
          </a:p>
        </p:txBody>
      </p:sp>
    </p:spTree>
    <p:extLst>
      <p:ext uri="{BB962C8B-B14F-4D97-AF65-F5344CB8AC3E}">
        <p14:creationId xmlns:p14="http://schemas.microsoft.com/office/powerpoint/2010/main" val="1480656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2026-05-31T11:09:26.9110000Z</dcterms:created>
  <dcterms:modified xsi:type="dcterms:W3CDTF">2026-05-31T11:09:26.9110000Z</dcterms:modified>
</coreProperties>
</file>