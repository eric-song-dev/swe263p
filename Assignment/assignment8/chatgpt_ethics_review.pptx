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elp.openai.com/en/articles/12677804" TargetMode="External"/><Relationship Id="rId4" Type="http://schemas.openxmlformats.org/officeDocument/2006/relationships/hyperlink" Target="https://help.openai.com/en/articles/7730893" TargetMode="External"/><Relationship Id="rId5" Type="http://schemas.openxmlformats.org/officeDocument/2006/relationships/hyperlink" Target="https://help.openai.com/en/articles/9237897" TargetMode="External"/><Relationship Id="rId6" Type="http://schemas.openxmlformats.org/officeDocument/2006/relationships/hyperlink" Target="https://help.openai.com/en/articles/8313428" TargetMode="External"/><Relationship Id="rId7" Type="http://schemas.openxmlformats.org/officeDocument/2006/relationships/hyperlink" Target="https://openai.com/policies/usage-polic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31520"/>
            <a:ext cx="658368" cy="5029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24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in University Learning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Ethical Explorer review of misinformation, data control, and equitable learning support.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507492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394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Zhenyu Song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5705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zhenyus4@uci.edu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29800" y="5394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3383280"/>
            <a:ext cx="3154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3383280"/>
            <a:ext cx="50292" cy="141732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6136" y="35844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946136" y="38679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7946136" y="427939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assistant used for writing, studying, coding, search, and file analysis.</a:t>
            </a:r>
            <a:endParaRPr lang="en-US" sz="920" dirty="0"/>
          </a:p>
        </p:txBody>
      </p:sp>
      <p:sp>
        <p:nvSpPr>
          <p:cNvPr id="15" name="Course"/>
          <p:cNvSpPr/>
          <p:nvPr/>
        </p:nvSpPr>
        <p:spPr>
          <a:xfrm>
            <a:off x="658368" y="5925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SWE 263P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reviewed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0078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is an AI assistant that responds through conversation. In a university setting, students may use it to brainstorm, explain concepts, draft text, debug code, search the web, or analyze uploaded files and images.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063240"/>
            <a:ext cx="50292" cy="135331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26440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35478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77824" y="39593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instructors, TAs, advisors, and support staff.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80560" y="306324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063240"/>
            <a:ext cx="50292" cy="135331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326440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INTERACTION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00016" y="35478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-&gt; response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4700016" y="39593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hides system uncertainty and can feel authoritative.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75320" y="306324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063240"/>
            <a:ext cx="50292" cy="135331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326440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INPUTS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94776" y="35478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 + files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494776" y="39593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Coursework, grades, identity details, accommodations, and personal context.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49808" y="5148072"/>
            <a:ext cx="50292" cy="5029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074920"/>
            <a:ext cx="947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boundary: everyday university use, not a workplace deployment of ChatGPT Enterprise.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" y="5586984"/>
            <a:ext cx="50292" cy="50292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5513832"/>
            <a:ext cx="947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concern: how the product behaves when students rely on it for learning decisions.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OpenAI Help Center; Ethical Explorer Pack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EXPLORER FRAMING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zones to specific concerns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007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Ethical Explorer cards are broad lenses. This review translates the most relevant zones into three concrete concerns for ChatGPT use in coursework.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788920"/>
            <a:ext cx="50292" cy="1353312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99008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32735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77824" y="36850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but wrong explanations can distort learning and assessment.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80560" y="278892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788920"/>
            <a:ext cx="50292" cy="135331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99008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00016" y="32735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control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4700016" y="36850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may enter sensitive details, including information about classmates.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75320" y="278892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788920"/>
            <a:ext cx="50292" cy="1353312"/>
          </a:xfrm>
          <a:prstGeom prst="rect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299008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94776" y="32735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494776" y="36850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access, language quality, and accessibility can widen learning gaps.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58368" y="4800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zones used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513892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Disinformation / Algorithmic Bias / Data Control / Surveillance / Exclusion / Outsized Power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" y="565099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Prioritization: high relevance to students, plausible harm, and actionable university or product responses.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Ethical Explorer Field Guide and Tech Risk Zone Cards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misinformation in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3566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8191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Disinformation + Algorithmic Bias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93852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can produce fluent explanations, citations, or code that sound credible even when they are wrong.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971800"/>
            <a:ext cx="4892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360273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using answers to study or submit work; instructors grading AI-assisted work; classmates affected by shared false notes.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925312" y="2971800"/>
            <a:ext cx="52303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likelihood, and technology link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99632" y="35935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Incorrect understanding, fabricated sources, unsafe academic advice, or misleading code can affect grades and learning confidence.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9632" y="425196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/ scale: Medium to high. Example: a student asks for sources for a policy paper and receives plausible article titles, fake DOIs, or non-existent citations that are copied into a bibliography.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9632" y="49651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design choice: The conversational interface and polished tone can make uncertainty hard to notice; citations are easy to trust unless the workflow pushes source verification.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harm from confident misinformation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calibrated trust: ChatGPT can be a tutor or draft partner, but final academic claims need verification by the student and course policy.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1720"/>
            <a:ext cx="50292" cy="265176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86968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verification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factual assignments, require students to open each cited source, verify DOI/URL existence, and mark AI-generated citations as unverified until checked.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86968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Instructors and students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31720"/>
            <a:ext cx="50292" cy="265176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AI citation hygiene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short syllabus note or class demo showing hallucinated references, stale facts, and when Search/deep research still needs source inspection.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709160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Instructors and TAs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75320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2331720"/>
            <a:ext cx="50292" cy="265176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repeated failures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0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examples of fake citations, wrong code, or bad domain advice and use them to update assignment instructions and student guidance.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503920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Teaching team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58368" y="5330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 The highest-risk failure is not a wrong first draft; it is a confident answer entering submitted work as if it were verified evidence.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privacy and data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3566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8191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Control + Surveillance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93852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may share more than they realize: drafts, grades, accommodations, health stress, immigration context, or personal information about classmates.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971800"/>
            <a:ext cx="4892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360273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whose data is entered; classmates named in prompts; instructors requiring AI use; university IT and privacy officers.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932688" y="4709160"/>
            <a:ext cx="50292" cy="65836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6817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third-party risk: the person exposed may not be the user. A classmate can be named in a prompt without consent or any chance to correct the record.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25312" y="2971800"/>
            <a:ext cx="52303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likelihood, and technology link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99632" y="35935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Loss of privacy, chilled help-seeking, inappropriate disclosure, or accidental inclusion of protected educational records.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99632" y="425196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/ scale: Medium. Example: a student asks ChatGPT to rewrite a peer evaluation or conflict email and includes a classmate name, disability accommodation, grade, or mental-health detail.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99632" y="49651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design choice: Chat history, Memory, file upload, search query rewriting, and model-improvement data controls all affect how student-provided context can persist or be processed.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student privacy and data-control risk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responses should be concrete enough for students to follow during coursework, not just a generic warning to be careful.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1720"/>
            <a:ext cx="50292" cy="265176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86968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privacy defaults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students not to enter names, grades, accommodations, health details, or peer conflicts. For sensitive work, use Temporary Chat, turn off Memory, and disable model training where available.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86968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Students, instructors, OpenAI UX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31720"/>
            <a:ext cx="50292" cy="265176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course data rules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Syllabi should separate allowed low-risk use from prohibited use with identifiable student records or third-party personal data.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709160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Instructors and departments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75320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2331720"/>
            <a:ext cx="50292" cy="265176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protected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0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FERPA-like educational records or required AI use, route through university-approved tools/accounts and privacy review rather than personal accounts.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503920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University IT/privacy office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58368" y="5330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 The risk is avoidable when students know which inputs should never be pasted and which ChatGPT settings reduce persistence or training use.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unequal learning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3566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8191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 + Algorithmic Bias + Outsized Power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93852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can help students learn, but unequal access, uneven language support, and accessibility gaps can distribute benefits unfairly.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971800"/>
            <a:ext cx="4892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360273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Non-native English speakers, disabled students, first-generation students, low-income students, instructors, and peers in collaborative courses.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925312" y="2971800"/>
            <a:ext cx="52303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likelihood, and technology link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99632" y="35935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Some students receive better tutoring, editing, and coding support while others face weaker outputs, paywalls, suspicion, or inaccessible workflows.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9632" y="425196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/ scale: Medium to high. Example: a free user hits limits before a deadline and is moved to weaker support, while another student with paid access gets stronger tutoring and file tools.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9632" y="49651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design choice: Specific mechanisms include plan-based model/tool limits, uneven speech-to-text quality for accents, weaker multilingual support in some tasks, and accessibility gaps in voice or file workflows.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inequity in ChatGPT-supported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responses should make AI help optional, accessible, and comparable across students rather than an unstated advantage for students with better access.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1720"/>
            <a:ext cx="50292" cy="265176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86968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 paid access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assignments so students can complete them without paid ChatGPT features. Provide non-AI alternatives or institutionally supported access when AI use is expected.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86968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Instructors and departments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31720"/>
            <a:ext cx="50292" cy="265176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accessibility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voice, captions, file workflows, and mobile access for students with disabilities, accents, low bandwidth, or limited devices.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709160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University IT/accessibility office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75320" y="233172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2331720"/>
            <a:ext cx="50292" cy="265176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uneven outcomes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0" y="34930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students where ChatGPT failed by language, accent, disability, plan tier, or device, and adjust course policy or support resources.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503920" y="4480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Teaching team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58368" y="5330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 If AI support becomes an invisible prerequisite, subscription limits and tool availability turn into an academic advantage.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97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response portfolio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0" y="466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path is not a blanket ban. It is clear rules, privacy-aware defaults, and equitable access decisions that keep students responsible for final work.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743200"/>
            <a:ext cx="50292" cy="1353312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94436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32278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academic claims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77824" y="3639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source checks for citations, facts, and code before submission.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80560" y="274320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743200"/>
            <a:ext cx="50292" cy="135331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94436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00016" y="32278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sensitive data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4700016" y="3639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personal, classmate, or protected educational details in prompts.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75320" y="2743200"/>
            <a:ext cx="299923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743200"/>
            <a:ext cx="50292" cy="1353312"/>
          </a:xfrm>
          <a:prstGeom prst="rect">
            <a:avLst/>
          </a:prstGeom>
          <a:solidFill>
            <a:srgbClr val="AF52DE"/>
          </a:solidFill>
          <a:ln w="12700">
            <a:solidFill>
              <a:srgbClr val="AF52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294436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94776" y="32278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equitable use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494776" y="3639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make paid access or uneven tool quality an unstated course requirement.</a:t>
            </a:r>
            <a:endParaRPr lang="en-US" sz="920" dirty="0"/>
          </a:p>
        </p:txBody>
      </p:sp>
      <p:sp>
        <p:nvSpPr>
          <p:cNvPr id="22" name="Sources divider"/>
          <p:cNvSpPr/>
          <p:nvPr/>
        </p:nvSpPr>
        <p:spPr>
          <a:xfrm>
            <a:off x="658368" y="4224528"/>
            <a:ext cx="10881360" cy="9144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3" name="Sources panel"/>
          <p:cNvSpPr/>
          <p:nvPr/>
        </p:nvSpPr>
        <p:spPr>
          <a:xfrm>
            <a:off x="658368" y="4370832"/>
            <a:ext cx="1088136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8D2"/>
            </a:solidFill>
            <a:prstDash val="solid"/>
          </a:ln>
        </p:spPr>
      </p:sp>
      <p:sp>
        <p:nvSpPr>
          <p:cNvPr id="24" name="Sources accent"/>
          <p:cNvSpPr/>
          <p:nvPr/>
        </p:nvSpPr>
        <p:spPr>
          <a:xfrm>
            <a:off x="658368" y="4370832"/>
            <a:ext cx="36576" cy="14447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25" name="Sources heading"/>
          <p:cNvSpPr/>
          <p:nvPr/>
        </p:nvSpPr>
        <p:spPr>
          <a:xfrm>
            <a:off x="868680" y="4480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used</a:t>
            </a:r>
            <a:endParaRPr lang="en-US" sz="960" dirty="0"/>
          </a:p>
        </p:txBody>
      </p:sp>
      <p:sp>
        <p:nvSpPr>
          <p:cNvPr id="26" name="Source 1"/>
          <p:cNvSpPr/>
          <p:nvPr/>
        </p:nvSpPr>
        <p:spPr>
          <a:xfrm>
            <a:off x="868680" y="475488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OpenAI Help: What is ChatGPT: FAQ: </a:t>
            </a:r>
            <a:r>
              <a:rPr lang="en-US" sz="700" u="sng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https://help.openai.com/en/articles/12677804"/>
              </a:rPr>
              <a:t>https://help.openai.com/en/articles/12677804</a:t>
            </a:r>
            <a:endParaRPr lang="en-US" sz="700" dirty="0"/>
          </a:p>
        </p:txBody>
      </p:sp>
      <p:sp>
        <p:nvSpPr>
          <p:cNvPr id="27" name="Source 2"/>
          <p:cNvSpPr/>
          <p:nvPr/>
        </p:nvSpPr>
        <p:spPr>
          <a:xfrm>
            <a:off x="868680" y="49560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OpenAI Help: Data Controls FAQ: </a:t>
            </a:r>
            <a:r>
              <a:rPr lang="en-US" sz="700" u="sng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tooltip="https://help.openai.com/en/articles/7730893"/>
              </a:rPr>
              <a:t>https://help.openai.com/en/articles/7730893</a:t>
            </a:r>
            <a:endParaRPr lang="en-US" sz="700" dirty="0"/>
          </a:p>
        </p:txBody>
      </p:sp>
      <p:sp>
        <p:nvSpPr>
          <p:cNvPr id="28" name="Source 3"/>
          <p:cNvSpPr/>
          <p:nvPr/>
        </p:nvSpPr>
        <p:spPr>
          <a:xfrm>
            <a:off x="868680" y="5157216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OpenAI Help: ChatGPT Search: </a:t>
            </a:r>
            <a:r>
              <a:rPr lang="en-US" sz="700" u="sng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tooltip="https://help.openai.com/en/articles/9237897"/>
              </a:rPr>
              <a:t>https://help.openai.com/en/articles/9237897</a:t>
            </a:r>
            <a:endParaRPr lang="en-US" sz="700" dirty="0"/>
          </a:p>
        </p:txBody>
      </p:sp>
      <p:sp>
        <p:nvSpPr>
          <p:cNvPr id="29" name="Source 4"/>
          <p:cNvSpPr/>
          <p:nvPr/>
        </p:nvSpPr>
        <p:spPr>
          <a:xfrm>
            <a:off x="868680" y="53583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OpenAI Help: Does ChatGPT tell the truth?: </a:t>
            </a:r>
            <a:r>
              <a:rPr lang="en-US" sz="700" u="sng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tooltip="https://help.openai.com/en/articles/8313428"/>
              </a:rPr>
              <a:t>https://help.openai.com/en/articles/8313428</a:t>
            </a:r>
            <a:endParaRPr lang="en-US" sz="700" dirty="0"/>
          </a:p>
        </p:txBody>
      </p:sp>
      <p:sp>
        <p:nvSpPr>
          <p:cNvPr id="30" name="Source 5"/>
          <p:cNvSpPr/>
          <p:nvPr/>
        </p:nvSpPr>
        <p:spPr>
          <a:xfrm>
            <a:off x="868680" y="555955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OpenAI Usage Policies: </a:t>
            </a:r>
            <a:r>
              <a:rPr lang="en-US" sz="700" u="sng" dirty="0">
                <a:solidFill>
                  <a:srgbClr val="0A84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tooltip="https://openai.com/policies/usage-policies/"/>
              </a:rPr>
              <a:t>https://openai.com/policies/usage-policies/</a:t>
            </a:r>
            <a:endParaRPr lang="en-US" sz="700" dirty="0"/>
          </a:p>
        </p:txBody>
      </p:sp>
      <p:sp>
        <p:nvSpPr>
          <p:cNvPr id="33" name="Footer divider"/>
          <p:cNvSpPr/>
          <p:nvPr/>
        </p:nvSpPr>
        <p:spPr>
          <a:xfrm>
            <a:off x="658368" y="6272784"/>
            <a:ext cx="10881360" cy="9144"/>
          </a:xfrm>
          <a:prstGeom prst="rect">
            <a:avLst/>
          </a:prstGeom>
          <a:solidFill>
            <a:srgbClr val="D8D8D2"/>
          </a:solidFill>
          <a:ln w="12700">
            <a:solidFill>
              <a:srgbClr val="D8D8D2">
                <a:alpha val="0"/>
              </a:srgbClr>
            </a:solidFill>
            <a:prstDash val="solid"/>
          </a:ln>
        </p:spPr>
      </p:sp>
      <p:sp>
        <p:nvSpPr>
          <p:cNvPr id="34" name="Footer label"/>
          <p:cNvSpPr/>
          <p:nvPr/>
        </p:nvSpPr>
        <p:spPr>
          <a:xfrm>
            <a:off x="658368" y="64190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ethics review | Zhenyu Song</a:t>
            </a:r>
            <a:endParaRPr lang="en-US" sz="700" dirty="0"/>
          </a:p>
        </p:txBody>
      </p:sp>
      <p:sp>
        <p:nvSpPr>
          <p:cNvPr id="35" name="Footer date"/>
          <p:cNvSpPr/>
          <p:nvPr/>
        </p:nvSpPr>
        <p:spPr>
          <a:xfrm>
            <a:off x="10058400" y="6419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7,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SWE263P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Ethics Review</dc:title>
  <dc:subject>Ethics review of ChatGPT in university learning contexts</dc:subject>
  <dc:creator>Zhenyu Song</dc:creator>
  <cp:lastModifiedBy>Zhenyu Song</cp:lastModifiedBy>
  <cp:revision>1</cp:revision>
  <dcterms:created xsi:type="dcterms:W3CDTF">2026-06-07T10:25:03Z</dcterms:created>
  <dcterms:modified xsi:type="dcterms:W3CDTF">2026-06-07T10:25:03Z</dcterms:modified>
</cp:coreProperties>
</file>