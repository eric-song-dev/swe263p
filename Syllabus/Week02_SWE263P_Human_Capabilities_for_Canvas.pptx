
<file path=[Content_Types].xml><?xml version="1.0" encoding="utf-8"?>
<Types xmlns="http://schemas.openxmlformats.org/package/2006/content-types">
  <Default ContentType="image/gif" Extension="gif"/>
  <Default ContentType="image/jpeg" Extension="jpeg"/>
  <Default ContentType="image/jpeg" Extension="jp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53"/>
  </p:notesMasterIdLst>
  <p:sldIdLst>
    <p:sldId id="278" r:id="rId2"/>
    <p:sldId id="408" r:id="rId3"/>
    <p:sldId id="489" r:id="rId4"/>
    <p:sldId id="341" r:id="rId5"/>
    <p:sldId id="491" r:id="rId6"/>
    <p:sldId id="342" r:id="rId7"/>
    <p:sldId id="467" r:id="rId8"/>
    <p:sldId id="492" r:id="rId9"/>
    <p:sldId id="472" r:id="rId10"/>
    <p:sldId id="473" r:id="rId11"/>
    <p:sldId id="500" r:id="rId12"/>
    <p:sldId id="494" r:id="rId13"/>
    <p:sldId id="495" r:id="rId14"/>
    <p:sldId id="441" r:id="rId15"/>
    <p:sldId id="459" r:id="rId16"/>
    <p:sldId id="496" r:id="rId17"/>
    <p:sldId id="316" r:id="rId18"/>
    <p:sldId id="317" r:id="rId19"/>
    <p:sldId id="318" r:id="rId20"/>
    <p:sldId id="319" r:id="rId21"/>
    <p:sldId id="320" r:id="rId22"/>
    <p:sldId id="321" r:id="rId23"/>
    <p:sldId id="323" r:id="rId24"/>
    <p:sldId id="401" r:id="rId25"/>
    <p:sldId id="402" r:id="rId26"/>
    <p:sldId id="410" r:id="rId27"/>
    <p:sldId id="497" r:id="rId28"/>
    <p:sldId id="498" r:id="rId29"/>
    <p:sldId id="406" r:id="rId30"/>
    <p:sldId id="403" r:id="rId31"/>
    <p:sldId id="501" r:id="rId32"/>
    <p:sldId id="502" r:id="rId33"/>
    <p:sldId id="503" r:id="rId34"/>
    <p:sldId id="504" r:id="rId35"/>
    <p:sldId id="505" r:id="rId36"/>
    <p:sldId id="506" r:id="rId37"/>
    <p:sldId id="300" r:id="rId38"/>
    <p:sldId id="299" r:id="rId39"/>
    <p:sldId id="301" r:id="rId40"/>
    <p:sldId id="302" r:id="rId41"/>
    <p:sldId id="303" r:id="rId42"/>
    <p:sldId id="304" r:id="rId43"/>
    <p:sldId id="305" r:id="rId44"/>
    <p:sldId id="306" r:id="rId45"/>
    <p:sldId id="507" r:id="rId46"/>
    <p:sldId id="515" r:id="rId47"/>
    <p:sldId id="516" r:id="rId48"/>
    <p:sldId id="517" r:id="rId49"/>
    <p:sldId id="461" r:id="rId50"/>
    <p:sldId id="487" r:id="rId51"/>
    <p:sldId id="518"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CFA3916-287F-496C-9C97-1936B337DF7F}">
          <p14:sldIdLst>
            <p14:sldId id="278"/>
            <p14:sldId id="408"/>
          </p14:sldIdLst>
        </p14:section>
        <p14:section name="HCI in Software Development" id="{BE49E4BB-0719-4001-8219-1C1EE0C736B8}">
          <p14:sldIdLst>
            <p14:sldId id="489"/>
            <p14:sldId id="341"/>
            <p14:sldId id="491"/>
            <p14:sldId id="342"/>
            <p14:sldId id="467"/>
            <p14:sldId id="492"/>
            <p14:sldId id="472"/>
            <p14:sldId id="473"/>
            <p14:sldId id="500"/>
            <p14:sldId id="494"/>
          </p14:sldIdLst>
        </p14:section>
        <p14:section name="Human Capabilities" id="{1AB3BC7E-3DA8-4252-B471-31AAE3B34FD1}">
          <p14:sldIdLst>
            <p14:sldId id="495"/>
            <p14:sldId id="441"/>
            <p14:sldId id="459"/>
            <p14:sldId id="496"/>
            <p14:sldId id="316"/>
            <p14:sldId id="317"/>
            <p14:sldId id="318"/>
            <p14:sldId id="319"/>
            <p14:sldId id="320"/>
            <p14:sldId id="321"/>
            <p14:sldId id="323"/>
            <p14:sldId id="401"/>
            <p14:sldId id="402"/>
            <p14:sldId id="410"/>
            <p14:sldId id="497"/>
          </p14:sldIdLst>
        </p14:section>
        <p14:section name="Design Principles" id="{147FA4D9-F5C7-4F70-A416-BC2D527D9745}">
          <p14:sldIdLst>
            <p14:sldId id="498"/>
            <p14:sldId id="406"/>
            <p14:sldId id="403"/>
            <p14:sldId id="501"/>
            <p14:sldId id="502"/>
            <p14:sldId id="503"/>
            <p14:sldId id="504"/>
            <p14:sldId id="505"/>
            <p14:sldId id="506"/>
            <p14:sldId id="300"/>
            <p14:sldId id="299"/>
            <p14:sldId id="301"/>
            <p14:sldId id="302"/>
            <p14:sldId id="303"/>
            <p14:sldId id="304"/>
            <p14:sldId id="305"/>
            <p14:sldId id="306"/>
            <p14:sldId id="507"/>
            <p14:sldId id="515"/>
            <p14:sldId id="516"/>
          </p14:sldIdLst>
        </p14:section>
        <p14:section name="In-Class Activity and Coming Up" id="{B43F4EDE-97F7-4340-9418-1972C0E99ADF}">
          <p14:sldIdLst>
            <p14:sldId id="517"/>
            <p14:sldId id="461"/>
            <p14:sldId id="487"/>
            <p14:sldId id="5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6446"/>
    <a:srgbClr val="000000"/>
    <a:srgbClr val="014127"/>
    <a:srgbClr val="075A3E"/>
    <a:srgbClr val="003300"/>
    <a:srgbClr val="3168C0"/>
    <a:srgbClr val="FFFFF0"/>
    <a:srgbClr val="CCCDFF"/>
    <a:srgbClr val="FFFFFF"/>
    <a:srgbClr val="D0FF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76133" autoAdjust="0"/>
  </p:normalViewPr>
  <p:slideViewPr>
    <p:cSldViewPr snapToGrid="0">
      <p:cViewPr varScale="1">
        <p:scale>
          <a:sx n="59" d="100"/>
          <a:sy n="59" d="100"/>
        </p:scale>
        <p:origin x="725" y="91"/>
      </p:cViewPr>
      <p:guideLst/>
    </p:cSldViewPr>
  </p:slideViewPr>
  <p:outlineViewPr>
    <p:cViewPr>
      <p:scale>
        <a:sx n="33" d="100"/>
        <a:sy n="33" d="100"/>
      </p:scale>
      <p:origin x="0" y="-12144"/>
    </p:cViewPr>
  </p:outlineViewPr>
  <p:notesTextViewPr>
    <p:cViewPr>
      <p:scale>
        <a:sx n="3" d="2"/>
        <a:sy n="3" d="2"/>
      </p:scale>
      <p:origin x="0" y="0"/>
    </p:cViewPr>
  </p:notesTextViewPr>
  <p:sorterViewPr>
    <p:cViewPr varScale="1">
      <p:scale>
        <a:sx n="100" d="100"/>
        <a:sy n="100" d="100"/>
      </p:scale>
      <p:origin x="0" y="-14142"/>
    </p:cViewPr>
  </p:sorter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slides/slide36.xml" Type="http://schemas.openxmlformats.org/officeDocument/2006/relationships/slide"/><Relationship Id="rId38" Target="slides/slide37.xml" Type="http://schemas.openxmlformats.org/officeDocument/2006/relationships/slide"/><Relationship Id="rId39" Target="slides/slide38.xml" Type="http://schemas.openxmlformats.org/officeDocument/2006/relationships/slide"/><Relationship Id="rId4" Target="slides/slide3.xml" Type="http://schemas.openxmlformats.org/officeDocument/2006/relationships/slide"/><Relationship Id="rId40" Target="slides/slide39.xml" Type="http://schemas.openxmlformats.org/officeDocument/2006/relationships/slide"/><Relationship Id="rId41" Target="slides/slide40.xml" Type="http://schemas.openxmlformats.org/officeDocument/2006/relationships/slide"/><Relationship Id="rId42" Target="slides/slide41.xml" Type="http://schemas.openxmlformats.org/officeDocument/2006/relationships/slide"/><Relationship Id="rId43" Target="slides/slide42.xml" Type="http://schemas.openxmlformats.org/officeDocument/2006/relationships/slide"/><Relationship Id="rId44" Target="slides/slide43.xml" Type="http://schemas.openxmlformats.org/officeDocument/2006/relationships/slide"/><Relationship Id="rId45" Target="slides/slide44.xml" Type="http://schemas.openxmlformats.org/officeDocument/2006/relationships/slide"/><Relationship Id="rId46" Target="slides/slide45.xml" Type="http://schemas.openxmlformats.org/officeDocument/2006/relationships/slide"/><Relationship Id="rId47" Target="slides/slide46.xml" Type="http://schemas.openxmlformats.org/officeDocument/2006/relationships/slide"/><Relationship Id="rId48" Target="slides/slide47.xml" Type="http://schemas.openxmlformats.org/officeDocument/2006/relationships/slide"/><Relationship Id="rId49" Target="slides/slide48.xml" Type="http://schemas.openxmlformats.org/officeDocument/2006/relationships/slide"/><Relationship Id="rId5" Target="slides/slide4.xml" Type="http://schemas.openxmlformats.org/officeDocument/2006/relationships/slide"/><Relationship Id="rId50" Target="slides/slide49.xml" Type="http://schemas.openxmlformats.org/officeDocument/2006/relationships/slide"/><Relationship Id="rId51" Target="slides/slide50.xml" Type="http://schemas.openxmlformats.org/officeDocument/2006/relationships/slide"/><Relationship Id="rId52" Target="slides/slide51.xml" Type="http://schemas.openxmlformats.org/officeDocument/2006/relationships/slide"/><Relationship Id="rId53" Target="notesMasters/notesMaster1.xml" Type="http://schemas.openxmlformats.org/officeDocument/2006/relationships/notesMaster"/><Relationship Id="rId54" Target="presProps.xml" Type="http://schemas.openxmlformats.org/officeDocument/2006/relationships/presProps"/><Relationship Id="rId55" Target="viewProps.xml" Type="http://schemas.openxmlformats.org/officeDocument/2006/relationships/viewProps"/><Relationship Id="rId56" Target="theme/theme1.xml" Type="http://schemas.openxmlformats.org/officeDocument/2006/relationships/theme"/><Relationship Id="rId57" Target="tableStyles.xml" Type="http://schemas.openxmlformats.org/officeDocument/2006/relationships/tableStyles"/><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2090AB-6B6A-4F9F-8941-22ACF17AB94F}" type="datetimeFigureOut">
              <a:rPr lang="en-US" smtClean="0"/>
              <a:t>4/6/2026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B142F2-0784-4D2D-A87E-F00E24BCF877}" type="slidenum">
              <a:rPr lang="en-US" smtClean="0"/>
              <a:t>‹#›</a:t>
            </a:fld>
            <a:endParaRPr lang="en-US"/>
          </a:p>
        </p:txBody>
      </p:sp>
    </p:spTree>
    <p:extLst>
      <p:ext uri="{BB962C8B-B14F-4D97-AF65-F5344CB8AC3E}">
        <p14:creationId xmlns:p14="http://schemas.microsoft.com/office/powerpoint/2010/main" val="1442263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slides and content borrowed from Dr. Stacy Branham</a:t>
            </a:r>
          </a:p>
        </p:txBody>
      </p:sp>
      <p:sp>
        <p:nvSpPr>
          <p:cNvPr id="4" name="Slide Number Placeholder 3"/>
          <p:cNvSpPr>
            <a:spLocks noGrp="1"/>
          </p:cNvSpPr>
          <p:nvPr>
            <p:ph type="sldNum" sz="quarter" idx="10"/>
          </p:nvPr>
        </p:nvSpPr>
        <p:spPr/>
        <p:txBody>
          <a:bodyPr/>
          <a:lstStyle/>
          <a:p>
            <a:fld id="{FEB142F2-0784-4D2D-A87E-F00E24BCF877}" type="slidenum">
              <a:rPr lang="en-US" smtClean="0"/>
              <a:t>1</a:t>
            </a:fld>
            <a:endParaRPr lang="en-US"/>
          </a:p>
        </p:txBody>
      </p:sp>
    </p:spTree>
    <p:extLst>
      <p:ext uri="{BB962C8B-B14F-4D97-AF65-F5344CB8AC3E}">
        <p14:creationId xmlns:p14="http://schemas.microsoft.com/office/powerpoint/2010/main" val="3095321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3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2" name="Google Shape;582;p3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200" b="0" i="0" u="none" strike="noStrike" cap="none" dirty="0">
                <a:solidFill>
                  <a:schemeClr val="dk1"/>
                </a:solidFill>
                <a:effectLst/>
                <a:latin typeface="Calibri"/>
                <a:ea typeface="Calibri"/>
                <a:cs typeface="Calibri"/>
                <a:sym typeface="Calibri"/>
              </a:rPr>
              <a:t>I'm curious, what do you think is the approximate amount of software projects that end up on budget, on time, and on target these days? </a:t>
            </a:r>
          </a:p>
          <a:p>
            <a:pPr marL="0" lvl="0" indent="0" algn="l" rtl="0">
              <a:spcBef>
                <a:spcPts val="0"/>
              </a:spcBef>
              <a:spcAft>
                <a:spcPts val="0"/>
              </a:spcAft>
              <a:buClr>
                <a:schemeClr val="dk1"/>
              </a:buClr>
              <a:buSzPts val="1100"/>
              <a:buFont typeface="Arial"/>
              <a:buNone/>
            </a:pPr>
            <a:endParaRPr lang="en-US" sz="1200" b="0" i="0" u="none" strike="noStrike" cap="none" dirty="0">
              <a:solidFill>
                <a:schemeClr val="dk1"/>
              </a:solidFill>
              <a:effectLst/>
              <a:latin typeface="Calibri"/>
              <a:cs typeface="Calibri"/>
              <a:sym typeface="Calibri"/>
            </a:endParaRPr>
          </a:p>
          <a:p>
            <a:pPr marL="0" lvl="0" indent="0" algn="l" rtl="0">
              <a:spcBef>
                <a:spcPts val="0"/>
              </a:spcBef>
              <a:spcAft>
                <a:spcPts val="0"/>
              </a:spcAft>
              <a:buClr>
                <a:schemeClr val="dk1"/>
              </a:buClr>
              <a:buSzPts val="1100"/>
              <a:buFont typeface="Arial"/>
              <a:buNone/>
            </a:pPr>
            <a:endParaRPr lang="en-US" sz="1200" b="0" i="0" u="none" strike="noStrike" cap="none" dirty="0">
              <a:solidFill>
                <a:schemeClr val="dk1"/>
              </a:solidFill>
              <a:effectLst/>
              <a:latin typeface="Calibri"/>
              <a:cs typeface="Calibri"/>
              <a:sym typeface="Calibri"/>
            </a:endParaRPr>
          </a:p>
          <a:p>
            <a:pPr marL="0" lvl="0" indent="0" algn="l" rtl="0">
              <a:spcBef>
                <a:spcPts val="0"/>
              </a:spcBef>
              <a:spcAft>
                <a:spcPts val="0"/>
              </a:spcAft>
              <a:buClr>
                <a:schemeClr val="dk1"/>
              </a:buClr>
              <a:buSzPts val="1100"/>
              <a:buFont typeface="Arial"/>
              <a:buNone/>
            </a:pPr>
            <a:r>
              <a:rPr lang="en-US" sz="1200" b="0" i="0" u="none" strike="noStrike" cap="none" dirty="0">
                <a:solidFill>
                  <a:schemeClr val="dk1"/>
                </a:solidFill>
                <a:effectLst/>
                <a:latin typeface="Calibri"/>
                <a:cs typeface="Calibri"/>
                <a:sym typeface="Calibri"/>
              </a:rPr>
              <a:t>Data source:</a:t>
            </a:r>
            <a:endParaRPr lang="en-US"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The Standish Group has been producing a decennial report of industrial software engineering projects since 1994. The latest report in 2015 updates us on the percentage of projects that are produced </a:t>
            </a:r>
            <a:r>
              <a:rPr lang="en-US" dirty="0" err="1">
                <a:solidFill>
                  <a:schemeClr val="dk1"/>
                </a:solidFill>
              </a:rPr>
              <a:t>onbudget</a:t>
            </a:r>
            <a:r>
              <a:rPr lang="en-US" dirty="0">
                <a:solidFill>
                  <a:schemeClr val="dk1"/>
                </a:solidFill>
              </a:rPr>
              <a:t>, </a:t>
            </a:r>
            <a:r>
              <a:rPr lang="en-US" dirty="0" err="1">
                <a:solidFill>
                  <a:schemeClr val="dk1"/>
                </a:solidFill>
              </a:rPr>
              <a:t>ontime</a:t>
            </a:r>
            <a:r>
              <a:rPr lang="en-US" dirty="0">
                <a:solidFill>
                  <a:schemeClr val="dk1"/>
                </a:solidFill>
              </a:rPr>
              <a:t>, and </a:t>
            </a:r>
            <a:r>
              <a:rPr lang="en-US" dirty="0" err="1">
                <a:solidFill>
                  <a:schemeClr val="dk1"/>
                </a:solidFill>
              </a:rPr>
              <a:t>ontarget</a:t>
            </a:r>
            <a:r>
              <a:rPr lang="en-US" dirty="0">
                <a:solidFill>
                  <a:schemeClr val="dk1"/>
                </a:solidFill>
              </a:rPr>
              <a:t>--meaning to the satisfaction of customers.</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Anyone want to venture a guess?</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Source. https://</a:t>
            </a:r>
            <a:r>
              <a:rPr lang="en-US" dirty="0" err="1">
                <a:solidFill>
                  <a:schemeClr val="dk1"/>
                </a:solidFill>
              </a:rPr>
              <a:t>www.standishgroup.com</a:t>
            </a:r>
            <a:r>
              <a:rPr lang="en-US" dirty="0">
                <a:solidFill>
                  <a:schemeClr val="dk1"/>
                </a:solidFill>
              </a:rPr>
              <a:t>/</a:t>
            </a:r>
            <a:r>
              <a:rPr lang="en-US" dirty="0" err="1">
                <a:solidFill>
                  <a:schemeClr val="dk1"/>
                </a:solidFill>
              </a:rPr>
              <a:t>sample_research_files</a:t>
            </a:r>
            <a:r>
              <a:rPr lang="en-US" dirty="0">
                <a:solidFill>
                  <a:schemeClr val="dk1"/>
                </a:solidFill>
              </a:rPr>
              <a:t>/CHAOSReport2015-Final.pdf</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3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6" name="Google Shape;606;p3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200" b="0" i="0" u="none" strike="noStrike" cap="none" dirty="0">
                <a:solidFill>
                  <a:schemeClr val="dk1"/>
                </a:solidFill>
                <a:effectLst/>
                <a:latin typeface="Calibri"/>
                <a:ea typeface="Calibri"/>
                <a:cs typeface="Calibri"/>
                <a:sym typeface="Calibri"/>
              </a:rPr>
              <a:t>It's actually something around 50% for each of these, which isn't as low as you might have thought.</a:t>
            </a:r>
            <a:r>
              <a:rPr lang="en-US" dirty="0">
                <a:effectLst/>
              </a:rPr>
              <a:t> </a:t>
            </a:r>
          </a:p>
          <a:p>
            <a:pPr marL="0" lvl="0" indent="0" algn="l" rtl="0">
              <a:spcBef>
                <a:spcPts val="0"/>
              </a:spcBef>
              <a:spcAft>
                <a:spcPts val="0"/>
              </a:spcAft>
              <a:buClr>
                <a:schemeClr val="dk1"/>
              </a:buClr>
              <a:buSzPts val="1100"/>
              <a:buFont typeface="Arial"/>
              <a:buNone/>
            </a:pPr>
            <a:endParaRPr lang="en-US" dirty="0">
              <a:solidFill>
                <a:schemeClr val="dk1"/>
              </a:solidFill>
              <a:effectLst/>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Source. https://</a:t>
            </a:r>
            <a:r>
              <a:rPr lang="en-US" dirty="0" err="1">
                <a:solidFill>
                  <a:schemeClr val="dk1"/>
                </a:solidFill>
              </a:rPr>
              <a:t>www.standishgroup.com</a:t>
            </a:r>
            <a:r>
              <a:rPr lang="en-US" dirty="0">
                <a:solidFill>
                  <a:schemeClr val="dk1"/>
                </a:solidFill>
              </a:rPr>
              <a:t>/</a:t>
            </a:r>
            <a:r>
              <a:rPr lang="en-US" dirty="0" err="1">
                <a:solidFill>
                  <a:schemeClr val="dk1"/>
                </a:solidFill>
              </a:rPr>
              <a:t>sample_research_files</a:t>
            </a:r>
            <a:r>
              <a:rPr lang="en-US" dirty="0">
                <a:solidFill>
                  <a:schemeClr val="dk1"/>
                </a:solidFill>
              </a:rPr>
              <a:t>/CHAOSReport2015-Final.pdf</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3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4" name="Google Shape;624;p3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Now let’s bring process back into our discussion of design as business.</a:t>
            </a:r>
          </a:p>
          <a:p>
            <a:pPr marL="0" lvl="0" indent="0" algn="l" rtl="0">
              <a:spcBef>
                <a:spcPts val="0"/>
              </a:spcBef>
              <a:spcAft>
                <a:spcPts val="0"/>
              </a:spcAft>
              <a:buClr>
                <a:schemeClr val="dk1"/>
              </a:buClr>
              <a:buSzPts val="1100"/>
              <a:buFont typeface="Arial"/>
              <a:buNone/>
            </a:pPr>
            <a:endParaRPr lang="en-US" dirty="0"/>
          </a:p>
          <a:p>
            <a:pPr marL="0" lvl="0" indent="0" algn="l" rtl="0">
              <a:spcBef>
                <a:spcPts val="0"/>
              </a:spcBef>
              <a:spcAft>
                <a:spcPts val="0"/>
              </a:spcAft>
              <a:buClr>
                <a:schemeClr val="dk1"/>
              </a:buClr>
              <a:buSzPts val="1100"/>
              <a:buFont typeface="Arial"/>
              <a:buNone/>
            </a:pPr>
            <a:r>
              <a:rPr lang="en-US" dirty="0"/>
              <a:t>The report states that agile has a much higher success rate compared to waterfall projects, and waterfall projects fail more often.</a:t>
            </a: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r>
              <a:rPr lang="en-US" dirty="0"/>
              <a:t>Why does the waterfall process not perform as well as agile, do you think?</a:t>
            </a:r>
          </a:p>
          <a:p>
            <a:pPr marL="0" lvl="0" indent="0" algn="l" rtl="0">
              <a:spcBef>
                <a:spcPts val="0"/>
              </a:spcBef>
              <a:spcAft>
                <a:spcPts val="0"/>
              </a:spcAft>
              <a:buClr>
                <a:schemeClr val="dk1"/>
              </a:buClr>
              <a:buSzPts val="1100"/>
              <a:buFont typeface="Arial"/>
              <a:buNone/>
            </a:pPr>
            <a:endParaRPr lang="en-US" dirty="0"/>
          </a:p>
          <a:p>
            <a:pPr marL="0" lvl="0" indent="0" algn="l" rtl="0">
              <a:spcBef>
                <a:spcPts val="0"/>
              </a:spcBef>
              <a:spcAft>
                <a:spcPts val="0"/>
              </a:spcAft>
              <a:buClr>
                <a:schemeClr val="dk1"/>
              </a:buClr>
              <a:buSzPts val="1100"/>
              <a:buFont typeface="Arial"/>
              <a:buNone/>
            </a:pPr>
            <a:r>
              <a:rPr lang="en-US" dirty="0"/>
              <a:t>In this report, scholars and the data presented suggest that waterfall doesn’t scale. You can look into this report more on your own if you’re interested.</a:t>
            </a: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r>
              <a:rPr lang="en-US" dirty="0"/>
              <a:t>2% budget—software quality; 15% user involvement</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349c6aa2da4_2_8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g349c6aa2da4_2_8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en" sz="1200" b="0" i="0" u="none" strike="noStrike" cap="none">
                <a:solidFill>
                  <a:schemeClr val="dk1"/>
                </a:solidFill>
                <a:latin typeface="Calibri"/>
                <a:ea typeface="Calibri"/>
                <a:cs typeface="Calibri"/>
                <a:sym typeface="Calibri"/>
              </a:rPr>
              <a:t>Now, let’s say we have a designer who wants to design a digital book reading application. So she has a conceptual model that includes things like people should be able to read a book from front to back, jump ahead, put a book mark in it. She is building a model of what this book application will do. </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Image borrowed from: https://mk0caiblog1h3pefaf7c.kinstacdn.com/wp-content/uploads/2016/01/recast-ai-conceptual-model-vs-mental-model.png</a:t>
            </a:r>
            <a:endParaRPr sz="1200">
              <a:solidFill>
                <a:schemeClr val="dk1"/>
              </a:solidFill>
              <a:latin typeface="Calibri"/>
              <a:ea typeface="Calibri"/>
              <a:cs typeface="Calibri"/>
              <a:sym typeface="Calibri"/>
            </a:endParaRPr>
          </a:p>
        </p:txBody>
      </p:sp>
      <p:sp>
        <p:nvSpPr>
          <p:cNvPr id="827" name="Google Shape;827;g349c6aa2da4_2_8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37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349c6aa2da4_2_8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4" name="Google Shape;814;g349c6aa2da4_2_80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en" sz="1200" b="0" i="0" u="none" strike="noStrike" cap="none">
                <a:solidFill>
                  <a:schemeClr val="dk1"/>
                </a:solidFill>
                <a:latin typeface="Calibri"/>
                <a:ea typeface="Calibri"/>
                <a:cs typeface="Calibri"/>
                <a:sym typeface="Calibri"/>
              </a:rPr>
              <a:t>Now, let’s say we have a designer who wants to design a digital book reading application. So she has a conceptual model that includes things like people should be able to read a book from front to back, jump ahead, put a book mark in it. She is building a model of what this book application will do. </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Image borrowed from: https://mk0caiblog1h3pefaf7c.kinstacdn.com/wp-content/uploads/2016/01/recast-ai-conceptual-model-vs-mental-model.png</a:t>
            </a:r>
            <a:endParaRPr sz="1200">
              <a:solidFill>
                <a:schemeClr val="dk1"/>
              </a:solidFill>
              <a:latin typeface="Calibri"/>
              <a:ea typeface="Calibri"/>
              <a:cs typeface="Calibri"/>
              <a:sym typeface="Calibri"/>
            </a:endParaRPr>
          </a:p>
        </p:txBody>
      </p:sp>
      <p:sp>
        <p:nvSpPr>
          <p:cNvPr id="815" name="Google Shape;815;g349c6aa2da4_2_80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38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349c6aa2da4_2_8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9" name="Google Shape;839;g349c6aa2da4_2_8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These two people generally don’t communicate directly</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Image borrowed from: https://mk0caiblog1h3pefaf7c.kinstacdn.com/wp-content/uploads/2016/01/recast-ai-conceptual-model-vs-mental-model.png</a:t>
            </a:r>
            <a:endParaRPr sz="1200">
              <a:solidFill>
                <a:schemeClr val="dk1"/>
              </a:solidFill>
              <a:latin typeface="Calibri"/>
              <a:ea typeface="Calibri"/>
              <a:cs typeface="Calibri"/>
              <a:sym typeface="Calibri"/>
            </a:endParaRPr>
          </a:p>
        </p:txBody>
      </p:sp>
      <p:sp>
        <p:nvSpPr>
          <p:cNvPr id="840" name="Google Shape;840;g349c6aa2da4_2_8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39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349c6aa2da4_2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 name="Google Shape;855;g349c6aa2da4_2_8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so, the designer has to embed the conceptual model into the design, using tools like metaphors</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Image borrowed from: https://mk0caiblog1h3pefaf7c.kinstacdn.com/wp-content/uploads/2016/01/recast-ai-conceptual-model-vs-mental-model.png</a:t>
            </a:r>
            <a:endParaRPr sz="1200">
              <a:solidFill>
                <a:schemeClr val="dk1"/>
              </a:solidFill>
              <a:latin typeface="Calibri"/>
              <a:ea typeface="Calibri"/>
              <a:cs typeface="Calibri"/>
              <a:sym typeface="Calibri"/>
            </a:endParaRPr>
          </a:p>
        </p:txBody>
      </p:sp>
      <p:sp>
        <p:nvSpPr>
          <p:cNvPr id="856" name="Google Shape;856;g349c6aa2da4_2_8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40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349c6aa2da4_2_8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9" name="Google Shape;869;g349c6aa2da4_2_8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the user brings their mental model to the system. With every interactional turn, in which the gulfs of execution and evaluation are bridged, the user is testing and refining their mental model.</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Image borrowed from: https://mk0caiblog1h3pefaf7c.kinstacdn.com/wp-content/uploads/2016/01/recast-ai-conceptual-model-vs-mental-model.png</a:t>
            </a:r>
            <a:endParaRPr sz="1200">
              <a:solidFill>
                <a:schemeClr val="dk1"/>
              </a:solidFill>
              <a:latin typeface="Calibri"/>
              <a:ea typeface="Calibri"/>
              <a:cs typeface="Calibri"/>
              <a:sym typeface="Calibri"/>
            </a:endParaRPr>
          </a:p>
        </p:txBody>
      </p:sp>
      <p:sp>
        <p:nvSpPr>
          <p:cNvPr id="870" name="Google Shape;870;g349c6aa2da4_2_8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41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349c6aa2da4_2_10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100"/>
              <a:buNone/>
            </a:pPr>
            <a:endParaRPr/>
          </a:p>
        </p:txBody>
      </p:sp>
      <p:sp>
        <p:nvSpPr>
          <p:cNvPr id="892" name="Google Shape;892;g349c6aa2da4_2_10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349c6aa2da4_2_10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100"/>
              <a:buNone/>
            </a:pPr>
            <a:endParaRPr/>
          </a:p>
        </p:txBody>
      </p:sp>
      <p:sp>
        <p:nvSpPr>
          <p:cNvPr id="899" name="Google Shape;899;g349c6aa2da4_2_10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3403f7b5ce4_0_29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100"/>
              <a:buNone/>
            </a:pPr>
            <a:endParaRPr/>
          </a:p>
        </p:txBody>
      </p:sp>
      <p:sp>
        <p:nvSpPr>
          <p:cNvPr id="905" name="Google Shape;905;g3403f7b5ce4_0_29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SzPts val="1100"/>
              <a:buNone/>
            </a:pPr>
            <a:r>
              <a:rPr lang="en-US" dirty="0"/>
              <a:t>partially sourced from</a:t>
            </a:r>
            <a:r>
              <a:rPr lang="en-US" sz="1200" i="1" dirty="0">
                <a:latin typeface="Avenir"/>
                <a:ea typeface="Avenir"/>
                <a:cs typeface="Avenir"/>
                <a:sym typeface="Avenir"/>
              </a:rPr>
              <a:t>: www.cs.uvm.edu/~jbongard/2009_hci/CS228_09.ppt </a:t>
            </a:r>
            <a:endParaRPr lang="en-US" sz="1200" dirty="0">
              <a:latin typeface="Avenir"/>
              <a:ea typeface="Avenir"/>
              <a:cs typeface="Avenir"/>
              <a:sym typeface="Avenir"/>
            </a:endParaRPr>
          </a:p>
          <a:p>
            <a:pPr marL="0" lvl="0" indent="0" algn="l" rtl="0">
              <a:lnSpc>
                <a:spcPct val="100000"/>
              </a:lnSpc>
              <a:spcBef>
                <a:spcPts val="0"/>
              </a:spcBef>
              <a:spcAft>
                <a:spcPts val="0"/>
              </a:spcAft>
              <a:buSzPts val="1100"/>
              <a:buNone/>
            </a:pPr>
            <a:endParaRPr lang="en-US" dirty="0"/>
          </a:p>
          <a:p>
            <a:endParaRPr lang="en-US" dirty="0"/>
          </a:p>
        </p:txBody>
      </p:sp>
      <p:sp>
        <p:nvSpPr>
          <p:cNvPr id="4" name="Slide Number Placeholder 3"/>
          <p:cNvSpPr>
            <a:spLocks noGrp="1"/>
          </p:cNvSpPr>
          <p:nvPr>
            <p:ph type="sldNum" sz="quarter" idx="5"/>
          </p:nvPr>
        </p:nvSpPr>
        <p:spPr/>
        <p:txBody>
          <a:bodyPr/>
          <a:lstStyle/>
          <a:p>
            <a:fld id="{FEB142F2-0784-4D2D-A87E-F00E24BCF877}" type="slidenum">
              <a:rPr lang="en-US" smtClean="0"/>
              <a:t>45</a:t>
            </a:fld>
            <a:endParaRPr lang="en-US"/>
          </a:p>
        </p:txBody>
      </p:sp>
    </p:spTree>
    <p:extLst>
      <p:ext uri="{BB962C8B-B14F-4D97-AF65-F5344CB8AC3E}">
        <p14:creationId xmlns:p14="http://schemas.microsoft.com/office/powerpoint/2010/main" val="4074131691"/>
      </p:ext>
    </p:extLst>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http://creativecommons.org/licenses/by-nc-sa/4.0/" TargetMode="External" Type="http://schemas.openxmlformats.org/officeDocument/2006/relationships/hyperlink"/><Relationship Id="rId3" Target="../media/image1.pn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 Id="rId2" Target="http://creativecommons.org/licenses/by-nc-sa/4.0/" TargetMode="External" Type="http://schemas.openxmlformats.org/officeDocument/2006/relationships/hyperlink"/><Relationship Id="rId3" Target="../media/image1.png" Type="http://schemas.openxmlformats.org/officeDocument/2006/relationships/image"/></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 Id="rId2" Target="http://creativecommons.org/licenses/by-nc-sa/4.0/" TargetMode="External" Type="http://schemas.openxmlformats.org/officeDocument/2006/relationships/hyperlink"/><Relationship Id="rId3" Target="../media/image1.png" Type="http://schemas.openxmlformats.org/officeDocument/2006/relationships/image"/></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jpg" Type="http://schemas.openxmlformats.org/officeDocument/2006/relationships/image"/></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none"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2D08FFC-788C-4329-86C2-6C689F7EA10D}" type="datetime1">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EDD377-37BC-4005-96E4-5F6B73429D5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4667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7B973C-C9B0-4FE6-912E-602854883D13}" type="datetime1">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EDD377-37BC-4005-96E4-5F6B73429D5C}" type="slidenum">
              <a:rPr lang="en-US" smtClean="0"/>
              <a:t>‹#›</a:t>
            </a:fld>
            <a:endParaRPr lang="en-US"/>
          </a:p>
        </p:txBody>
      </p:sp>
    </p:spTree>
    <p:extLst>
      <p:ext uri="{BB962C8B-B14F-4D97-AF65-F5344CB8AC3E}">
        <p14:creationId xmlns:p14="http://schemas.microsoft.com/office/powerpoint/2010/main" val="1142100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D76E8B-6407-4A87-B6D1-6C4F6602D5D4}" type="datetime1">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EDD377-37BC-4005-96E4-5F6B73429D5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E9CE91E-453E-496E-874F-D93A18629002}"/>
              </a:ext>
            </a:extLst>
          </p:cNvPr>
          <p:cNvSpPr txBox="1"/>
          <p:nvPr/>
        </p:nvSpPr>
        <p:spPr>
          <a:xfrm>
            <a:off x="9137707" y="6474770"/>
            <a:ext cx="1856510" cy="307777"/>
          </a:xfrm>
          <a:prstGeom prst="rect">
            <a:avLst/>
          </a:prstGeom>
          <a:noFill/>
        </p:spPr>
        <p:txBody>
          <a:bodyPr wrap="square" rtlCol="0">
            <a:spAutoFit/>
          </a:bodyPr>
          <a:lstStyle/>
          <a:p>
            <a:pPr algn="r"/>
            <a:r>
              <a:rPr lang="en-US" sz="1400" dirty="0">
                <a:solidFill>
                  <a:schemeClr val="accent1"/>
                </a:solidFill>
              </a:rPr>
              <a:t>©Matthew Bietz</a:t>
            </a:r>
          </a:p>
        </p:txBody>
      </p:sp>
      <p:pic>
        <p:nvPicPr>
          <p:cNvPr id="11" name="Picture 10">
            <a:hlinkClick r:id="rId2"/>
            <a:extLst>
              <a:ext uri="{FF2B5EF4-FFF2-40B4-BE49-F238E27FC236}">
                <a16:creationId xmlns:a16="http://schemas.microsoft.com/office/drawing/2014/main" id="{F8281AF4-629C-44A9-ABB8-C0BBC6BAD7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94217" y="6431537"/>
            <a:ext cx="1126806" cy="394243"/>
          </a:xfrm>
          <a:prstGeom prst="rect">
            <a:avLst/>
          </a:prstGeom>
        </p:spPr>
      </p:pic>
    </p:spTree>
    <p:extLst>
      <p:ext uri="{BB962C8B-B14F-4D97-AF65-F5344CB8AC3E}">
        <p14:creationId xmlns:p14="http://schemas.microsoft.com/office/powerpoint/2010/main" val="4151678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F2DBF3-0D47-40FD-8EAC-2D450C6B187C}" type="datetime1">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EDD377-37BC-4005-96E4-5F6B73429D5C}" type="slidenum">
              <a:rPr lang="en-US" smtClean="0"/>
              <a:t>‹#›</a:t>
            </a:fld>
            <a:endParaRPr lang="en-US"/>
          </a:p>
        </p:txBody>
      </p:sp>
    </p:spTree>
    <p:extLst>
      <p:ext uri="{BB962C8B-B14F-4D97-AF65-F5344CB8AC3E}">
        <p14:creationId xmlns:p14="http://schemas.microsoft.com/office/powerpoint/2010/main" val="3918685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a:solidFill>
            <a:schemeClr val="tx2"/>
          </a:solidFill>
          <a:ln w="19050">
            <a:solidFill>
              <a:schemeClr val="tx2"/>
            </a:solidFill>
          </a:ln>
        </p:spPr>
        <p:txBody>
          <a:bodyPr lIns="91440" rIns="91440" anchor="ctr">
            <a:normAutofit/>
          </a:bodyPr>
          <a:lstStyle>
            <a:lvl1pPr marL="0" indent="0">
              <a:buNone/>
              <a:defRPr sz="2000" b="0"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a:ln>
            <a:solidFill>
              <a:schemeClr val="tx2"/>
            </a:solid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a:solidFill>
            <a:schemeClr val="tx2"/>
          </a:solidFill>
          <a:ln w="19050">
            <a:solidFill>
              <a:schemeClr val="tx2"/>
            </a:solidFill>
          </a:ln>
        </p:spPr>
        <p:txBody>
          <a:bodyPr lIns="91440" rIns="91440" anchor="ctr">
            <a:normAutofit/>
          </a:bodyPr>
          <a:lstStyle>
            <a:lvl1pPr marL="0" indent="0">
              <a:buNone/>
              <a:defRPr sz="2000" b="0"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a:ln>
            <a:solidFill>
              <a:schemeClr val="tx2"/>
            </a:solid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6D7C96-6E07-47C4-97E4-6E15EAA25D49}" type="datetime1">
              <a:rPr lang="en-US" smtClean="0"/>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EDD377-37BC-4005-96E4-5F6B73429D5C}" type="slidenum">
              <a:rPr lang="en-US" smtClean="0"/>
              <a:t>‹#›</a:t>
            </a:fld>
            <a:endParaRPr lang="en-US"/>
          </a:p>
        </p:txBody>
      </p:sp>
    </p:spTree>
    <p:extLst>
      <p:ext uri="{BB962C8B-B14F-4D97-AF65-F5344CB8AC3E}">
        <p14:creationId xmlns:p14="http://schemas.microsoft.com/office/powerpoint/2010/main" val="3585771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8D72C5-958C-48B9-BA83-FDAB9AB848B6}" type="datetime1">
              <a:rPr lang="en-US" smtClean="0"/>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EDD377-37BC-4005-96E4-5F6B73429D5C}" type="slidenum">
              <a:rPr lang="en-US" smtClean="0"/>
              <a:t>‹#›</a:t>
            </a:fld>
            <a:endParaRPr lang="en-US"/>
          </a:p>
        </p:txBody>
      </p:sp>
    </p:spTree>
    <p:extLst>
      <p:ext uri="{BB962C8B-B14F-4D97-AF65-F5344CB8AC3E}">
        <p14:creationId xmlns:p14="http://schemas.microsoft.com/office/powerpoint/2010/main" val="3332992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A823678B-A45C-4B9E-BF94-E0504CFBE5CA}" type="datetime1">
              <a:rPr lang="en-US" smtClean="0"/>
              <a:t>4/6/2026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F0EDD377-37BC-4005-96E4-5F6B73429D5C}" type="slidenum">
              <a:rPr lang="en-US" smtClean="0"/>
              <a:t>‹#›</a:t>
            </a:fld>
            <a:endParaRPr lang="en-US"/>
          </a:p>
        </p:txBody>
      </p:sp>
      <p:sp>
        <p:nvSpPr>
          <p:cNvPr id="10" name="TextBox 9">
            <a:extLst>
              <a:ext uri="{FF2B5EF4-FFF2-40B4-BE49-F238E27FC236}">
                <a16:creationId xmlns:a16="http://schemas.microsoft.com/office/drawing/2014/main" id="{3878C4EB-D917-418B-ABF5-4D7D5B686387}"/>
              </a:ext>
            </a:extLst>
          </p:cNvPr>
          <p:cNvSpPr txBox="1"/>
          <p:nvPr/>
        </p:nvSpPr>
        <p:spPr>
          <a:xfrm>
            <a:off x="9137707" y="6474770"/>
            <a:ext cx="1856510" cy="307777"/>
          </a:xfrm>
          <a:prstGeom prst="rect">
            <a:avLst/>
          </a:prstGeom>
          <a:noFill/>
        </p:spPr>
        <p:txBody>
          <a:bodyPr wrap="square" rtlCol="0">
            <a:spAutoFit/>
          </a:bodyPr>
          <a:lstStyle/>
          <a:p>
            <a:pPr algn="r"/>
            <a:r>
              <a:rPr lang="en-US" sz="1400" dirty="0">
                <a:solidFill>
                  <a:schemeClr val="accent1"/>
                </a:solidFill>
              </a:rPr>
              <a:t>©Matthew Bietz</a:t>
            </a:r>
          </a:p>
        </p:txBody>
      </p:sp>
      <p:pic>
        <p:nvPicPr>
          <p:cNvPr id="11" name="Picture 10">
            <a:hlinkClick r:id="rId2"/>
            <a:extLst>
              <a:ext uri="{FF2B5EF4-FFF2-40B4-BE49-F238E27FC236}">
                <a16:creationId xmlns:a16="http://schemas.microsoft.com/office/drawing/2014/main" id="{64AA235E-29C3-4374-B59D-1A2C9929D2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94217" y="6431537"/>
            <a:ext cx="1126806" cy="394243"/>
          </a:xfrm>
          <a:prstGeom prst="rect">
            <a:avLst/>
          </a:prstGeom>
        </p:spPr>
      </p:pic>
    </p:spTree>
    <p:extLst>
      <p:ext uri="{BB962C8B-B14F-4D97-AF65-F5344CB8AC3E}">
        <p14:creationId xmlns:p14="http://schemas.microsoft.com/office/powerpoint/2010/main" val="2288472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uper 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39D2B1B-575B-4D4E-8364-CBD7408039B6}"/>
              </a:ext>
            </a:extLst>
          </p:cNvPr>
          <p:cNvSpPr>
            <a:spLocks noGrp="1"/>
          </p:cNvSpPr>
          <p:nvPr>
            <p:ph type="dt" sz="half" idx="10"/>
          </p:nvPr>
        </p:nvSpPr>
        <p:spPr/>
        <p:txBody>
          <a:bodyPr/>
          <a:lstStyle/>
          <a:p>
            <a:fld id="{46E695D6-AC2A-4E3E-8709-590EE6D5AC38}" type="datetime1">
              <a:rPr lang="en-US" smtClean="0"/>
              <a:t>4/6/2026</a:t>
            </a:fld>
            <a:endParaRPr lang="en-US"/>
          </a:p>
        </p:txBody>
      </p:sp>
      <p:sp>
        <p:nvSpPr>
          <p:cNvPr id="4" name="Footer Placeholder 3">
            <a:extLst>
              <a:ext uri="{FF2B5EF4-FFF2-40B4-BE49-F238E27FC236}">
                <a16:creationId xmlns:a16="http://schemas.microsoft.com/office/drawing/2014/main" id="{D1C1B2B6-A025-433E-88C0-758126F224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CC2BDC-0130-4924-BDA7-694C44606E65}"/>
              </a:ext>
            </a:extLst>
          </p:cNvPr>
          <p:cNvSpPr>
            <a:spLocks noGrp="1"/>
          </p:cNvSpPr>
          <p:nvPr>
            <p:ph type="sldNum" sz="quarter" idx="12"/>
          </p:nvPr>
        </p:nvSpPr>
        <p:spPr/>
        <p:txBody>
          <a:bodyPr/>
          <a:lstStyle/>
          <a:p>
            <a:fld id="{F0EDD377-37BC-4005-96E4-5F6B73429D5C}" type="slidenum">
              <a:rPr lang="en-US" smtClean="0"/>
              <a:t>‹#›</a:t>
            </a:fld>
            <a:endParaRPr lang="en-US"/>
          </a:p>
        </p:txBody>
      </p:sp>
    </p:spTree>
    <p:extLst>
      <p:ext uri="{BB962C8B-B14F-4D97-AF65-F5344CB8AC3E}">
        <p14:creationId xmlns:p14="http://schemas.microsoft.com/office/powerpoint/2010/main" val="4007768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4400" b="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8F7ECE6-1A87-496D-8156-7C4EA7802D61}" type="datetime1">
              <a:rPr lang="en-US" smtClean="0"/>
              <a:t>4/6/2026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0EDD377-37BC-4005-96E4-5F6B73429D5C}" type="slidenum">
              <a:rPr lang="en-US" smtClean="0"/>
              <a:t>‹#›</a:t>
            </a:fld>
            <a:endParaRPr lang="en-US"/>
          </a:p>
        </p:txBody>
      </p:sp>
      <p:sp>
        <p:nvSpPr>
          <p:cNvPr id="10" name="TextBox 9">
            <a:extLst>
              <a:ext uri="{FF2B5EF4-FFF2-40B4-BE49-F238E27FC236}">
                <a16:creationId xmlns:a16="http://schemas.microsoft.com/office/drawing/2014/main" id="{B3F52437-08AD-43FC-8E08-67608C994FF0}"/>
              </a:ext>
            </a:extLst>
          </p:cNvPr>
          <p:cNvSpPr txBox="1"/>
          <p:nvPr/>
        </p:nvSpPr>
        <p:spPr>
          <a:xfrm>
            <a:off x="9137707" y="6474770"/>
            <a:ext cx="1856510" cy="307777"/>
          </a:xfrm>
          <a:prstGeom prst="rect">
            <a:avLst/>
          </a:prstGeom>
          <a:noFill/>
        </p:spPr>
        <p:txBody>
          <a:bodyPr wrap="square" rtlCol="0">
            <a:spAutoFit/>
          </a:bodyPr>
          <a:lstStyle/>
          <a:p>
            <a:pPr algn="r"/>
            <a:r>
              <a:rPr lang="en-US" sz="1400" dirty="0">
                <a:solidFill>
                  <a:schemeClr val="accent1"/>
                </a:solidFill>
              </a:rPr>
              <a:t>©Matthew Bietz</a:t>
            </a:r>
          </a:p>
        </p:txBody>
      </p:sp>
      <p:pic>
        <p:nvPicPr>
          <p:cNvPr id="11" name="Picture 10">
            <a:hlinkClick r:id="rId2"/>
            <a:extLst>
              <a:ext uri="{FF2B5EF4-FFF2-40B4-BE49-F238E27FC236}">
                <a16:creationId xmlns:a16="http://schemas.microsoft.com/office/drawing/2014/main" id="{7738056D-7944-48E8-A590-768B8A8253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94217" y="6431537"/>
            <a:ext cx="1126806" cy="394243"/>
          </a:xfrm>
          <a:prstGeom prst="rect">
            <a:avLst/>
          </a:prstGeom>
        </p:spPr>
      </p:pic>
    </p:spTree>
    <p:extLst>
      <p:ext uri="{BB962C8B-B14F-4D97-AF65-F5344CB8AC3E}">
        <p14:creationId xmlns:p14="http://schemas.microsoft.com/office/powerpoint/2010/main" val="1325783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22E070-0B9C-4E08-AD43-73E76CD78C11}" type="datetime1">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EDD377-37BC-4005-96E4-5F6B73429D5C}" type="slidenum">
              <a:rPr lang="en-US" smtClean="0"/>
              <a:t>‹#›</a:t>
            </a:fld>
            <a:endParaRPr lang="en-US"/>
          </a:p>
        </p:txBody>
      </p:sp>
    </p:spTree>
    <p:extLst>
      <p:ext uri="{BB962C8B-B14F-4D97-AF65-F5344CB8AC3E}">
        <p14:creationId xmlns:p14="http://schemas.microsoft.com/office/powerpoint/2010/main" val="2165264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93F981-3BC7-4D97-B759-F365C292A1D1}" type="datetime1">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EDD377-37BC-4005-96E4-5F6B73429D5C}" type="slidenum">
              <a:rPr lang="en-US" smtClean="0"/>
              <a:t>‹#›</a:t>
            </a:fld>
            <a:endParaRPr lang="en-US"/>
          </a:p>
        </p:txBody>
      </p:sp>
    </p:spTree>
    <p:extLst>
      <p:ext uri="{BB962C8B-B14F-4D97-AF65-F5344CB8AC3E}">
        <p14:creationId xmlns:p14="http://schemas.microsoft.com/office/powerpoint/2010/main" val="30034884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D33C26-DC06-45E9-A077-8CF6040A70B8}" type="datetime1">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EDD377-37BC-4005-96E4-5F6B73429D5C}" type="slidenum">
              <a:rPr lang="en-US" smtClean="0"/>
              <a:t>‹#›</a:t>
            </a:fld>
            <a:endParaRPr lang="en-US"/>
          </a:p>
        </p:txBody>
      </p:sp>
    </p:spTree>
    <p:extLst>
      <p:ext uri="{BB962C8B-B14F-4D97-AF65-F5344CB8AC3E}">
        <p14:creationId xmlns:p14="http://schemas.microsoft.com/office/powerpoint/2010/main" val="41106561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userDrawn="1">
  <p:cSld name="1_Title Only">
    <p:spTree>
      <p:nvGrpSpPr>
        <p:cNvPr id="1" name="Shape 53"/>
        <p:cNvGrpSpPr/>
        <p:nvPr/>
      </p:nvGrpSpPr>
      <p:grpSpPr>
        <a:xfrm>
          <a:off x="0" y="0"/>
          <a:ext cx="0" cy="0"/>
          <a:chOff x="0" y="0"/>
          <a:chExt cx="0" cy="0"/>
        </a:xfrm>
      </p:grpSpPr>
      <p:sp>
        <p:nvSpPr>
          <p:cNvPr id="2" name="Rectangle 1">
            <a:extLst>
              <a:ext uri="{FF2B5EF4-FFF2-40B4-BE49-F238E27FC236}">
                <a16:creationId xmlns:a16="http://schemas.microsoft.com/office/drawing/2014/main" id="{59275362-BB0A-EB59-BB41-A30EB18149D2}"/>
              </a:ext>
            </a:extLst>
          </p:cNvPr>
          <p:cNvSpPr/>
          <p:nvPr userDrawn="1"/>
        </p:nvSpPr>
        <p:spPr>
          <a:xfrm>
            <a:off x="0" y="0"/>
            <a:ext cx="12192000" cy="6245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93069719"/>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slideLayouts/slideLayout12.xml" Type="http://schemas.openxmlformats.org/officeDocument/2006/relationships/slideLayout"/><Relationship Id="rId13" Target="../slideLayouts/slideLayout13.xml" Type="http://schemas.openxmlformats.org/officeDocument/2006/relationships/slideLayout"/><Relationship Id="rId14" Target="../theme/theme1.xml" Type="http://schemas.openxmlformats.org/officeDocument/2006/relationships/theme"/><Relationship Id="rId15" Target="http://creativecommons.org/licenses/by-nc-sa/4.0/" TargetMode="External" Type="http://schemas.openxmlformats.org/officeDocument/2006/relationships/hyperlink"/><Relationship Id="rId16" Target="../media/image1.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86609A5-6775-4AE6-9C20-8E61C42CE133}" type="datetime1">
              <a:rPr lang="en-US" smtClean="0"/>
              <a:t>4/6/2026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108690" y="6446837"/>
            <a:ext cx="736136" cy="365125"/>
          </a:xfrm>
          <a:prstGeom prst="rect">
            <a:avLst/>
          </a:prstGeom>
        </p:spPr>
        <p:txBody>
          <a:bodyPr vert="horz" lIns="91440" tIns="45720" rIns="91440" bIns="45720" rtlCol="0" anchor="ctr"/>
          <a:lstStyle>
            <a:lvl1pPr algn="l">
              <a:defRPr sz="1050">
                <a:solidFill>
                  <a:srgbClr val="FFFFFF"/>
                </a:solidFill>
              </a:defRPr>
            </a:lvl1pPr>
          </a:lstStyle>
          <a:p>
            <a:fld id="{F0EDD377-37BC-4005-96E4-5F6B73429D5C}"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4A4D66F-4CA9-45A4-9837-FD41802637AC}"/>
              </a:ext>
            </a:extLst>
          </p:cNvPr>
          <p:cNvSpPr txBox="1"/>
          <p:nvPr/>
        </p:nvSpPr>
        <p:spPr>
          <a:xfrm>
            <a:off x="9137707" y="6474770"/>
            <a:ext cx="1856510" cy="307777"/>
          </a:xfrm>
          <a:prstGeom prst="rect">
            <a:avLst/>
          </a:prstGeom>
          <a:noFill/>
        </p:spPr>
        <p:txBody>
          <a:bodyPr wrap="square" rtlCol="0">
            <a:spAutoFit/>
          </a:bodyPr>
          <a:lstStyle/>
          <a:p>
            <a:pPr algn="r"/>
            <a:r>
              <a:rPr lang="en-US" sz="1400" dirty="0">
                <a:solidFill>
                  <a:schemeClr val="accent1"/>
                </a:solidFill>
              </a:rPr>
              <a:t>©Matthew Bietz</a:t>
            </a:r>
          </a:p>
        </p:txBody>
      </p:sp>
      <p:pic>
        <p:nvPicPr>
          <p:cNvPr id="12" name="Picture 11">
            <a:hlinkClick r:id="rId15"/>
            <a:extLst>
              <a:ext uri="{FF2B5EF4-FFF2-40B4-BE49-F238E27FC236}">
                <a16:creationId xmlns:a16="http://schemas.microsoft.com/office/drawing/2014/main" id="{ECB26740-352B-4B65-A7DD-03208F97314A}"/>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0994217" y="6431537"/>
            <a:ext cx="1126806" cy="394243"/>
          </a:xfrm>
          <a:prstGeom prst="rect">
            <a:avLst/>
          </a:prstGeom>
        </p:spPr>
      </p:pic>
    </p:spTree>
    <p:extLst>
      <p:ext uri="{BB962C8B-B14F-4D97-AF65-F5344CB8AC3E}">
        <p14:creationId xmlns:p14="http://schemas.microsoft.com/office/powerpoint/2010/main" val="1595615440"/>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22" r:id="rId13"/>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2.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4.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0.jpeg" Type="http://schemas.openxmlformats.org/officeDocument/2006/relationships/image"/><Relationship Id="rId3" Target="https://soldevelo.com/blog/is-agile-always-the-best-solution-for-software-development-projects/"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 Id="rId2" Target="https://youtu.be/M66ZU2PCIcM?si=sA8X-qjZL1r9IPQw"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4.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4.xml" Type="http://schemas.openxmlformats.org/officeDocument/2006/relationships/slideLayout"/><Relationship Id="rId2" Target="../media/image11.jpeg" Type="http://schemas.openxmlformats.org/officeDocument/2006/relationships/image"/><Relationship Id="rId3" Target="https://www.flickr.com/photos/97223988@N00/6732863457" TargetMode="External" Type="http://schemas.openxmlformats.org/officeDocument/2006/relationships/hyperlink"/></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gif"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3.jpeg" Type="http://schemas.openxmlformats.org/officeDocument/2006/relationships/image"/><Relationship Id="rId3" Target="../media/image14.jpg" Type="http://schemas.openxmlformats.org/officeDocument/2006/relationships/image"/><Relationship Id="rId4" Target="../media/image15.jp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2.xml" Type="http://schemas.openxmlformats.org/officeDocument/2006/relationships/slideLayout"/><Relationship Id="rId2" Target="https://youtu.be/yY96hTb8WgI" TargetMode="External" Type="http://schemas.openxmlformats.org/officeDocument/2006/relationships/hyperlink"/></Relationships>
</file>

<file path=ppt/slides/_rels/slide30.xml.rels><?xml version="1.0" encoding="UTF-8" standalone="yes"?><Relationships xmlns="http://schemas.openxmlformats.org/package/2006/relationships"><Relationship Id="rId1" Target="../slideLayouts/slideLayout4.xml" Type="http://schemas.openxmlformats.org/officeDocument/2006/relationships/slideLayout"/><Relationship Id="rId2" Target="../media/image18.jpeg" Type="http://schemas.openxmlformats.org/officeDocument/2006/relationships/image"/><Relationship Id="rId3" Target="https://unsplash.com/@alken?utm_source=unsplash&amp;utm_medium=referral&amp;utm_content=creditCopyText" TargetMode="External" Type="http://schemas.openxmlformats.org/officeDocument/2006/relationships/hyperlink"/></Relationships>
</file>

<file path=ppt/slides/_rels/slide3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9.gif"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gif"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3.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4.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4.xml" Type="http://schemas.openxmlformats.org/officeDocument/2006/relationships/slideLayout"/><Relationship Id="rId2" Target="../media/image25.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5.xml" Type="http://schemas.openxmlformats.org/officeDocument/2006/relationships/notesSlide"/><Relationship Id="rId3" Target="../media/image26.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6.xml" Type="http://schemas.openxmlformats.org/officeDocument/2006/relationships/notesSlide"/><Relationship Id="rId3" Target="../media/image26.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7.xml" Type="http://schemas.openxmlformats.org/officeDocument/2006/relationships/notesSlide"/><Relationship Id="rId3" Target="../media/image26.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8.xml" Type="http://schemas.openxmlformats.org/officeDocument/2006/relationships/notesSlide"/><Relationship Id="rId3" Target="../media/image26.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9.xml" Type="http://schemas.openxmlformats.org/officeDocument/2006/relationships/notesSlide"/><Relationship Id="rId3" Target="../media/image26.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7.png" Type="http://schemas.openxmlformats.org/officeDocument/2006/relationships/image"/><Relationship Id="rId4" Target="../media/image28.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9.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0.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3.xml" Type="http://schemas.openxmlformats.org/officeDocument/2006/relationships/notesSlide"/></Relationships>
</file>

<file path=ppt/slides/_rels/slide4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7.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1.xml.rels><?xml version="1.0" encoding="UTF-8" standalone="yes"?><Relationships xmlns="http://schemas.openxmlformats.org/package/2006/relationships"><Relationship Id="rId1" Target="../slideLayouts/slideLayout4.xml" Type="http://schemas.openxmlformats.org/officeDocument/2006/relationships/slideLayout"/><Relationship Id="rId2" Target="../media/image31.svg" Type="http://schemas.openxmlformats.org/officeDocument/2006/relationships/image"/></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lang="en-US"/>
              <a:t>Human Capabilities</a:t>
            </a:r>
          </a:p>
        </p:txBody>
      </p:sp>
      <p:sp>
        <p:nvSpPr>
          <p:cNvPr id="3" name="Subtitle 2"/>
          <p:cNvSpPr>
            <a:spLocks noGrp="1"/>
          </p:cNvSpPr>
          <p:nvPr>
            <p:ph idx="1" type="subTitle"/>
          </p:nvPr>
        </p:nvSpPr>
        <p:spPr/>
        <p:txBody>
          <a:bodyPr>
            <a:normAutofit fontScale="92500" lnSpcReduction="10000"/>
          </a:bodyPr>
          <a:lstStyle/>
          <a:p>
            <a:r>
              <a:rPr dirty="0" lang="en-US" sz="4400"/>
              <a:t>April 6, 2026 | week 2 | SWE 263P</a:t>
            </a:r>
            <a:br>
              <a:rPr dirty="0" lang="en-US" sz="4400"/>
            </a:br>
            <a:r>
              <a:rPr dirty="0" lang="en-US" sz="4400"/>
              <a:t>Matthew Bietz</a:t>
            </a:r>
          </a:p>
        </p:txBody>
      </p:sp>
    </p:spTree>
    <p:extLst>
      <p:ext uri="{BB962C8B-B14F-4D97-AF65-F5344CB8AC3E}">
        <p14:creationId xmlns:p14="http://schemas.microsoft.com/office/powerpoint/2010/main" val="50566926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5C6F5-BB63-4952-BED1-FCD6D802C954}"/>
              </a:ext>
            </a:extLst>
          </p:cNvPr>
          <p:cNvSpPr>
            <a:spLocks noGrp="1"/>
          </p:cNvSpPr>
          <p:nvPr>
            <p:ph type="title"/>
          </p:nvPr>
        </p:nvSpPr>
        <p:spPr/>
        <p:txBody>
          <a:bodyPr/>
          <a:lstStyle/>
          <a:p>
            <a:r>
              <a:rPr dirty="0" lang="en-US"/>
              <a:t>Today’s Agenda</a:t>
            </a:r>
          </a:p>
        </p:txBody>
      </p:sp>
      <p:sp>
        <p:nvSpPr>
          <p:cNvPr id="3" name="Content Placeholder 2">
            <a:extLst>
              <a:ext uri="{FF2B5EF4-FFF2-40B4-BE49-F238E27FC236}">
                <a16:creationId xmlns:a16="http://schemas.microsoft.com/office/drawing/2014/main" id="{7C2FDE1B-8AE4-4381-ADE5-958075096CC7}"/>
              </a:ext>
            </a:extLst>
          </p:cNvPr>
          <p:cNvSpPr>
            <a:spLocks noGrp="1"/>
          </p:cNvSpPr>
          <p:nvPr>
            <p:ph idx="1"/>
          </p:nvPr>
        </p:nvSpPr>
        <p:spPr>
          <a:xfrm>
            <a:off x="1097280" y="1845734"/>
            <a:ext cx="10541726" cy="4023360"/>
          </a:xfrm>
        </p:spPr>
        <p:txBody>
          <a:bodyPr>
            <a:normAutofit/>
          </a:bodyPr>
          <a:lstStyle/>
          <a:p>
            <a:r>
              <a:rPr dirty="0" lang="en-US" sz="4000"/>
              <a:t>What Sets HCD Process Apart? </a:t>
            </a:r>
            <a:r>
              <a:rPr dirty="0" i="1" lang="en-US" sz="3200"/>
              <a:t>(~30 min)</a:t>
            </a:r>
            <a:endParaRPr dirty="0" i="1" lang="en-US" sz="4000"/>
          </a:p>
          <a:p>
            <a:r>
              <a:rPr dirty="0" lang="en-US" sz="4000"/>
              <a:t>Human Capabilities &amp; HCD + Break </a:t>
            </a:r>
            <a:r>
              <a:rPr dirty="0" i="1" lang="en-US" sz="3200"/>
              <a:t>(~30 min + 15 min)</a:t>
            </a:r>
            <a:endParaRPr dirty="0" i="1" lang="en-US" sz="4000"/>
          </a:p>
          <a:p>
            <a:r>
              <a:rPr dirty="0" lang="en-US" sz="4000"/>
              <a:t>Design Principles + Break </a:t>
            </a:r>
            <a:r>
              <a:rPr dirty="0" i="1" lang="en-US" sz="3200"/>
              <a:t>(~30 min + 15 min)</a:t>
            </a:r>
          </a:p>
          <a:p>
            <a:r>
              <a:rPr dirty="0" lang="en-US" sz="4000"/>
              <a:t>Activity </a:t>
            </a:r>
            <a:r>
              <a:rPr dirty="0" i="1" lang="en-US" sz="3200"/>
              <a:t>(~30 min + 15 min)</a:t>
            </a:r>
            <a:endParaRPr dirty="0" i="1" lang="en-US" sz="4000"/>
          </a:p>
          <a:p>
            <a:r>
              <a:rPr dirty="0" lang="en-US" sz="4000"/>
              <a:t>Coming Up </a:t>
            </a:r>
            <a:r>
              <a:rPr dirty="0" i="1" lang="en-US" sz="3200"/>
              <a:t>(~5 min)</a:t>
            </a:r>
            <a:endParaRPr dirty="0" i="1" lang="en-US" sz="4000"/>
          </a:p>
        </p:txBody>
      </p:sp>
      <p:sp>
        <p:nvSpPr>
          <p:cNvPr id="4" name="Arrow: Right 3">
            <a:extLst>
              <a:ext uri="{FF2B5EF4-FFF2-40B4-BE49-F238E27FC236}">
                <a16:creationId xmlns:a16="http://schemas.microsoft.com/office/drawing/2014/main" id="{704D6DD9-453D-F25B-83C5-615D41BF2417}"/>
              </a:ext>
              <a:ext uri="{C183D7F6-B498-43B3-948B-1728B52AA6E4}">
                <adec:decorative xmlns:adec="http://schemas.microsoft.com/office/drawing/2017/decorative" val="1"/>
              </a:ext>
            </a:extLst>
          </p:cNvPr>
          <p:cNvSpPr/>
          <p:nvPr/>
        </p:nvSpPr>
        <p:spPr>
          <a:xfrm>
            <a:off x="195942" y="1946365"/>
            <a:ext cx="862149" cy="3657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lang="en-US"/>
          </a:p>
        </p:txBody>
      </p:sp>
    </p:spTree>
    <p:extLst>
      <p:ext uri="{BB962C8B-B14F-4D97-AF65-F5344CB8AC3E}">
        <p14:creationId xmlns:p14="http://schemas.microsoft.com/office/powerpoint/2010/main" val="2573492485"/>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B7D04-FDBB-E3C9-76F8-FC07E2874D95}"/>
              </a:ext>
            </a:extLst>
          </p:cNvPr>
          <p:cNvSpPr>
            <a:spLocks noGrp="1"/>
          </p:cNvSpPr>
          <p:nvPr>
            <p:ph type="title"/>
          </p:nvPr>
        </p:nvSpPr>
        <p:spPr/>
        <p:txBody>
          <a:bodyPr/>
          <a:lstStyle/>
          <a:p>
            <a:r>
              <a:rPr dirty="0" lang="en-US"/>
              <a:t>The Human-Centered Design Perspective</a:t>
            </a:r>
          </a:p>
        </p:txBody>
      </p:sp>
      <p:sp>
        <p:nvSpPr>
          <p:cNvPr id="3" name="Content Placeholder 2">
            <a:extLst>
              <a:ext uri="{FF2B5EF4-FFF2-40B4-BE49-F238E27FC236}">
                <a16:creationId xmlns:a16="http://schemas.microsoft.com/office/drawing/2014/main" id="{13FBC0C4-7F89-4BDA-9B16-8247EFA36855}"/>
              </a:ext>
            </a:extLst>
          </p:cNvPr>
          <p:cNvSpPr>
            <a:spLocks noGrp="1"/>
          </p:cNvSpPr>
          <p:nvPr>
            <p:ph idx="1"/>
          </p:nvPr>
        </p:nvSpPr>
        <p:spPr/>
        <p:txBody>
          <a:bodyPr>
            <a:normAutofit/>
          </a:bodyPr>
          <a:lstStyle/>
          <a:p>
            <a:r>
              <a:rPr dirty="0" lang="en-US" sz="3200"/>
              <a:t>Blame computers, not humans! Computers are new, humans are old</a:t>
            </a:r>
          </a:p>
          <a:p>
            <a:r>
              <a:rPr dirty="0" lang="en-US" sz="3200"/>
              <a:t>Our </a:t>
            </a:r>
            <a:r>
              <a:rPr b="1" dirty="0" lang="en-US" sz="3600"/>
              <a:t>human</a:t>
            </a:r>
            <a:r>
              <a:rPr dirty="0" lang="en-US" sz="3200"/>
              <a:t> instincts, bodies, capabilities are core to how we interact with designed artifacts</a:t>
            </a:r>
          </a:p>
          <a:p>
            <a:r>
              <a:rPr dirty="0" lang="en-US" sz="3200"/>
              <a:t>Key </a:t>
            </a:r>
            <a:r>
              <a:rPr b="1" dirty="0" lang="en-US" sz="3600"/>
              <a:t>principles and practices</a:t>
            </a:r>
            <a:r>
              <a:rPr dirty="0" lang="en-US" sz="3200"/>
              <a:t> of (good and bad) design undergird </a:t>
            </a:r>
            <a:r>
              <a:rPr dirty="0" i="1" lang="en-US" sz="3200"/>
              <a:t>all</a:t>
            </a:r>
            <a:r>
              <a:rPr dirty="0" lang="en-US" sz="3200"/>
              <a:t> design, including computing design</a:t>
            </a:r>
          </a:p>
        </p:txBody>
      </p:sp>
    </p:spTree>
    <p:extLst>
      <p:ext uri="{BB962C8B-B14F-4D97-AF65-F5344CB8AC3E}">
        <p14:creationId xmlns:p14="http://schemas.microsoft.com/office/powerpoint/2010/main" val="891264481"/>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Shape 583"/>
        <p:cNvGrpSpPr/>
        <p:nvPr/>
      </p:nvGrpSpPr>
      <p:grpSpPr>
        <a:xfrm>
          <a:off x="0" y="0"/>
          <a:ext cx="0" cy="0"/>
          <a:chOff x="0" y="0"/>
          <a:chExt cx="0" cy="0"/>
        </a:xfrm>
      </p:grpSpPr>
      <p:sp>
        <p:nvSpPr>
          <p:cNvPr id="21" name="Title 20">
            <a:extLst>
              <a:ext uri="{FF2B5EF4-FFF2-40B4-BE49-F238E27FC236}">
                <a16:creationId xmlns:a16="http://schemas.microsoft.com/office/drawing/2014/main" id="{985F015B-8F18-CC9B-21A4-6BFF3A4B737B}"/>
              </a:ext>
            </a:extLst>
          </p:cNvPr>
          <p:cNvSpPr>
            <a:spLocks noGrp="1"/>
          </p:cNvSpPr>
          <p:nvPr>
            <p:ph type="title"/>
          </p:nvPr>
        </p:nvSpPr>
        <p:spPr>
          <a:xfrm>
            <a:off x="838200" y="377482"/>
            <a:ext cx="10515600" cy="1325563"/>
          </a:xfrm>
        </p:spPr>
        <p:txBody>
          <a:bodyPr/>
          <a:lstStyle/>
          <a:p>
            <a:r>
              <a:rPr dirty="0" lang="en-US">
                <a:sym typeface="Avenir"/>
              </a:rPr>
              <a:t>% of Software Projects that are...</a:t>
            </a:r>
            <a:endParaRPr dirty="0" lang="en-US"/>
          </a:p>
        </p:txBody>
      </p:sp>
      <p:sp>
        <p:nvSpPr>
          <p:cNvPr id="36" name="Google Shape;597;p31">
            <a:extLst>
              <a:ext uri="{FF2B5EF4-FFF2-40B4-BE49-F238E27FC236}">
                <a16:creationId xmlns:a16="http://schemas.microsoft.com/office/drawing/2014/main" id="{EEDE2429-30D5-FBCE-E651-AC67DEF31CF0}"/>
              </a:ext>
            </a:extLst>
          </p:cNvPr>
          <p:cNvSpPr txBox="1">
            <a:spLocks/>
          </p:cNvSpPr>
          <p:nvPr/>
        </p:nvSpPr>
        <p:spPr>
          <a:xfrm>
            <a:off x="1826700" y="1904392"/>
            <a:ext cx="2413600" cy="6844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90000"/>
              </a:lnSpc>
              <a:spcBef>
                <a:spcPts val="0"/>
              </a:spcBef>
              <a:spcAft>
                <a:spcPts val="0"/>
              </a:spcAft>
              <a:buClr>
                <a:schemeClr val="dk1"/>
              </a:buClr>
              <a:buSzPts val="1800"/>
              <a:buFont typeface="Avenir"/>
              <a:buNone/>
              <a:defRPr b="0" cap="none" i="0" strike="noStrike" sz="4400" u="none">
                <a:solidFill>
                  <a:schemeClr val="bg1"/>
                </a:solidFill>
                <a:latin charset="0" panose="02000503020000020003" pitchFamily="2" typeface="Avenir Medium"/>
                <a:ea typeface="Avenir"/>
                <a:cs typeface="Avenir"/>
                <a:sym typeface="Avenir"/>
              </a:defRPr>
            </a:lvl1pPr>
            <a:lvl2pPr algn="l" lvl="1"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9pPr>
          </a:lstStyle>
          <a:p>
            <a:pPr algn="ctr">
              <a:buSzPts val="2400"/>
              <a:buFont typeface="Comfortaa"/>
              <a:buNone/>
            </a:pPr>
            <a:r>
              <a:rPr dirty="0" lang="en-US" sz="2800">
                <a:solidFill>
                  <a:schemeClr val="tx1"/>
                </a:solidFill>
                <a:latin charset="0" panose="02000503020000020003" pitchFamily="2" typeface="Avenir Book"/>
                <a:ea typeface="Comfortaa"/>
                <a:cs typeface="Comfortaa"/>
                <a:sym typeface="Comfortaa"/>
              </a:rPr>
              <a:t>On Budget</a:t>
            </a:r>
          </a:p>
        </p:txBody>
      </p:sp>
      <p:sp>
        <p:nvSpPr>
          <p:cNvPr id="32" name="Google Shape;593;p31">
            <a:extLst>
              <a:ext uri="{FF2B5EF4-FFF2-40B4-BE49-F238E27FC236}">
                <a16:creationId xmlns:a16="http://schemas.microsoft.com/office/drawing/2014/main" id="{E6840EF9-7E96-B5EC-AEFC-90FCACF58302}"/>
              </a:ext>
            </a:extLst>
          </p:cNvPr>
          <p:cNvSpPr/>
          <p:nvPr/>
        </p:nvSpPr>
        <p:spPr>
          <a:xfrm>
            <a:off x="1760593" y="2620400"/>
            <a:ext cx="2413600" cy="2413600"/>
          </a:xfrm>
          <a:prstGeom prst="ellipse">
            <a:avLst/>
          </a:prstGeom>
          <a:solidFill>
            <a:srgbClr val="FFFFFF"/>
          </a:solidFill>
          <a:ln cap="flat" cmpd="sng" w="19050">
            <a:solidFill>
              <a:schemeClr val="tx2"/>
            </a:solidFill>
            <a:prstDash val="solid"/>
            <a:round/>
            <a:headEnd len="sm" type="none" w="sm"/>
            <a:tailEnd len="sm" type="none" w="sm"/>
          </a:ln>
        </p:spPr>
        <p:txBody>
          <a:bodyPr anchor="ctr" anchorCtr="0" bIns="121900" lIns="121900" rIns="121900" spcFirstLastPara="1" tIns="121900" wrap="square">
            <a:noAutofit/>
          </a:bodyPr>
          <a:lstStyle/>
          <a:p>
            <a:pPr algn="ctr" indent="0" lvl="0" marL="0" marR="0" rtl="0">
              <a:spcBef>
                <a:spcPts val="0"/>
              </a:spcBef>
              <a:spcAft>
                <a:spcPts val="0"/>
              </a:spcAft>
              <a:buNone/>
            </a:pPr>
            <a:r>
              <a:rPr dirty="0" lang="en-US" sz="9600">
                <a:solidFill>
                  <a:schemeClr val="tx2"/>
                </a:solidFill>
                <a:latin typeface="Calibri"/>
                <a:ea typeface="Calibri"/>
                <a:cs typeface="Calibri"/>
                <a:sym typeface="Calibri"/>
              </a:rPr>
              <a:t>?</a:t>
            </a:r>
            <a:endParaRPr dirty="0" sz="9600">
              <a:solidFill>
                <a:schemeClr val="tx2"/>
              </a:solidFill>
              <a:latin typeface="Calibri"/>
              <a:ea typeface="Calibri"/>
              <a:cs typeface="Calibri"/>
              <a:sym typeface="Calibri"/>
            </a:endParaRPr>
          </a:p>
        </p:txBody>
      </p:sp>
      <p:sp>
        <p:nvSpPr>
          <p:cNvPr id="35" name="Google Shape;596;p31">
            <a:extLst>
              <a:ext uri="{FF2B5EF4-FFF2-40B4-BE49-F238E27FC236}">
                <a16:creationId xmlns:a16="http://schemas.microsoft.com/office/drawing/2014/main" id="{25857627-5CD2-2DF7-9AD1-8572D33C0FB3}"/>
              </a:ext>
            </a:extLst>
          </p:cNvPr>
          <p:cNvSpPr txBox="1">
            <a:spLocks/>
          </p:cNvSpPr>
          <p:nvPr/>
        </p:nvSpPr>
        <p:spPr>
          <a:xfrm>
            <a:off x="5223000" y="1904392"/>
            <a:ext cx="1746000" cy="6844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90000"/>
              </a:lnSpc>
              <a:spcBef>
                <a:spcPts val="0"/>
              </a:spcBef>
              <a:spcAft>
                <a:spcPts val="0"/>
              </a:spcAft>
              <a:buClr>
                <a:schemeClr val="dk1"/>
              </a:buClr>
              <a:buSzPts val="1800"/>
              <a:buFont typeface="Avenir"/>
              <a:buNone/>
              <a:defRPr b="0" cap="none" i="0" strike="noStrike" sz="4400" u="none">
                <a:solidFill>
                  <a:schemeClr val="bg1"/>
                </a:solidFill>
                <a:latin charset="0" panose="02000503020000020003" pitchFamily="2" typeface="Avenir Medium"/>
                <a:ea typeface="Avenir"/>
                <a:cs typeface="Avenir"/>
                <a:sym typeface="Avenir"/>
              </a:defRPr>
            </a:lvl1pPr>
            <a:lvl2pPr algn="l" lvl="1"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9pPr>
          </a:lstStyle>
          <a:p>
            <a:pPr algn="ctr">
              <a:buSzPts val="2400"/>
              <a:buFont typeface="Comfortaa"/>
              <a:buNone/>
            </a:pPr>
            <a:r>
              <a:rPr dirty="0" lang="en-US" sz="2800">
                <a:solidFill>
                  <a:schemeClr val="tx1"/>
                </a:solidFill>
                <a:latin charset="0" panose="02000503020000020003" pitchFamily="2" typeface="Avenir Book"/>
                <a:ea typeface="Comfortaa"/>
                <a:cs typeface="Comfortaa"/>
                <a:sym typeface="Comfortaa"/>
              </a:rPr>
              <a:t>On Time</a:t>
            </a:r>
          </a:p>
        </p:txBody>
      </p:sp>
      <p:sp>
        <p:nvSpPr>
          <p:cNvPr id="33" name="Google Shape;594;p31">
            <a:extLst>
              <a:ext uri="{FF2B5EF4-FFF2-40B4-BE49-F238E27FC236}">
                <a16:creationId xmlns:a16="http://schemas.microsoft.com/office/drawing/2014/main" id="{8B9E760C-4F0A-FE9A-0FC1-16863D384CE4}"/>
              </a:ext>
            </a:extLst>
          </p:cNvPr>
          <p:cNvSpPr/>
          <p:nvPr/>
        </p:nvSpPr>
        <p:spPr>
          <a:xfrm>
            <a:off x="4889193" y="2620400"/>
            <a:ext cx="2413600" cy="2413600"/>
          </a:xfrm>
          <a:prstGeom prst="ellipse">
            <a:avLst/>
          </a:prstGeom>
          <a:solidFill>
            <a:srgbClr val="FFFFFF"/>
          </a:solidFill>
          <a:ln cap="flat" cmpd="sng" w="19050">
            <a:solidFill>
              <a:schemeClr val="tx2"/>
            </a:solidFill>
            <a:prstDash val="solid"/>
            <a:round/>
            <a:headEnd len="sm" type="none" w="sm"/>
            <a:tailEnd len="sm" type="none" w="sm"/>
          </a:ln>
        </p:spPr>
        <p:txBody>
          <a:bodyPr anchor="ctr" anchorCtr="0" bIns="121900" lIns="121900" rIns="121900" spcFirstLastPara="1" tIns="121900" wrap="square">
            <a:noAutofit/>
          </a:bodyPr>
          <a:lstStyle/>
          <a:p>
            <a:pPr algn="ctr" indent="0" lvl="0" marL="0" marR="0" rtl="0">
              <a:spcBef>
                <a:spcPts val="0"/>
              </a:spcBef>
              <a:spcAft>
                <a:spcPts val="0"/>
              </a:spcAft>
              <a:buNone/>
            </a:pPr>
            <a:r>
              <a:rPr dirty="0" lang="en-US" sz="9600">
                <a:solidFill>
                  <a:schemeClr val="tx2"/>
                </a:solidFill>
                <a:latin typeface="Calibri"/>
                <a:ea typeface="Calibri"/>
                <a:cs typeface="Calibri"/>
                <a:sym typeface="Calibri"/>
              </a:rPr>
              <a:t>?</a:t>
            </a:r>
            <a:endParaRPr dirty="0" sz="9600">
              <a:solidFill>
                <a:schemeClr val="tx2"/>
              </a:solidFill>
              <a:latin typeface="Calibri"/>
              <a:ea typeface="Calibri"/>
              <a:cs typeface="Calibri"/>
              <a:sym typeface="Calibri"/>
            </a:endParaRPr>
          </a:p>
        </p:txBody>
      </p:sp>
      <p:sp>
        <p:nvSpPr>
          <p:cNvPr id="37" name="Google Shape;598;p31">
            <a:extLst>
              <a:ext uri="{FF2B5EF4-FFF2-40B4-BE49-F238E27FC236}">
                <a16:creationId xmlns:a16="http://schemas.microsoft.com/office/drawing/2014/main" id="{18291597-B2A3-83D9-F1F5-36FC25B3C194}"/>
              </a:ext>
            </a:extLst>
          </p:cNvPr>
          <p:cNvSpPr txBox="1">
            <a:spLocks/>
          </p:cNvSpPr>
          <p:nvPr/>
        </p:nvSpPr>
        <p:spPr>
          <a:xfrm>
            <a:off x="8167000" y="1904392"/>
            <a:ext cx="2115200" cy="6844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90000"/>
              </a:lnSpc>
              <a:spcBef>
                <a:spcPts val="0"/>
              </a:spcBef>
              <a:spcAft>
                <a:spcPts val="0"/>
              </a:spcAft>
              <a:buClr>
                <a:schemeClr val="dk1"/>
              </a:buClr>
              <a:buSzPts val="1800"/>
              <a:buFont typeface="Avenir"/>
              <a:buNone/>
              <a:defRPr b="0" cap="none" i="0" strike="noStrike" sz="4400" u="none">
                <a:solidFill>
                  <a:schemeClr val="bg1"/>
                </a:solidFill>
                <a:latin charset="0" panose="02000503020000020003" pitchFamily="2" typeface="Avenir Medium"/>
                <a:ea typeface="Avenir"/>
                <a:cs typeface="Avenir"/>
                <a:sym typeface="Avenir"/>
              </a:defRPr>
            </a:lvl1pPr>
            <a:lvl2pPr algn="l" lvl="1"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9pPr>
          </a:lstStyle>
          <a:p>
            <a:pPr algn="ctr">
              <a:buSzPts val="2400"/>
              <a:buFont typeface="Comfortaa"/>
              <a:buNone/>
            </a:pPr>
            <a:r>
              <a:rPr dirty="0" lang="en-US" sz="2800">
                <a:solidFill>
                  <a:schemeClr val="tx1"/>
                </a:solidFill>
                <a:latin charset="0" panose="02000503020000020003" pitchFamily="2" typeface="Avenir Book"/>
                <a:ea typeface="Comfortaa"/>
                <a:cs typeface="Comfortaa"/>
                <a:sym typeface="Comfortaa"/>
              </a:rPr>
              <a:t>On Target</a:t>
            </a:r>
          </a:p>
        </p:txBody>
      </p:sp>
      <p:sp>
        <p:nvSpPr>
          <p:cNvPr id="34" name="Google Shape;595;p31">
            <a:extLst>
              <a:ext uri="{FF2B5EF4-FFF2-40B4-BE49-F238E27FC236}">
                <a16:creationId xmlns:a16="http://schemas.microsoft.com/office/drawing/2014/main" id="{DBE47B17-D07F-C3E4-0A45-82A8DF6A0C03}"/>
              </a:ext>
            </a:extLst>
          </p:cNvPr>
          <p:cNvSpPr/>
          <p:nvPr/>
        </p:nvSpPr>
        <p:spPr>
          <a:xfrm>
            <a:off x="8000047" y="2620400"/>
            <a:ext cx="2413600" cy="2413600"/>
          </a:xfrm>
          <a:prstGeom prst="ellipse">
            <a:avLst/>
          </a:prstGeom>
          <a:solidFill>
            <a:srgbClr val="FFFFFF"/>
          </a:solidFill>
          <a:ln cap="flat" cmpd="sng" w="19050">
            <a:solidFill>
              <a:schemeClr val="tx2"/>
            </a:solidFill>
            <a:prstDash val="solid"/>
            <a:round/>
            <a:headEnd len="sm" type="none" w="sm"/>
            <a:tailEnd len="sm" type="none" w="sm"/>
          </a:ln>
        </p:spPr>
        <p:txBody>
          <a:bodyPr anchor="ctr" anchorCtr="0" bIns="121900" lIns="121900" rIns="121900" spcFirstLastPara="1" tIns="121900" wrap="square">
            <a:noAutofit/>
          </a:bodyPr>
          <a:lstStyle/>
          <a:p>
            <a:pPr algn="ctr" indent="0" lvl="0" marL="0" marR="0" rtl="0">
              <a:spcBef>
                <a:spcPts val="0"/>
              </a:spcBef>
              <a:spcAft>
                <a:spcPts val="0"/>
              </a:spcAft>
              <a:buNone/>
            </a:pPr>
            <a:r>
              <a:rPr dirty="0" lang="en-US" sz="9600">
                <a:solidFill>
                  <a:schemeClr val="tx2"/>
                </a:solidFill>
                <a:latin typeface="Calibri"/>
                <a:ea typeface="Calibri"/>
                <a:cs typeface="Calibri"/>
                <a:sym typeface="Calibri"/>
              </a:rPr>
              <a:t>?</a:t>
            </a:r>
            <a:endParaRPr dirty="0" sz="9600">
              <a:solidFill>
                <a:schemeClr val="tx2"/>
              </a:solidFill>
              <a:latin typeface="Calibri"/>
              <a:ea typeface="Calibri"/>
              <a:cs typeface="Calibri"/>
              <a:sym typeface="Calibri"/>
            </a:endParaRPr>
          </a:p>
        </p:txBody>
      </p:sp>
      <p:sp>
        <p:nvSpPr>
          <p:cNvPr id="38" name="Google Shape;599;p31">
            <a:extLst>
              <a:ext uri="{FF2B5EF4-FFF2-40B4-BE49-F238E27FC236}">
                <a16:creationId xmlns:a16="http://schemas.microsoft.com/office/drawing/2014/main" id="{45EE843B-C8D1-69B6-900A-072DA08ABD37}"/>
              </a:ext>
            </a:extLst>
          </p:cNvPr>
          <p:cNvSpPr txBox="1"/>
          <p:nvPr/>
        </p:nvSpPr>
        <p:spPr>
          <a:xfrm>
            <a:off x="2945012" y="5505987"/>
            <a:ext cx="6096000" cy="550000"/>
          </a:xfrm>
          <a:prstGeom prst="rect">
            <a:avLst/>
          </a:prstGeom>
          <a:noFill/>
          <a:ln>
            <a:noFill/>
          </a:ln>
        </p:spPr>
        <p:txBody>
          <a:bodyPr anchor="t" anchorCtr="0" bIns="121900" lIns="121900" rIns="121900" spcFirstLastPara="1" tIns="121900" wrap="square">
            <a:noAutofit/>
          </a:bodyPr>
          <a:lstStyle/>
          <a:p>
            <a:pPr algn="ctr" indent="0" lvl="0" marL="0" marR="0" rtl="0">
              <a:spcBef>
                <a:spcPts val="0"/>
              </a:spcBef>
              <a:spcAft>
                <a:spcPts val="0"/>
              </a:spcAft>
              <a:buNone/>
            </a:pPr>
            <a:r>
              <a:rPr dirty="0" i="1" lang="en-US" sz="2400">
                <a:solidFill>
                  <a:schemeClr val="tx1"/>
                </a:solidFill>
                <a:latin charset="0" panose="02000503020000020003" pitchFamily="2" typeface="Avenir Book"/>
                <a:ea typeface="Comfortaa"/>
                <a:cs typeface="Comfortaa"/>
                <a:sym typeface="Comfortaa"/>
              </a:rPr>
              <a:t>Standish Group Report, 2015</a:t>
            </a:r>
            <a:endParaRPr dirty="0" i="1" sz="2400">
              <a:solidFill>
                <a:schemeClr val="tx1"/>
              </a:solidFill>
              <a:latin charset="0" panose="02000503020000020003" pitchFamily="2" typeface="Avenir Book"/>
              <a:ea typeface="Calibri"/>
              <a:cs typeface="Calibri"/>
              <a:sym typeface="Calibri"/>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Shape 607"/>
        <p:cNvGrpSpPr/>
        <p:nvPr/>
      </p:nvGrpSpPr>
      <p:grpSpPr>
        <a:xfrm>
          <a:off x="0" y="0"/>
          <a:ext cx="0" cy="0"/>
          <a:chOff x="0" y="0"/>
          <a:chExt cx="0" cy="0"/>
        </a:xfrm>
      </p:grpSpPr>
      <p:sp>
        <p:nvSpPr>
          <p:cNvPr id="11" name="Title 10">
            <a:extLst>
              <a:ext uri="{FF2B5EF4-FFF2-40B4-BE49-F238E27FC236}">
                <a16:creationId xmlns:a16="http://schemas.microsoft.com/office/drawing/2014/main" id="{499FC41F-68D3-31C8-B71B-D12976491178}"/>
              </a:ext>
            </a:extLst>
          </p:cNvPr>
          <p:cNvSpPr>
            <a:spLocks noGrp="1"/>
          </p:cNvSpPr>
          <p:nvPr>
            <p:ph type="title"/>
          </p:nvPr>
        </p:nvSpPr>
        <p:spPr/>
        <p:txBody>
          <a:bodyPr/>
          <a:lstStyle/>
          <a:p>
            <a:r>
              <a:rPr dirty="0" lang="en-US">
                <a:sym typeface="Avenir"/>
              </a:rPr>
              <a:t>% of Software Projects that are...</a:t>
            </a:r>
            <a:endParaRPr dirty="0" lang="en-US"/>
          </a:p>
        </p:txBody>
      </p:sp>
      <p:sp>
        <p:nvSpPr>
          <p:cNvPr id="4" name="Google Shape;597;p31">
            <a:extLst>
              <a:ext uri="{FF2B5EF4-FFF2-40B4-BE49-F238E27FC236}">
                <a16:creationId xmlns:a16="http://schemas.microsoft.com/office/drawing/2014/main" id="{2F1A0A4E-99B3-511A-2FC9-FBDA39BB9FE9}"/>
              </a:ext>
            </a:extLst>
          </p:cNvPr>
          <p:cNvSpPr txBox="1">
            <a:spLocks/>
          </p:cNvSpPr>
          <p:nvPr/>
        </p:nvSpPr>
        <p:spPr>
          <a:xfrm>
            <a:off x="1826700" y="1904392"/>
            <a:ext cx="2413600" cy="6844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90000"/>
              </a:lnSpc>
              <a:spcBef>
                <a:spcPts val="0"/>
              </a:spcBef>
              <a:spcAft>
                <a:spcPts val="0"/>
              </a:spcAft>
              <a:buClr>
                <a:schemeClr val="dk1"/>
              </a:buClr>
              <a:buSzPts val="1800"/>
              <a:buFont typeface="Avenir"/>
              <a:buNone/>
              <a:defRPr b="0" cap="none" i="0" strike="noStrike" sz="4400" u="none">
                <a:solidFill>
                  <a:schemeClr val="bg1"/>
                </a:solidFill>
                <a:latin charset="0" panose="02000503020000020003" pitchFamily="2" typeface="Avenir Medium"/>
                <a:ea typeface="Avenir"/>
                <a:cs typeface="Avenir"/>
                <a:sym typeface="Avenir"/>
              </a:defRPr>
            </a:lvl1pPr>
            <a:lvl2pPr algn="l" lvl="1"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9pPr>
          </a:lstStyle>
          <a:p>
            <a:pPr algn="ctr">
              <a:buSzPts val="2400"/>
              <a:buFont typeface="Comfortaa"/>
              <a:buNone/>
            </a:pPr>
            <a:r>
              <a:rPr dirty="0" lang="en-US" sz="2800">
                <a:solidFill>
                  <a:schemeClr val="tx1"/>
                </a:solidFill>
                <a:latin charset="0" panose="02000503020000020003" pitchFamily="2" typeface="Avenir Book"/>
                <a:ea typeface="Comfortaa"/>
                <a:cs typeface="Comfortaa"/>
                <a:sym typeface="Comfortaa"/>
              </a:rPr>
              <a:t>On Budget</a:t>
            </a:r>
          </a:p>
        </p:txBody>
      </p:sp>
      <p:grpSp>
        <p:nvGrpSpPr>
          <p:cNvPr descr="Pie chart showing 56% No and 44% Yes" id="2" name="Group 1">
            <a:extLst>
              <a:ext uri="{FF2B5EF4-FFF2-40B4-BE49-F238E27FC236}">
                <a16:creationId xmlns:a16="http://schemas.microsoft.com/office/drawing/2014/main" id="{263276FE-649A-914E-42D3-194B93DBFE10}"/>
              </a:ext>
            </a:extLst>
          </p:cNvPr>
          <p:cNvGrpSpPr/>
          <p:nvPr/>
        </p:nvGrpSpPr>
        <p:grpSpPr>
          <a:xfrm>
            <a:off x="1526200" y="2482401"/>
            <a:ext cx="3014600" cy="2689599"/>
            <a:chOff x="1526200" y="2482401"/>
            <a:chExt cx="3014600" cy="2689599"/>
          </a:xfrm>
        </p:grpSpPr>
        <p:pic>
          <p:nvPicPr>
            <p:cNvPr id="12" name="Google Shape;608;p32">
              <a:extLst>
                <a:ext uri="{FF2B5EF4-FFF2-40B4-BE49-F238E27FC236}">
                  <a16:creationId xmlns:a16="http://schemas.microsoft.com/office/drawing/2014/main" id="{82725A9D-3E9F-DF5A-6D12-41E6750AFC13}"/>
                </a:ext>
              </a:extLst>
            </p:cNvPr>
            <p:cNvPicPr preferRelativeResize="0"/>
            <p:nvPr/>
          </p:nvPicPr>
          <p:blipFill rotWithShape="1">
            <a:blip cstate="screen" r:embed="rId3">
              <a:alphaModFix/>
              <a:extLst>
                <a:ext uri="{28A0092B-C50C-407E-A947-70E740481C1C}">
                  <a14:useLocalDpi xmlns:a14="http://schemas.microsoft.com/office/drawing/2010/main"/>
                </a:ext>
              </a:extLst>
            </a:blip>
            <a:srcRect l="16771" r="13923"/>
            <a:stretch/>
          </p:blipFill>
          <p:spPr>
            <a:xfrm>
              <a:off x="1526200" y="2482401"/>
              <a:ext cx="3014600" cy="2689599"/>
            </a:xfrm>
            <a:prstGeom prst="rect">
              <a:avLst/>
            </a:prstGeom>
            <a:noFill/>
            <a:ln>
              <a:noFill/>
            </a:ln>
          </p:spPr>
        </p:pic>
        <p:sp>
          <p:nvSpPr>
            <p:cNvPr id="15" name="Google Shape;611;p32">
              <a:extLst>
                <a:ext uri="{FF2B5EF4-FFF2-40B4-BE49-F238E27FC236}">
                  <a16:creationId xmlns:a16="http://schemas.microsoft.com/office/drawing/2014/main" id="{DDEDB617-20EE-D71D-DE96-D93D0CF42062}"/>
                </a:ext>
              </a:extLst>
            </p:cNvPr>
            <p:cNvSpPr txBox="1">
              <a:spLocks/>
            </p:cNvSpPr>
            <p:nvPr/>
          </p:nvSpPr>
          <p:spPr>
            <a:xfrm>
              <a:off x="1826700" y="3568853"/>
              <a:ext cx="1025600" cy="6844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90000"/>
                </a:lnSpc>
                <a:spcBef>
                  <a:spcPts val="0"/>
                </a:spcBef>
                <a:spcAft>
                  <a:spcPts val="0"/>
                </a:spcAft>
                <a:buClr>
                  <a:schemeClr val="dk1"/>
                </a:buClr>
                <a:buSzPts val="1800"/>
                <a:buFont typeface="Avenir"/>
                <a:buNone/>
                <a:defRPr b="0" cap="none" i="0" strike="noStrike" sz="4400" u="none">
                  <a:solidFill>
                    <a:schemeClr val="bg1"/>
                  </a:solidFill>
                  <a:latin charset="0" panose="02000503020000020003" pitchFamily="2" typeface="Avenir Medium"/>
                  <a:ea typeface="Avenir"/>
                  <a:cs typeface="Avenir"/>
                  <a:sym typeface="Avenir"/>
                </a:defRPr>
              </a:lvl1pPr>
              <a:lvl2pPr algn="l" lvl="1"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9pPr>
            </a:lstStyle>
            <a:p>
              <a:pPr algn="ctr">
                <a:buClr>
                  <a:srgbClr val="FFFFFF"/>
                </a:buClr>
                <a:buSzPts val="2400"/>
                <a:buFont typeface="Comfortaa"/>
                <a:buNone/>
              </a:pPr>
              <a:r>
                <a:rPr b="1" lang="en-US" sz="1867">
                  <a:solidFill>
                    <a:srgbClr val="FFFFFF"/>
                  </a:solidFill>
                  <a:latin charset="0" panose="02000503020000020003" pitchFamily="2" typeface="Avenir Book"/>
                  <a:ea typeface="Comfortaa"/>
                  <a:cs typeface="Comfortaa"/>
                  <a:sym typeface="Comfortaa"/>
                </a:rPr>
                <a:t>NO</a:t>
              </a:r>
              <a:br>
                <a:rPr b="1" lang="en-US" sz="1867">
                  <a:solidFill>
                    <a:srgbClr val="FFFFFF"/>
                  </a:solidFill>
                  <a:latin charset="0" panose="02000503020000020003" pitchFamily="2" typeface="Avenir Book"/>
                  <a:ea typeface="Comfortaa"/>
                  <a:cs typeface="Comfortaa"/>
                  <a:sym typeface="Comfortaa"/>
                </a:rPr>
              </a:br>
              <a:r>
                <a:rPr b="1" lang="en-US" sz="1867">
                  <a:solidFill>
                    <a:srgbClr val="FFFFFF"/>
                  </a:solidFill>
                  <a:latin charset="0" panose="02000503020000020003" pitchFamily="2" typeface="Avenir Book"/>
                  <a:ea typeface="Comfortaa"/>
                  <a:cs typeface="Comfortaa"/>
                  <a:sym typeface="Comfortaa"/>
                </a:rPr>
                <a:t>56</a:t>
              </a:r>
              <a:r>
                <a:rPr lang="en-US" sz="1867">
                  <a:solidFill>
                    <a:srgbClr val="EFEFEF"/>
                  </a:solidFill>
                  <a:latin charset="0" panose="02000503020000020003" pitchFamily="2" typeface="Avenir Book"/>
                  <a:ea typeface="Comfortaa"/>
                  <a:cs typeface="Comfortaa"/>
                  <a:sym typeface="Comfortaa"/>
                </a:rPr>
                <a:t>%</a:t>
              </a:r>
              <a:endParaRPr dirty="0" lang="en-US" sz="1867">
                <a:solidFill>
                  <a:srgbClr val="EFEFEF"/>
                </a:solidFill>
                <a:latin charset="0" panose="02000503020000020003" pitchFamily="2" typeface="Avenir Book"/>
                <a:ea typeface="Comfortaa"/>
                <a:cs typeface="Comfortaa"/>
                <a:sym typeface="Comfortaa"/>
              </a:endParaRPr>
            </a:p>
          </p:txBody>
        </p:sp>
        <p:sp>
          <p:nvSpPr>
            <p:cNvPr id="18" name="Google Shape;614;p32">
              <a:extLst>
                <a:ext uri="{FF2B5EF4-FFF2-40B4-BE49-F238E27FC236}">
                  <a16:creationId xmlns:a16="http://schemas.microsoft.com/office/drawing/2014/main" id="{D78327AF-D2AA-0AFE-216A-B43165705C7A}"/>
                </a:ext>
              </a:extLst>
            </p:cNvPr>
            <p:cNvSpPr txBox="1">
              <a:spLocks/>
            </p:cNvSpPr>
            <p:nvPr/>
          </p:nvSpPr>
          <p:spPr>
            <a:xfrm>
              <a:off x="3016900" y="3590587"/>
              <a:ext cx="1025600" cy="6844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90000"/>
                </a:lnSpc>
                <a:spcBef>
                  <a:spcPts val="0"/>
                </a:spcBef>
                <a:spcAft>
                  <a:spcPts val="0"/>
                </a:spcAft>
                <a:buClr>
                  <a:schemeClr val="dk1"/>
                </a:buClr>
                <a:buSzPts val="1800"/>
                <a:buFont typeface="Avenir"/>
                <a:buNone/>
                <a:defRPr b="0" cap="none" i="0" strike="noStrike" sz="4400" u="none">
                  <a:solidFill>
                    <a:schemeClr val="bg1"/>
                  </a:solidFill>
                  <a:latin charset="0" panose="02000503020000020003" pitchFamily="2" typeface="Avenir Medium"/>
                  <a:ea typeface="Avenir"/>
                  <a:cs typeface="Avenir"/>
                  <a:sym typeface="Avenir"/>
                </a:defRPr>
              </a:lvl1pPr>
              <a:lvl2pPr algn="l" lvl="1"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9pPr>
            </a:lstStyle>
            <a:p>
              <a:pPr algn="ctr">
                <a:buClr>
                  <a:srgbClr val="FFFFFF"/>
                </a:buClr>
                <a:buSzPts val="2400"/>
                <a:buFont typeface="Comfortaa"/>
                <a:buNone/>
              </a:pPr>
              <a:r>
                <a:rPr b="1" dirty="0" lang="en-US" sz="1867">
                  <a:solidFill>
                    <a:schemeClr val="tx2"/>
                  </a:solidFill>
                  <a:latin charset="0" panose="02000503020000020003" pitchFamily="2" typeface="Avenir Book"/>
                  <a:ea typeface="Comfortaa"/>
                  <a:cs typeface="Comfortaa"/>
                  <a:sym typeface="Comfortaa"/>
                </a:rPr>
                <a:t>YES</a:t>
              </a:r>
              <a:br>
                <a:rPr b="1" dirty="0" lang="en-US" sz="1867">
                  <a:solidFill>
                    <a:schemeClr val="tx2"/>
                  </a:solidFill>
                  <a:latin charset="0" panose="02000503020000020003" pitchFamily="2" typeface="Avenir Book"/>
                  <a:ea typeface="Comfortaa"/>
                  <a:cs typeface="Comfortaa"/>
                  <a:sym typeface="Comfortaa"/>
                </a:rPr>
              </a:br>
              <a:r>
                <a:rPr b="1" dirty="0" lang="en-US" sz="1867">
                  <a:solidFill>
                    <a:schemeClr val="tx2"/>
                  </a:solidFill>
                  <a:latin charset="0" panose="02000503020000020003" pitchFamily="2" typeface="Avenir Book"/>
                  <a:ea typeface="Comfortaa"/>
                  <a:cs typeface="Comfortaa"/>
                  <a:sym typeface="Comfortaa"/>
                </a:rPr>
                <a:t>44</a:t>
              </a:r>
              <a:r>
                <a:rPr dirty="0" lang="en-US" sz="1867">
                  <a:solidFill>
                    <a:schemeClr val="tx2"/>
                  </a:solidFill>
                  <a:latin charset="0" panose="02000503020000020003" pitchFamily="2" typeface="Avenir Book"/>
                  <a:ea typeface="Comfortaa"/>
                  <a:cs typeface="Comfortaa"/>
                  <a:sym typeface="Comfortaa"/>
                </a:rPr>
                <a:t>%</a:t>
              </a:r>
            </a:p>
          </p:txBody>
        </p:sp>
      </p:grpSp>
      <p:sp>
        <p:nvSpPr>
          <p:cNvPr id="3" name="Google Shape;596;p31">
            <a:extLst>
              <a:ext uri="{FF2B5EF4-FFF2-40B4-BE49-F238E27FC236}">
                <a16:creationId xmlns:a16="http://schemas.microsoft.com/office/drawing/2014/main" id="{ED6F3CEA-A535-C32E-ADE2-2AB1D5C2BFD9}"/>
              </a:ext>
            </a:extLst>
          </p:cNvPr>
          <p:cNvSpPr txBox="1">
            <a:spLocks/>
          </p:cNvSpPr>
          <p:nvPr/>
        </p:nvSpPr>
        <p:spPr>
          <a:xfrm>
            <a:off x="5223000" y="1904392"/>
            <a:ext cx="1746000" cy="6844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90000"/>
              </a:lnSpc>
              <a:spcBef>
                <a:spcPts val="0"/>
              </a:spcBef>
              <a:spcAft>
                <a:spcPts val="0"/>
              </a:spcAft>
              <a:buClr>
                <a:schemeClr val="dk1"/>
              </a:buClr>
              <a:buSzPts val="1800"/>
              <a:buFont typeface="Avenir"/>
              <a:buNone/>
              <a:defRPr b="0" cap="none" i="0" strike="noStrike" sz="4400" u="none">
                <a:solidFill>
                  <a:schemeClr val="bg1"/>
                </a:solidFill>
                <a:latin charset="0" panose="02000503020000020003" pitchFamily="2" typeface="Avenir Medium"/>
                <a:ea typeface="Avenir"/>
                <a:cs typeface="Avenir"/>
                <a:sym typeface="Avenir"/>
              </a:defRPr>
            </a:lvl1pPr>
            <a:lvl2pPr algn="l" lvl="1"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9pPr>
          </a:lstStyle>
          <a:p>
            <a:pPr algn="ctr">
              <a:buSzPts val="2400"/>
              <a:buFont typeface="Comfortaa"/>
              <a:buNone/>
            </a:pPr>
            <a:r>
              <a:rPr dirty="0" lang="en-US" sz="2800">
                <a:solidFill>
                  <a:schemeClr val="tx1"/>
                </a:solidFill>
                <a:latin charset="0" panose="02000503020000020003" pitchFamily="2" typeface="Avenir Book"/>
                <a:ea typeface="Comfortaa"/>
                <a:cs typeface="Comfortaa"/>
                <a:sym typeface="Comfortaa"/>
              </a:rPr>
              <a:t>On Time</a:t>
            </a:r>
          </a:p>
        </p:txBody>
      </p:sp>
      <p:grpSp>
        <p:nvGrpSpPr>
          <p:cNvPr descr="Pie chart showing 60% No and 40% Yes" id="6" name="Group 5">
            <a:extLst>
              <a:ext uri="{FF2B5EF4-FFF2-40B4-BE49-F238E27FC236}">
                <a16:creationId xmlns:a16="http://schemas.microsoft.com/office/drawing/2014/main" id="{2A3D8948-4A17-2715-9941-DA7276D5D299}"/>
              </a:ext>
            </a:extLst>
          </p:cNvPr>
          <p:cNvGrpSpPr/>
          <p:nvPr/>
        </p:nvGrpSpPr>
        <p:grpSpPr>
          <a:xfrm>
            <a:off x="4648484" y="2482401"/>
            <a:ext cx="3014600" cy="2689599"/>
            <a:chOff x="4648484" y="2482401"/>
            <a:chExt cx="3014600" cy="2689599"/>
          </a:xfrm>
        </p:grpSpPr>
        <p:pic>
          <p:nvPicPr>
            <p:cNvPr id="13" name="Google Shape;609;p32">
              <a:extLst>
                <a:ext uri="{FF2B5EF4-FFF2-40B4-BE49-F238E27FC236}">
                  <a16:creationId xmlns:a16="http://schemas.microsoft.com/office/drawing/2014/main" id="{6B4CB375-3DBC-B743-C854-850C9918A32A}"/>
                </a:ext>
              </a:extLst>
            </p:cNvPr>
            <p:cNvPicPr preferRelativeResize="0"/>
            <p:nvPr/>
          </p:nvPicPr>
          <p:blipFill rotWithShape="1">
            <a:blip cstate="screen" r:embed="rId4">
              <a:alphaModFix/>
              <a:extLst>
                <a:ext uri="{28A0092B-C50C-407E-A947-70E740481C1C}">
                  <a14:useLocalDpi xmlns:a14="http://schemas.microsoft.com/office/drawing/2010/main"/>
                </a:ext>
              </a:extLst>
            </a:blip>
            <a:srcRect l="16771" r="13923"/>
            <a:stretch/>
          </p:blipFill>
          <p:spPr>
            <a:xfrm>
              <a:off x="4648484" y="2482401"/>
              <a:ext cx="3014600" cy="2689599"/>
            </a:xfrm>
            <a:prstGeom prst="rect">
              <a:avLst/>
            </a:prstGeom>
            <a:noFill/>
            <a:ln>
              <a:noFill/>
            </a:ln>
          </p:spPr>
        </p:pic>
        <p:sp>
          <p:nvSpPr>
            <p:cNvPr id="16" name="Google Shape;612;p32">
              <a:extLst>
                <a:ext uri="{FF2B5EF4-FFF2-40B4-BE49-F238E27FC236}">
                  <a16:creationId xmlns:a16="http://schemas.microsoft.com/office/drawing/2014/main" id="{60264167-ABAC-5F58-BF1B-533C108F5DA6}"/>
                </a:ext>
              </a:extLst>
            </p:cNvPr>
            <p:cNvSpPr txBox="1">
              <a:spLocks/>
            </p:cNvSpPr>
            <p:nvPr/>
          </p:nvSpPr>
          <p:spPr>
            <a:xfrm>
              <a:off x="4999413" y="3576833"/>
              <a:ext cx="1025600" cy="6844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90000"/>
                </a:lnSpc>
                <a:spcBef>
                  <a:spcPts val="0"/>
                </a:spcBef>
                <a:spcAft>
                  <a:spcPts val="0"/>
                </a:spcAft>
                <a:buClr>
                  <a:schemeClr val="dk1"/>
                </a:buClr>
                <a:buSzPts val="1800"/>
                <a:buFont typeface="Avenir"/>
                <a:buNone/>
                <a:defRPr b="0" cap="none" i="0" strike="noStrike" sz="4400" u="none">
                  <a:solidFill>
                    <a:schemeClr val="bg1"/>
                  </a:solidFill>
                  <a:latin charset="0" panose="02000503020000020003" pitchFamily="2" typeface="Avenir Medium"/>
                  <a:ea typeface="Avenir"/>
                  <a:cs typeface="Avenir"/>
                  <a:sym typeface="Avenir"/>
                </a:defRPr>
              </a:lvl1pPr>
              <a:lvl2pPr algn="l" lvl="1"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9pPr>
            </a:lstStyle>
            <a:p>
              <a:pPr algn="ctr">
                <a:buClr>
                  <a:srgbClr val="FFFFFF"/>
                </a:buClr>
                <a:buSzPts val="2400"/>
                <a:buFont typeface="Comfortaa"/>
                <a:buNone/>
              </a:pPr>
              <a:r>
                <a:rPr b="1" lang="en-US" sz="1867">
                  <a:solidFill>
                    <a:srgbClr val="FFFFFF"/>
                  </a:solidFill>
                  <a:latin charset="0" panose="02000503020000020003" pitchFamily="2" typeface="Avenir Book"/>
                  <a:ea typeface="Comfortaa"/>
                  <a:cs typeface="Comfortaa"/>
                  <a:sym typeface="Comfortaa"/>
                </a:rPr>
                <a:t>NO</a:t>
              </a:r>
              <a:br>
                <a:rPr b="1" lang="en-US" sz="1867">
                  <a:solidFill>
                    <a:srgbClr val="FFFFFF"/>
                  </a:solidFill>
                  <a:latin charset="0" panose="02000503020000020003" pitchFamily="2" typeface="Avenir Book"/>
                  <a:ea typeface="Comfortaa"/>
                  <a:cs typeface="Comfortaa"/>
                  <a:sym typeface="Comfortaa"/>
                </a:rPr>
              </a:br>
              <a:r>
                <a:rPr b="1" lang="en-US" sz="1867">
                  <a:solidFill>
                    <a:srgbClr val="FFFFFF"/>
                  </a:solidFill>
                  <a:latin charset="0" panose="02000503020000020003" pitchFamily="2" typeface="Avenir Book"/>
                  <a:ea typeface="Comfortaa"/>
                  <a:cs typeface="Comfortaa"/>
                  <a:sym typeface="Comfortaa"/>
                </a:rPr>
                <a:t>60</a:t>
              </a:r>
              <a:r>
                <a:rPr lang="en-US" sz="1867">
                  <a:solidFill>
                    <a:srgbClr val="EFEFEF"/>
                  </a:solidFill>
                  <a:latin charset="0" panose="02000503020000020003" pitchFamily="2" typeface="Avenir Book"/>
                  <a:ea typeface="Comfortaa"/>
                  <a:cs typeface="Comfortaa"/>
                  <a:sym typeface="Comfortaa"/>
                </a:rPr>
                <a:t>%</a:t>
              </a:r>
            </a:p>
          </p:txBody>
        </p:sp>
        <p:sp>
          <p:nvSpPr>
            <p:cNvPr id="19" name="Google Shape;615;p32">
              <a:extLst>
                <a:ext uri="{FF2B5EF4-FFF2-40B4-BE49-F238E27FC236}">
                  <a16:creationId xmlns:a16="http://schemas.microsoft.com/office/drawing/2014/main" id="{97FE91B3-ACB8-82FE-96AD-B48B7243C804}"/>
                </a:ext>
              </a:extLst>
            </p:cNvPr>
            <p:cNvSpPr txBox="1">
              <a:spLocks/>
            </p:cNvSpPr>
            <p:nvPr/>
          </p:nvSpPr>
          <p:spPr>
            <a:xfrm>
              <a:off x="6189987" y="3568867"/>
              <a:ext cx="1025600" cy="6844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90000"/>
                </a:lnSpc>
                <a:spcBef>
                  <a:spcPts val="0"/>
                </a:spcBef>
                <a:spcAft>
                  <a:spcPts val="0"/>
                </a:spcAft>
                <a:buClr>
                  <a:schemeClr val="dk1"/>
                </a:buClr>
                <a:buSzPts val="1800"/>
                <a:buFont typeface="Avenir"/>
                <a:buNone/>
                <a:defRPr b="0" cap="none" i="0" strike="noStrike" sz="4400" u="none">
                  <a:solidFill>
                    <a:schemeClr val="bg1"/>
                  </a:solidFill>
                  <a:latin charset="0" panose="02000503020000020003" pitchFamily="2" typeface="Avenir Medium"/>
                  <a:ea typeface="Avenir"/>
                  <a:cs typeface="Avenir"/>
                  <a:sym typeface="Avenir"/>
                </a:defRPr>
              </a:lvl1pPr>
              <a:lvl2pPr algn="l" lvl="1"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9pPr>
            </a:lstStyle>
            <a:p>
              <a:pPr algn="ctr">
                <a:buClr>
                  <a:srgbClr val="FFFFFF"/>
                </a:buClr>
                <a:buSzPts val="2400"/>
                <a:buFont typeface="Comfortaa"/>
                <a:buNone/>
              </a:pPr>
              <a:r>
                <a:rPr b="1" dirty="0" lang="en-US" sz="1867">
                  <a:solidFill>
                    <a:schemeClr val="tx2"/>
                  </a:solidFill>
                  <a:latin charset="0" panose="02000503020000020003" pitchFamily="2" typeface="Avenir Book"/>
                  <a:ea typeface="Comfortaa"/>
                  <a:cs typeface="Comfortaa"/>
                  <a:sym typeface="Comfortaa"/>
                </a:rPr>
                <a:t>YES</a:t>
              </a:r>
              <a:br>
                <a:rPr b="1" dirty="0" lang="en-US" sz="1867">
                  <a:solidFill>
                    <a:schemeClr val="tx2"/>
                  </a:solidFill>
                  <a:latin charset="0" panose="02000503020000020003" pitchFamily="2" typeface="Avenir Book"/>
                  <a:ea typeface="Comfortaa"/>
                  <a:cs typeface="Comfortaa"/>
                  <a:sym typeface="Comfortaa"/>
                </a:rPr>
              </a:br>
              <a:r>
                <a:rPr b="1" dirty="0" lang="en-US" sz="1867">
                  <a:solidFill>
                    <a:schemeClr val="tx2"/>
                  </a:solidFill>
                  <a:latin charset="0" panose="02000503020000020003" pitchFamily="2" typeface="Avenir Book"/>
                  <a:ea typeface="Comfortaa"/>
                  <a:cs typeface="Comfortaa"/>
                  <a:sym typeface="Comfortaa"/>
                </a:rPr>
                <a:t>40</a:t>
              </a:r>
              <a:r>
                <a:rPr dirty="0" lang="en-US" sz="1867">
                  <a:solidFill>
                    <a:schemeClr val="tx2"/>
                  </a:solidFill>
                  <a:latin charset="0" panose="02000503020000020003" pitchFamily="2" typeface="Avenir Book"/>
                  <a:ea typeface="Comfortaa"/>
                  <a:cs typeface="Comfortaa"/>
                  <a:sym typeface="Comfortaa"/>
                </a:rPr>
                <a:t>%</a:t>
              </a:r>
            </a:p>
          </p:txBody>
        </p:sp>
      </p:grpSp>
      <p:sp>
        <p:nvSpPr>
          <p:cNvPr id="5" name="Google Shape;598;p31">
            <a:extLst>
              <a:ext uri="{FF2B5EF4-FFF2-40B4-BE49-F238E27FC236}">
                <a16:creationId xmlns:a16="http://schemas.microsoft.com/office/drawing/2014/main" id="{619DEBE7-3E0E-C11A-C01B-1E09E9BCCADA}"/>
              </a:ext>
            </a:extLst>
          </p:cNvPr>
          <p:cNvSpPr txBox="1">
            <a:spLocks/>
          </p:cNvSpPr>
          <p:nvPr/>
        </p:nvSpPr>
        <p:spPr>
          <a:xfrm>
            <a:off x="8167000" y="1904392"/>
            <a:ext cx="2115200" cy="6844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90000"/>
              </a:lnSpc>
              <a:spcBef>
                <a:spcPts val="0"/>
              </a:spcBef>
              <a:spcAft>
                <a:spcPts val="0"/>
              </a:spcAft>
              <a:buClr>
                <a:schemeClr val="dk1"/>
              </a:buClr>
              <a:buSzPts val="1800"/>
              <a:buFont typeface="Avenir"/>
              <a:buNone/>
              <a:defRPr b="0" cap="none" i="0" strike="noStrike" sz="4400" u="none">
                <a:solidFill>
                  <a:schemeClr val="bg1"/>
                </a:solidFill>
                <a:latin charset="0" panose="02000503020000020003" pitchFamily="2" typeface="Avenir Medium"/>
                <a:ea typeface="Avenir"/>
                <a:cs typeface="Avenir"/>
                <a:sym typeface="Avenir"/>
              </a:defRPr>
            </a:lvl1pPr>
            <a:lvl2pPr algn="l" lvl="1"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9pPr>
          </a:lstStyle>
          <a:p>
            <a:pPr algn="ctr">
              <a:buSzPts val="2400"/>
              <a:buFont typeface="Comfortaa"/>
              <a:buNone/>
            </a:pPr>
            <a:r>
              <a:rPr dirty="0" lang="en-US" sz="2800">
                <a:solidFill>
                  <a:schemeClr val="tx1"/>
                </a:solidFill>
                <a:latin charset="0" panose="02000503020000020003" pitchFamily="2" typeface="Avenir Book"/>
                <a:ea typeface="Comfortaa"/>
                <a:cs typeface="Comfortaa"/>
                <a:sym typeface="Comfortaa"/>
              </a:rPr>
              <a:t>On Target</a:t>
            </a:r>
          </a:p>
        </p:txBody>
      </p:sp>
      <p:grpSp>
        <p:nvGrpSpPr>
          <p:cNvPr descr="Pie chart showing 44% No and 56% Yes" id="7" name="Group 6">
            <a:extLst>
              <a:ext uri="{FF2B5EF4-FFF2-40B4-BE49-F238E27FC236}">
                <a16:creationId xmlns:a16="http://schemas.microsoft.com/office/drawing/2014/main" id="{FACE7142-1072-EB69-6319-DB2D5A54E66D}"/>
              </a:ext>
            </a:extLst>
          </p:cNvPr>
          <p:cNvGrpSpPr/>
          <p:nvPr/>
        </p:nvGrpSpPr>
        <p:grpSpPr>
          <a:xfrm>
            <a:off x="7770767" y="2482401"/>
            <a:ext cx="3014600" cy="2689599"/>
            <a:chOff x="7770767" y="2482401"/>
            <a:chExt cx="3014600" cy="2689599"/>
          </a:xfrm>
        </p:grpSpPr>
        <p:pic>
          <p:nvPicPr>
            <p:cNvPr id="14" name="Google Shape;610;p32" title="Points scored">
              <a:extLst>
                <a:ext uri="{FF2B5EF4-FFF2-40B4-BE49-F238E27FC236}">
                  <a16:creationId xmlns:a16="http://schemas.microsoft.com/office/drawing/2014/main" id="{EAF62F4E-7539-F568-BEE4-82CED3800F47}"/>
                </a:ext>
              </a:extLst>
            </p:cNvPr>
            <p:cNvPicPr preferRelativeResize="0"/>
            <p:nvPr/>
          </p:nvPicPr>
          <p:blipFill rotWithShape="1">
            <a:blip cstate="screen" r:embed="rId5">
              <a:alphaModFix/>
              <a:extLst>
                <a:ext uri="{28A0092B-C50C-407E-A947-70E740481C1C}">
                  <a14:useLocalDpi xmlns:a14="http://schemas.microsoft.com/office/drawing/2010/main"/>
                </a:ext>
              </a:extLst>
            </a:blip>
            <a:srcRect l="16771" r="13923"/>
            <a:stretch/>
          </p:blipFill>
          <p:spPr>
            <a:xfrm>
              <a:off x="7770767" y="2482401"/>
              <a:ext cx="3014600" cy="2689599"/>
            </a:xfrm>
            <a:prstGeom prst="rect">
              <a:avLst/>
            </a:prstGeom>
            <a:noFill/>
            <a:ln>
              <a:noFill/>
            </a:ln>
          </p:spPr>
        </p:pic>
        <p:sp>
          <p:nvSpPr>
            <p:cNvPr id="17" name="Google Shape;613;p32">
              <a:extLst>
                <a:ext uri="{FF2B5EF4-FFF2-40B4-BE49-F238E27FC236}">
                  <a16:creationId xmlns:a16="http://schemas.microsoft.com/office/drawing/2014/main" id="{60C2D63E-D5A9-9737-10B2-BC13E7C01ED7}"/>
                </a:ext>
              </a:extLst>
            </p:cNvPr>
            <p:cNvSpPr txBox="1">
              <a:spLocks/>
            </p:cNvSpPr>
            <p:nvPr/>
          </p:nvSpPr>
          <p:spPr>
            <a:xfrm>
              <a:off x="8066407" y="3533373"/>
              <a:ext cx="1025600" cy="6844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90000"/>
                </a:lnSpc>
                <a:spcBef>
                  <a:spcPts val="0"/>
                </a:spcBef>
                <a:spcAft>
                  <a:spcPts val="0"/>
                </a:spcAft>
                <a:buClr>
                  <a:schemeClr val="dk1"/>
                </a:buClr>
                <a:buSzPts val="1800"/>
                <a:buFont typeface="Avenir"/>
                <a:buNone/>
                <a:defRPr b="0" cap="none" i="0" strike="noStrike" sz="4400" u="none">
                  <a:solidFill>
                    <a:schemeClr val="bg1"/>
                  </a:solidFill>
                  <a:latin charset="0" panose="02000503020000020003" pitchFamily="2" typeface="Avenir Medium"/>
                  <a:ea typeface="Avenir"/>
                  <a:cs typeface="Avenir"/>
                  <a:sym typeface="Avenir"/>
                </a:defRPr>
              </a:lvl1pPr>
              <a:lvl2pPr algn="l" lvl="1"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9pPr>
            </a:lstStyle>
            <a:p>
              <a:pPr algn="ctr">
                <a:buClr>
                  <a:srgbClr val="FFFFFF"/>
                </a:buClr>
                <a:buSzPts val="2400"/>
                <a:buFont typeface="Comfortaa"/>
                <a:buNone/>
              </a:pPr>
              <a:r>
                <a:rPr b="1" lang="en-US" sz="1867">
                  <a:solidFill>
                    <a:srgbClr val="FFFFFF"/>
                  </a:solidFill>
                  <a:latin charset="0" panose="02000503020000020003" pitchFamily="2" typeface="Avenir Book"/>
                  <a:ea typeface="Comfortaa"/>
                  <a:cs typeface="Comfortaa"/>
                  <a:sym typeface="Comfortaa"/>
                </a:rPr>
                <a:t>NO</a:t>
              </a:r>
              <a:br>
                <a:rPr b="1" lang="en-US" sz="1867">
                  <a:solidFill>
                    <a:srgbClr val="FFFFFF"/>
                  </a:solidFill>
                  <a:latin charset="0" panose="02000503020000020003" pitchFamily="2" typeface="Avenir Book"/>
                  <a:ea typeface="Comfortaa"/>
                  <a:cs typeface="Comfortaa"/>
                  <a:sym typeface="Comfortaa"/>
                </a:rPr>
              </a:br>
              <a:r>
                <a:rPr b="1" lang="en-US" sz="1867">
                  <a:solidFill>
                    <a:srgbClr val="FFFFFF"/>
                  </a:solidFill>
                  <a:latin charset="0" panose="02000503020000020003" pitchFamily="2" typeface="Avenir Book"/>
                  <a:ea typeface="Comfortaa"/>
                  <a:cs typeface="Comfortaa"/>
                  <a:sym typeface="Comfortaa"/>
                </a:rPr>
                <a:t>44</a:t>
              </a:r>
              <a:r>
                <a:rPr lang="en-US" sz="1867">
                  <a:solidFill>
                    <a:srgbClr val="D9D9D9"/>
                  </a:solidFill>
                  <a:latin charset="0" panose="02000503020000020003" pitchFamily="2" typeface="Avenir Book"/>
                  <a:ea typeface="Comfortaa"/>
                  <a:cs typeface="Comfortaa"/>
                  <a:sym typeface="Comfortaa"/>
                </a:rPr>
                <a:t>%</a:t>
              </a:r>
            </a:p>
          </p:txBody>
        </p:sp>
        <p:sp>
          <p:nvSpPr>
            <p:cNvPr id="20" name="Google Shape;616;p32">
              <a:extLst>
                <a:ext uri="{FF2B5EF4-FFF2-40B4-BE49-F238E27FC236}">
                  <a16:creationId xmlns:a16="http://schemas.microsoft.com/office/drawing/2014/main" id="{2CEC0810-8328-53D3-E52F-1052F581C252}"/>
                </a:ext>
              </a:extLst>
            </p:cNvPr>
            <p:cNvSpPr txBox="1">
              <a:spLocks/>
            </p:cNvSpPr>
            <p:nvPr/>
          </p:nvSpPr>
          <p:spPr>
            <a:xfrm>
              <a:off x="9256607" y="3555107"/>
              <a:ext cx="1025600" cy="6844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90000"/>
                </a:lnSpc>
                <a:spcBef>
                  <a:spcPts val="0"/>
                </a:spcBef>
                <a:spcAft>
                  <a:spcPts val="0"/>
                </a:spcAft>
                <a:buClr>
                  <a:schemeClr val="dk1"/>
                </a:buClr>
                <a:buSzPts val="1800"/>
                <a:buFont typeface="Avenir"/>
                <a:buNone/>
                <a:defRPr b="0" cap="none" i="0" strike="noStrike" sz="4400" u="none">
                  <a:solidFill>
                    <a:schemeClr val="bg1"/>
                  </a:solidFill>
                  <a:latin charset="0" panose="02000503020000020003" pitchFamily="2" typeface="Avenir Medium"/>
                  <a:ea typeface="Avenir"/>
                  <a:cs typeface="Avenir"/>
                  <a:sym typeface="Avenir"/>
                </a:defRPr>
              </a:lvl1pPr>
              <a:lvl2pPr algn="l" lvl="1"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SzPts val="1400"/>
                <a:buFont typeface="Arial"/>
                <a:buNone/>
                <a:defRPr b="0" cap="none" i="0" strike="noStrike" sz="1800" u="none">
                  <a:solidFill>
                    <a:srgbClr val="000000"/>
                  </a:solidFill>
                  <a:latin typeface="Arial"/>
                  <a:ea typeface="Arial"/>
                  <a:cs typeface="Arial"/>
                  <a:sym typeface="Arial"/>
                </a:defRPr>
              </a:lvl9pPr>
            </a:lstStyle>
            <a:p>
              <a:pPr algn="ctr">
                <a:buClr>
                  <a:srgbClr val="FFFFFF"/>
                </a:buClr>
                <a:buSzPts val="2400"/>
                <a:buFont typeface="Comfortaa"/>
                <a:buNone/>
              </a:pPr>
              <a:r>
                <a:rPr b="1" lang="en-US" sz="1867">
                  <a:solidFill>
                    <a:schemeClr val="tx2"/>
                  </a:solidFill>
                  <a:latin charset="0" panose="02000503020000020003" pitchFamily="2" typeface="Avenir Book"/>
                  <a:ea typeface="Comfortaa"/>
                  <a:cs typeface="Comfortaa"/>
                  <a:sym typeface="Comfortaa"/>
                </a:rPr>
                <a:t>YES</a:t>
              </a:r>
              <a:br>
                <a:rPr b="1" lang="en-US" sz="1867">
                  <a:solidFill>
                    <a:schemeClr val="tx2"/>
                  </a:solidFill>
                  <a:latin charset="0" panose="02000503020000020003" pitchFamily="2" typeface="Avenir Book"/>
                  <a:ea typeface="Comfortaa"/>
                  <a:cs typeface="Comfortaa"/>
                  <a:sym typeface="Comfortaa"/>
                </a:rPr>
              </a:br>
              <a:r>
                <a:rPr b="1" lang="en-US" sz="1867">
                  <a:solidFill>
                    <a:schemeClr val="tx2"/>
                  </a:solidFill>
                  <a:latin charset="0" panose="02000503020000020003" pitchFamily="2" typeface="Avenir Book"/>
                  <a:ea typeface="Comfortaa"/>
                  <a:cs typeface="Comfortaa"/>
                  <a:sym typeface="Comfortaa"/>
                </a:rPr>
                <a:t>56</a:t>
              </a:r>
              <a:r>
                <a:rPr lang="en-US" sz="1867">
                  <a:solidFill>
                    <a:schemeClr val="tx2"/>
                  </a:solidFill>
                  <a:latin charset="0" panose="02000503020000020003" pitchFamily="2" typeface="Avenir Book"/>
                  <a:ea typeface="Comfortaa"/>
                  <a:cs typeface="Comfortaa"/>
                  <a:sym typeface="Comfortaa"/>
                </a:rPr>
                <a:t>%</a:t>
              </a:r>
            </a:p>
          </p:txBody>
        </p:sp>
      </p:grpSp>
      <p:sp>
        <p:nvSpPr>
          <p:cNvPr id="24" name="Google Shape;599;p31">
            <a:extLst>
              <a:ext uri="{FF2B5EF4-FFF2-40B4-BE49-F238E27FC236}">
                <a16:creationId xmlns:a16="http://schemas.microsoft.com/office/drawing/2014/main" id="{4BA6BF65-EB15-435E-BFD3-B5893CD9C776}"/>
              </a:ext>
            </a:extLst>
          </p:cNvPr>
          <p:cNvSpPr txBox="1"/>
          <p:nvPr/>
        </p:nvSpPr>
        <p:spPr>
          <a:xfrm>
            <a:off x="2945012" y="5505987"/>
            <a:ext cx="6096000" cy="550000"/>
          </a:xfrm>
          <a:prstGeom prst="rect">
            <a:avLst/>
          </a:prstGeom>
          <a:noFill/>
          <a:ln>
            <a:noFill/>
          </a:ln>
        </p:spPr>
        <p:txBody>
          <a:bodyPr anchor="t" anchorCtr="0" bIns="121900" lIns="121900" rIns="121900" spcFirstLastPara="1" tIns="121900" wrap="square">
            <a:noAutofit/>
          </a:bodyPr>
          <a:lstStyle/>
          <a:p>
            <a:pPr algn="ctr" indent="0" lvl="0" marL="0" marR="0" rtl="0">
              <a:spcBef>
                <a:spcPts val="0"/>
              </a:spcBef>
              <a:spcAft>
                <a:spcPts val="0"/>
              </a:spcAft>
              <a:buNone/>
            </a:pPr>
            <a:r>
              <a:rPr dirty="0" i="1" lang="en-US" sz="2400">
                <a:solidFill>
                  <a:schemeClr val="tx1"/>
                </a:solidFill>
                <a:latin charset="0" panose="02000503020000020003" pitchFamily="2" typeface="Avenir Book"/>
                <a:ea typeface="Comfortaa"/>
                <a:cs typeface="Comfortaa"/>
                <a:sym typeface="Comfortaa"/>
              </a:rPr>
              <a:t>Standish Group Report, 2015</a:t>
            </a:r>
            <a:endParaRPr dirty="0" i="1" sz="2400">
              <a:solidFill>
                <a:schemeClr val="tx1"/>
              </a:solidFill>
              <a:latin charset="0" panose="02000503020000020003" pitchFamily="2" typeface="Avenir Book"/>
              <a:ea typeface="Calibri"/>
              <a:cs typeface="Calibri"/>
              <a:sym typeface="Calibri"/>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Shape 625"/>
        <p:cNvGrpSpPr/>
        <p:nvPr/>
      </p:nvGrpSpPr>
      <p:grpSpPr>
        <a:xfrm>
          <a:off x="0" y="0"/>
          <a:ext cx="0" cy="0"/>
          <a:chOff x="0" y="0"/>
          <a:chExt cx="0" cy="0"/>
        </a:xfrm>
      </p:grpSpPr>
      <p:sp>
        <p:nvSpPr>
          <p:cNvPr id="36" name="Google Shape;641;p33">
            <a:extLst>
              <a:ext uri="{FF2B5EF4-FFF2-40B4-BE49-F238E27FC236}">
                <a16:creationId xmlns:a16="http://schemas.microsoft.com/office/drawing/2014/main" id="{E18FC787-5CF8-2C60-3EBE-1C38B8199E54}"/>
              </a:ext>
            </a:extLst>
          </p:cNvPr>
          <p:cNvSpPr txBox="1">
            <a:spLocks noGrp="1"/>
          </p:cNvSpPr>
          <p:nvPr>
            <p:ph idx="4294967295" type="title"/>
          </p:nvPr>
        </p:nvSpPr>
        <p:spPr>
          <a:xfrm>
            <a:off x="7296449" y="593367"/>
            <a:ext cx="4318800" cy="2522148"/>
          </a:xfrm>
          <a:prstGeom prst="rect">
            <a:avLst/>
          </a:prstGeom>
          <a:noFill/>
          <a:ln>
            <a:noFill/>
            <a:prstDash/>
          </a:ln>
          <a:effectLst/>
        </p:spPr>
        <p:txBody>
          <a:bodyPr anchor="t" anchorCtr="0" bIns="121900" compatLnSpc="1" forceAA="0" fromWordArt="0" horzOverflow="overflow" lIns="121900" numCol="1" rIns="121900" rot="0" rtlCol="0" spcCol="0" spcFirstLastPara="1" tIns="121900" vert="horz" vertOverflow="overflow" wrap="square">
            <a:prstTxWarp prst="textNoShape">
              <a:avLst/>
            </a:prstTxWarp>
            <a:noAutofit/>
          </a:bodyPr>
          <a:lstStyle/>
          <a:p>
            <a:pPr algn="r" defTabSz="914400" eaLnBrk="1" fontAlgn="auto" hangingPunct="1" indent="0" latinLnBrk="0" lvl="0" marL="0" marR="0" rtl="0">
              <a:lnSpc>
                <a:spcPct val="100000"/>
              </a:lnSpc>
              <a:spcBef>
                <a:spcPts val="0"/>
              </a:spcBef>
              <a:spcAft>
                <a:spcPts val="0"/>
              </a:spcAft>
              <a:buClrTx/>
              <a:buSzTx/>
              <a:buFontTx/>
              <a:buNone/>
              <a:tabLst/>
              <a:defRPr/>
            </a:pPr>
            <a:r>
              <a:rPr b="0" baseline="0" cap="none" dirty="0" i="0" kern="1200" kumimoji="0" lang="en-US" noProof="0" normalizeH="0" spc="0" strike="noStrike" sz="4800" u="none">
                <a:ln>
                  <a:noFill/>
                </a:ln>
                <a:solidFill>
                  <a:schemeClr val="dk1"/>
                </a:solidFill>
                <a:effectLst/>
                <a:uLnTx/>
                <a:uFillTx/>
                <a:latin typeface="Avenir"/>
                <a:ea typeface="Avenir"/>
                <a:cs typeface="Avenir"/>
                <a:sym typeface="Avenir"/>
              </a:rPr>
              <a:t>The Waterfall Model of Design</a:t>
            </a:r>
            <a:endParaRPr b="0" baseline="0" cap="none" dirty="0" i="0" kern="1200" kumimoji="0" lang="en-US" noProof="0" normalizeH="0" spc="0" strike="noStrike" sz="4800" u="none">
              <a:ln>
                <a:noFill/>
              </a:ln>
              <a:solidFill>
                <a:schemeClr val="tx1"/>
              </a:solidFill>
              <a:effectLst/>
              <a:uLnTx/>
              <a:uFillTx/>
              <a:latin typeface="Avenir"/>
              <a:ea typeface="Avenir"/>
              <a:cs typeface="Avenir"/>
              <a:sym typeface="Avenir"/>
            </a:endParaRPr>
          </a:p>
        </p:txBody>
      </p:sp>
      <p:grpSp>
        <p:nvGrpSpPr>
          <p:cNvPr id="21" name="Google Shape;626;p33">
            <a:extLst>
              <a:ext uri="{FF2B5EF4-FFF2-40B4-BE49-F238E27FC236}">
                <a16:creationId xmlns:a16="http://schemas.microsoft.com/office/drawing/2014/main" id="{77076915-B060-03AA-8EC1-940BFE88523F}"/>
              </a:ext>
              <a:ext uri="{C183D7F6-B498-43B3-948B-1728B52AA6E4}">
                <adec:decorative xmlns:adec="http://schemas.microsoft.com/office/drawing/2017/decorative" val="1"/>
              </a:ext>
            </a:extLst>
          </p:cNvPr>
          <p:cNvGrpSpPr/>
          <p:nvPr/>
        </p:nvGrpSpPr>
        <p:grpSpPr>
          <a:xfrm>
            <a:off x="684400" y="482633"/>
            <a:ext cx="2058795" cy="5605477"/>
            <a:chOff x="684400" y="482633"/>
            <a:chExt cx="2164300" cy="5892735"/>
          </a:xfrm>
        </p:grpSpPr>
        <p:pic>
          <p:nvPicPr>
            <p:cNvPr id="22" name="Google Shape;627;p33" title="Points scored">
              <a:extLst>
                <a:ext uri="{FF2B5EF4-FFF2-40B4-BE49-F238E27FC236}">
                  <a16:creationId xmlns:a16="http://schemas.microsoft.com/office/drawing/2014/main" id="{20A445F0-AF76-34FA-485B-ED6EE3F24397}"/>
                </a:ext>
              </a:extLst>
            </p:cNvPr>
            <p:cNvPicPr preferRelativeResize="0"/>
            <p:nvPr/>
          </p:nvPicPr>
          <p:blipFill rotWithShape="1">
            <a:blip cstate="screen" r:embed="rId3">
              <a:alphaModFix/>
              <a:extLst>
                <a:ext uri="{28A0092B-C50C-407E-A947-70E740481C1C}">
                  <a14:useLocalDpi xmlns:a14="http://schemas.microsoft.com/office/drawing/2010/main"/>
                </a:ext>
              </a:extLst>
            </a:blip>
            <a:srcRect/>
            <a:stretch/>
          </p:blipFill>
          <p:spPr>
            <a:xfrm>
              <a:off x="684412" y="482633"/>
              <a:ext cx="2164288" cy="1930976"/>
            </a:xfrm>
            <a:prstGeom prst="rect">
              <a:avLst/>
            </a:prstGeom>
            <a:noFill/>
            <a:ln>
              <a:noFill/>
            </a:ln>
          </p:spPr>
        </p:pic>
        <p:pic>
          <p:nvPicPr>
            <p:cNvPr id="23" name="Google Shape;628;p33" title="Points scored">
              <a:extLst>
                <a:ext uri="{FF2B5EF4-FFF2-40B4-BE49-F238E27FC236}">
                  <a16:creationId xmlns:a16="http://schemas.microsoft.com/office/drawing/2014/main" id="{2651B89E-00CB-EA4A-BC1C-C8113A51A4DB}"/>
                </a:ext>
              </a:extLst>
            </p:cNvPr>
            <p:cNvPicPr preferRelativeResize="0"/>
            <p:nvPr/>
          </p:nvPicPr>
          <p:blipFill rotWithShape="1">
            <a:blip cstate="screen" r:embed="rId4">
              <a:alphaModFix/>
              <a:extLst>
                <a:ext uri="{28A0092B-C50C-407E-A947-70E740481C1C}">
                  <a14:useLocalDpi xmlns:a14="http://schemas.microsoft.com/office/drawing/2010/main"/>
                </a:ext>
              </a:extLst>
            </a:blip>
            <a:srcRect/>
            <a:stretch/>
          </p:blipFill>
          <p:spPr>
            <a:xfrm>
              <a:off x="684400" y="2463512"/>
              <a:ext cx="2164288" cy="1930976"/>
            </a:xfrm>
            <a:prstGeom prst="rect">
              <a:avLst/>
            </a:prstGeom>
            <a:noFill/>
            <a:ln>
              <a:noFill/>
            </a:ln>
          </p:spPr>
        </p:pic>
        <p:pic>
          <p:nvPicPr>
            <p:cNvPr id="24" name="Google Shape;629;p33" title="Points scored">
              <a:extLst>
                <a:ext uri="{FF2B5EF4-FFF2-40B4-BE49-F238E27FC236}">
                  <a16:creationId xmlns:a16="http://schemas.microsoft.com/office/drawing/2014/main" id="{6C432554-73DA-8A96-92B9-57475B28D012}"/>
                </a:ext>
              </a:extLst>
            </p:cNvPr>
            <p:cNvPicPr preferRelativeResize="0"/>
            <p:nvPr/>
          </p:nvPicPr>
          <p:blipFill rotWithShape="1">
            <a:blip cstate="screen" r:embed="rId5">
              <a:alphaModFix/>
              <a:extLst>
                <a:ext uri="{28A0092B-C50C-407E-A947-70E740481C1C}">
                  <a14:useLocalDpi xmlns:a14="http://schemas.microsoft.com/office/drawing/2010/main"/>
                </a:ext>
              </a:extLst>
            </a:blip>
            <a:srcRect/>
            <a:stretch/>
          </p:blipFill>
          <p:spPr>
            <a:xfrm>
              <a:off x="684412" y="4444392"/>
              <a:ext cx="2164288" cy="1930976"/>
            </a:xfrm>
            <a:prstGeom prst="rect">
              <a:avLst/>
            </a:prstGeom>
            <a:noFill/>
            <a:ln>
              <a:noFill/>
            </a:ln>
          </p:spPr>
        </p:pic>
      </p:grpSp>
      <p:sp>
        <p:nvSpPr>
          <p:cNvPr id="25" name="Google Shape;630;p33">
            <a:extLst>
              <a:ext uri="{FF2B5EF4-FFF2-40B4-BE49-F238E27FC236}">
                <a16:creationId xmlns:a16="http://schemas.microsoft.com/office/drawing/2014/main" id="{104629A3-EB5E-554C-424F-0BC3B08945AC}"/>
              </a:ext>
              <a:ext uri="{C183D7F6-B498-43B3-948B-1728B52AA6E4}">
                <adec:decorative xmlns:adec="http://schemas.microsoft.com/office/drawing/2017/decorative" val="1"/>
              </a:ext>
            </a:extLst>
          </p:cNvPr>
          <p:cNvSpPr txBox="1">
            <a:spLocks/>
          </p:cNvSpPr>
          <p:nvPr/>
        </p:nvSpPr>
        <p:spPr>
          <a:xfrm>
            <a:off x="900152" y="1262643"/>
            <a:ext cx="736000" cy="4912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chemeClr val="bg1"/>
                </a:solidFill>
                <a:latin charset="0" panose="02000503020000020003" pitchFamily="2" typeface="Avenir Medium"/>
                <a:ea charset="0" panose="02000503020000020003" pitchFamily="2" typeface="Avenir Medium"/>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a:lstStyle>
          <a:p>
            <a:pPr algn="ctr">
              <a:lnSpc>
                <a:spcPct val="90000"/>
              </a:lnSpc>
              <a:buClr>
                <a:srgbClr val="FFFFFF"/>
              </a:buClr>
              <a:buSzPts val="2400"/>
              <a:buFont typeface="Comfortaa"/>
              <a:buNone/>
            </a:pPr>
            <a:r>
              <a:rPr b="1" lang="en-US" sz="1600">
                <a:solidFill>
                  <a:srgbClr val="FFFFFF"/>
                </a:solidFill>
                <a:latin charset="0" panose="02000503020000020003" pitchFamily="2" typeface="Avenir Book"/>
                <a:ea typeface="Comfortaa"/>
                <a:cs typeface="Comfortaa"/>
                <a:sym typeface="Comfortaa"/>
              </a:rPr>
              <a:t>NO</a:t>
            </a:r>
            <a:br>
              <a:rPr b="1" lang="en-US" sz="1600">
                <a:solidFill>
                  <a:srgbClr val="FFFFFF"/>
                </a:solidFill>
                <a:latin charset="0" panose="02000503020000020003" pitchFamily="2" typeface="Avenir Book"/>
                <a:ea typeface="Comfortaa"/>
                <a:cs typeface="Comfortaa"/>
                <a:sym typeface="Comfortaa"/>
              </a:rPr>
            </a:br>
            <a:r>
              <a:rPr b="1" lang="en-US" sz="1600">
                <a:solidFill>
                  <a:srgbClr val="FFFFFF"/>
                </a:solidFill>
                <a:latin charset="0" panose="02000503020000020003" pitchFamily="2" typeface="Avenir Book"/>
                <a:ea typeface="Comfortaa"/>
                <a:cs typeface="Comfortaa"/>
                <a:sym typeface="Comfortaa"/>
              </a:rPr>
              <a:t>56</a:t>
            </a:r>
            <a:r>
              <a:rPr lang="en-US" sz="1600">
                <a:solidFill>
                  <a:srgbClr val="EFEFEF"/>
                </a:solidFill>
                <a:latin charset="0" panose="02000503020000020003" pitchFamily="2" typeface="Avenir Book"/>
                <a:ea typeface="Comfortaa"/>
                <a:cs typeface="Comfortaa"/>
                <a:sym typeface="Comfortaa"/>
              </a:rPr>
              <a:t>%</a:t>
            </a:r>
          </a:p>
        </p:txBody>
      </p:sp>
      <p:sp>
        <p:nvSpPr>
          <p:cNvPr id="26" name="Google Shape;631;p33">
            <a:extLst>
              <a:ext uri="{FF2B5EF4-FFF2-40B4-BE49-F238E27FC236}">
                <a16:creationId xmlns:a16="http://schemas.microsoft.com/office/drawing/2014/main" id="{A64386DA-83E7-776A-97D0-3AFEB637C1BD}"/>
              </a:ext>
              <a:ext uri="{C183D7F6-B498-43B3-948B-1728B52AA6E4}">
                <adec:decorative xmlns:adec="http://schemas.microsoft.com/office/drawing/2017/decorative" val="1"/>
              </a:ext>
            </a:extLst>
          </p:cNvPr>
          <p:cNvSpPr txBox="1">
            <a:spLocks/>
          </p:cNvSpPr>
          <p:nvPr/>
        </p:nvSpPr>
        <p:spPr>
          <a:xfrm>
            <a:off x="899769" y="3121235"/>
            <a:ext cx="736000" cy="4912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chemeClr val="bg1"/>
                </a:solidFill>
                <a:latin charset="0" panose="02000503020000020003" pitchFamily="2" typeface="Avenir Medium"/>
                <a:ea charset="0" panose="02000503020000020003" pitchFamily="2" typeface="Avenir Medium"/>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a:lstStyle>
          <a:p>
            <a:pPr algn="ctr">
              <a:lnSpc>
                <a:spcPct val="90000"/>
              </a:lnSpc>
              <a:buClr>
                <a:srgbClr val="FFFFFF"/>
              </a:buClr>
              <a:buSzPts val="2400"/>
              <a:buFont typeface="Comfortaa"/>
              <a:buNone/>
            </a:pPr>
            <a:r>
              <a:rPr b="1" lang="en-US" sz="1600">
                <a:solidFill>
                  <a:srgbClr val="FFFFFF"/>
                </a:solidFill>
                <a:latin charset="0" panose="02000503020000020003" pitchFamily="2" typeface="Avenir Book"/>
                <a:ea typeface="Comfortaa"/>
                <a:cs typeface="Comfortaa"/>
                <a:sym typeface="Comfortaa"/>
              </a:rPr>
              <a:t>NO</a:t>
            </a:r>
            <a:br>
              <a:rPr b="1" lang="en-US" sz="1600">
                <a:solidFill>
                  <a:srgbClr val="FFFFFF"/>
                </a:solidFill>
                <a:latin charset="0" panose="02000503020000020003" pitchFamily="2" typeface="Avenir Book"/>
                <a:ea typeface="Comfortaa"/>
                <a:cs typeface="Comfortaa"/>
                <a:sym typeface="Comfortaa"/>
              </a:rPr>
            </a:br>
            <a:r>
              <a:rPr b="1" lang="en-US" sz="1600">
                <a:solidFill>
                  <a:srgbClr val="FFFFFF"/>
                </a:solidFill>
                <a:latin charset="0" panose="02000503020000020003" pitchFamily="2" typeface="Avenir Book"/>
                <a:ea typeface="Comfortaa"/>
                <a:cs typeface="Comfortaa"/>
                <a:sym typeface="Comfortaa"/>
              </a:rPr>
              <a:t>60</a:t>
            </a:r>
            <a:r>
              <a:rPr lang="en-US" sz="1600">
                <a:solidFill>
                  <a:srgbClr val="EFEFEF"/>
                </a:solidFill>
                <a:latin charset="0" panose="02000503020000020003" pitchFamily="2" typeface="Avenir Book"/>
                <a:ea typeface="Comfortaa"/>
                <a:cs typeface="Comfortaa"/>
                <a:sym typeface="Comfortaa"/>
              </a:rPr>
              <a:t>%</a:t>
            </a:r>
          </a:p>
        </p:txBody>
      </p:sp>
      <p:sp>
        <p:nvSpPr>
          <p:cNvPr id="27" name="Google Shape;632;p33">
            <a:extLst>
              <a:ext uri="{FF2B5EF4-FFF2-40B4-BE49-F238E27FC236}">
                <a16:creationId xmlns:a16="http://schemas.microsoft.com/office/drawing/2014/main" id="{69694F39-2802-D4E5-B716-C26D7A8B5657}"/>
              </a:ext>
              <a:ext uri="{C183D7F6-B498-43B3-948B-1728B52AA6E4}">
                <adec:decorative xmlns:adec="http://schemas.microsoft.com/office/drawing/2017/decorative" val="1"/>
              </a:ext>
            </a:extLst>
          </p:cNvPr>
          <p:cNvSpPr txBox="1">
            <a:spLocks/>
          </p:cNvSpPr>
          <p:nvPr/>
        </p:nvSpPr>
        <p:spPr>
          <a:xfrm>
            <a:off x="878375" y="4997760"/>
            <a:ext cx="736000" cy="4912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chemeClr val="bg1"/>
                </a:solidFill>
                <a:latin charset="0" panose="02000503020000020003" pitchFamily="2" typeface="Avenir Medium"/>
                <a:ea charset="0" panose="02000503020000020003" pitchFamily="2" typeface="Avenir Medium"/>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a:lstStyle>
          <a:p>
            <a:pPr algn="ctr">
              <a:lnSpc>
                <a:spcPct val="90000"/>
              </a:lnSpc>
              <a:buClr>
                <a:srgbClr val="FFFFFF"/>
              </a:buClr>
              <a:buSzPts val="2400"/>
              <a:buFont typeface="Comfortaa"/>
              <a:buNone/>
            </a:pPr>
            <a:r>
              <a:rPr b="1" lang="en-US" sz="1600">
                <a:solidFill>
                  <a:srgbClr val="FFFFFF"/>
                </a:solidFill>
                <a:latin charset="0" panose="02000503020000020003" pitchFamily="2" typeface="Avenir Book"/>
                <a:ea typeface="Comfortaa"/>
                <a:cs typeface="Comfortaa"/>
                <a:sym typeface="Comfortaa"/>
              </a:rPr>
              <a:t>NO</a:t>
            </a:r>
            <a:br>
              <a:rPr b="1" lang="en-US" sz="1600">
                <a:solidFill>
                  <a:srgbClr val="FFFFFF"/>
                </a:solidFill>
                <a:latin charset="0" panose="02000503020000020003" pitchFamily="2" typeface="Avenir Book"/>
                <a:ea typeface="Comfortaa"/>
                <a:cs typeface="Comfortaa"/>
                <a:sym typeface="Comfortaa"/>
              </a:rPr>
            </a:br>
            <a:r>
              <a:rPr b="1" lang="en-US" sz="1600">
                <a:solidFill>
                  <a:srgbClr val="FFFFFF"/>
                </a:solidFill>
                <a:latin charset="0" panose="02000503020000020003" pitchFamily="2" typeface="Avenir Book"/>
                <a:ea typeface="Comfortaa"/>
                <a:cs typeface="Comfortaa"/>
                <a:sym typeface="Comfortaa"/>
              </a:rPr>
              <a:t>44</a:t>
            </a:r>
            <a:r>
              <a:rPr lang="en-US" sz="1600">
                <a:solidFill>
                  <a:srgbClr val="D9D9D9"/>
                </a:solidFill>
                <a:latin charset="0" panose="02000503020000020003" pitchFamily="2" typeface="Avenir Book"/>
                <a:ea typeface="Comfortaa"/>
                <a:cs typeface="Comfortaa"/>
                <a:sym typeface="Comfortaa"/>
              </a:rPr>
              <a:t>%</a:t>
            </a:r>
          </a:p>
        </p:txBody>
      </p:sp>
      <p:sp>
        <p:nvSpPr>
          <p:cNvPr id="28" name="Google Shape;633;p33">
            <a:extLst>
              <a:ext uri="{FF2B5EF4-FFF2-40B4-BE49-F238E27FC236}">
                <a16:creationId xmlns:a16="http://schemas.microsoft.com/office/drawing/2014/main" id="{FD4DB703-D706-0296-E558-4F459DBB1C84}"/>
              </a:ext>
              <a:ext uri="{C183D7F6-B498-43B3-948B-1728B52AA6E4}">
                <adec:decorative xmlns:adec="http://schemas.microsoft.com/office/drawing/2017/decorative" val="1"/>
              </a:ext>
            </a:extLst>
          </p:cNvPr>
          <p:cNvSpPr txBox="1">
            <a:spLocks/>
          </p:cNvSpPr>
          <p:nvPr/>
        </p:nvSpPr>
        <p:spPr>
          <a:xfrm>
            <a:off x="1718061" y="1259959"/>
            <a:ext cx="736000" cy="4912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chemeClr val="bg1"/>
                </a:solidFill>
                <a:latin charset="0" panose="02000503020000020003" pitchFamily="2" typeface="Avenir Medium"/>
                <a:ea charset="0" panose="02000503020000020003" pitchFamily="2" typeface="Avenir Medium"/>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a:lstStyle>
          <a:p>
            <a:pPr algn="ctr">
              <a:lnSpc>
                <a:spcPct val="90000"/>
              </a:lnSpc>
              <a:buClr>
                <a:srgbClr val="FFFFFF"/>
              </a:buClr>
              <a:buSzPts val="2400"/>
              <a:buFont typeface="Comfortaa"/>
              <a:buNone/>
            </a:pPr>
            <a:r>
              <a:rPr b="1" dirty="0" lang="en-US" sz="1600">
                <a:solidFill>
                  <a:schemeClr val="tx2"/>
                </a:solidFill>
                <a:latin charset="0" panose="02000503020000020003" pitchFamily="2" typeface="Avenir Book"/>
                <a:ea typeface="Comfortaa"/>
                <a:cs typeface="Comfortaa"/>
                <a:sym typeface="Comfortaa"/>
              </a:rPr>
              <a:t>YES</a:t>
            </a:r>
            <a:br>
              <a:rPr b="1" dirty="0" lang="en-US" sz="1600">
                <a:solidFill>
                  <a:schemeClr val="tx2"/>
                </a:solidFill>
                <a:latin charset="0" panose="02000503020000020003" pitchFamily="2" typeface="Avenir Book"/>
                <a:ea typeface="Comfortaa"/>
                <a:cs typeface="Comfortaa"/>
                <a:sym typeface="Comfortaa"/>
              </a:rPr>
            </a:br>
            <a:r>
              <a:rPr b="1" dirty="0" lang="en-US" sz="1600">
                <a:solidFill>
                  <a:schemeClr val="tx2"/>
                </a:solidFill>
                <a:latin charset="0" panose="02000503020000020003" pitchFamily="2" typeface="Avenir Book"/>
                <a:ea typeface="Comfortaa"/>
                <a:cs typeface="Comfortaa"/>
                <a:sym typeface="Comfortaa"/>
              </a:rPr>
              <a:t>44</a:t>
            </a:r>
            <a:r>
              <a:rPr dirty="0" lang="en-US" sz="1600">
                <a:solidFill>
                  <a:schemeClr val="tx2"/>
                </a:solidFill>
                <a:latin charset="0" panose="02000503020000020003" pitchFamily="2" typeface="Avenir Book"/>
                <a:ea typeface="Comfortaa"/>
                <a:cs typeface="Comfortaa"/>
                <a:sym typeface="Comfortaa"/>
              </a:rPr>
              <a:t>%</a:t>
            </a:r>
          </a:p>
        </p:txBody>
      </p:sp>
      <p:sp>
        <p:nvSpPr>
          <p:cNvPr id="29" name="Google Shape;634;p33">
            <a:extLst>
              <a:ext uri="{FF2B5EF4-FFF2-40B4-BE49-F238E27FC236}">
                <a16:creationId xmlns:a16="http://schemas.microsoft.com/office/drawing/2014/main" id="{C6A433BF-7B5D-E3F5-9F21-6E17E396365F}"/>
              </a:ext>
              <a:ext uri="{C183D7F6-B498-43B3-948B-1728B52AA6E4}">
                <adec:decorative xmlns:adec="http://schemas.microsoft.com/office/drawing/2017/decorative" val="1"/>
              </a:ext>
            </a:extLst>
          </p:cNvPr>
          <p:cNvSpPr txBox="1">
            <a:spLocks/>
          </p:cNvSpPr>
          <p:nvPr/>
        </p:nvSpPr>
        <p:spPr>
          <a:xfrm>
            <a:off x="1754524" y="3115515"/>
            <a:ext cx="736000" cy="4912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chemeClr val="bg1"/>
                </a:solidFill>
                <a:latin charset="0" panose="02000503020000020003" pitchFamily="2" typeface="Avenir Medium"/>
                <a:ea charset="0" panose="02000503020000020003" pitchFamily="2" typeface="Avenir Medium"/>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a:lstStyle>
          <a:p>
            <a:pPr algn="ctr">
              <a:lnSpc>
                <a:spcPct val="90000"/>
              </a:lnSpc>
              <a:buClr>
                <a:srgbClr val="FFFFFF"/>
              </a:buClr>
              <a:buSzPts val="2400"/>
              <a:buFont typeface="Comfortaa"/>
              <a:buNone/>
            </a:pPr>
            <a:r>
              <a:rPr b="1" lang="en-US" sz="1600">
                <a:solidFill>
                  <a:schemeClr val="tx2"/>
                </a:solidFill>
                <a:latin charset="0" panose="02000503020000020003" pitchFamily="2" typeface="Avenir Book"/>
                <a:ea typeface="Comfortaa"/>
                <a:cs typeface="Comfortaa"/>
                <a:sym typeface="Comfortaa"/>
              </a:rPr>
              <a:t>YES</a:t>
            </a:r>
            <a:br>
              <a:rPr b="1" lang="en-US" sz="1600">
                <a:solidFill>
                  <a:schemeClr val="tx2"/>
                </a:solidFill>
                <a:latin charset="0" panose="02000503020000020003" pitchFamily="2" typeface="Avenir Book"/>
                <a:ea typeface="Comfortaa"/>
                <a:cs typeface="Comfortaa"/>
                <a:sym typeface="Comfortaa"/>
              </a:rPr>
            </a:br>
            <a:r>
              <a:rPr b="1" lang="en-US" sz="1600">
                <a:solidFill>
                  <a:schemeClr val="tx2"/>
                </a:solidFill>
                <a:latin charset="0" panose="02000503020000020003" pitchFamily="2" typeface="Avenir Book"/>
                <a:ea typeface="Comfortaa"/>
                <a:cs typeface="Comfortaa"/>
                <a:sym typeface="Comfortaa"/>
              </a:rPr>
              <a:t>40</a:t>
            </a:r>
            <a:r>
              <a:rPr lang="en-US" sz="1600">
                <a:solidFill>
                  <a:schemeClr val="tx2"/>
                </a:solidFill>
                <a:latin charset="0" panose="02000503020000020003" pitchFamily="2" typeface="Avenir Book"/>
                <a:ea typeface="Comfortaa"/>
                <a:cs typeface="Comfortaa"/>
                <a:sym typeface="Comfortaa"/>
              </a:rPr>
              <a:t>%</a:t>
            </a:r>
          </a:p>
        </p:txBody>
      </p:sp>
      <p:sp>
        <p:nvSpPr>
          <p:cNvPr id="30" name="Google Shape;635;p33">
            <a:extLst>
              <a:ext uri="{FF2B5EF4-FFF2-40B4-BE49-F238E27FC236}">
                <a16:creationId xmlns:a16="http://schemas.microsoft.com/office/drawing/2014/main" id="{59474FF4-ABBC-BF50-D688-DA5A344CCC91}"/>
              </a:ext>
              <a:ext uri="{C183D7F6-B498-43B3-948B-1728B52AA6E4}">
                <adec:decorative xmlns:adec="http://schemas.microsoft.com/office/drawing/2017/decorative" val="1"/>
              </a:ext>
            </a:extLst>
          </p:cNvPr>
          <p:cNvSpPr txBox="1">
            <a:spLocks/>
          </p:cNvSpPr>
          <p:nvPr/>
        </p:nvSpPr>
        <p:spPr>
          <a:xfrm>
            <a:off x="1732860" y="5013363"/>
            <a:ext cx="736000" cy="4912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chemeClr val="bg1"/>
                </a:solidFill>
                <a:latin charset="0" panose="02000503020000020003" pitchFamily="2" typeface="Avenir Medium"/>
                <a:ea charset="0" panose="02000503020000020003" pitchFamily="2" typeface="Avenir Medium"/>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a:lstStyle>
          <a:p>
            <a:pPr algn="ctr">
              <a:lnSpc>
                <a:spcPct val="90000"/>
              </a:lnSpc>
              <a:buClr>
                <a:srgbClr val="FFFFFF"/>
              </a:buClr>
              <a:buSzPts val="2400"/>
              <a:buFont typeface="Comfortaa"/>
              <a:buNone/>
            </a:pPr>
            <a:r>
              <a:rPr b="1" lang="en-US" sz="1600">
                <a:solidFill>
                  <a:schemeClr val="tx2"/>
                </a:solidFill>
                <a:latin charset="0" panose="02000503020000020003" pitchFamily="2" typeface="Avenir Book"/>
                <a:ea typeface="Comfortaa"/>
                <a:cs typeface="Comfortaa"/>
                <a:sym typeface="Comfortaa"/>
              </a:rPr>
              <a:t>YES</a:t>
            </a:r>
            <a:br>
              <a:rPr b="1" lang="en-US" sz="1600">
                <a:solidFill>
                  <a:schemeClr val="tx2"/>
                </a:solidFill>
                <a:latin charset="0" panose="02000503020000020003" pitchFamily="2" typeface="Avenir Book"/>
                <a:ea typeface="Comfortaa"/>
                <a:cs typeface="Comfortaa"/>
                <a:sym typeface="Comfortaa"/>
              </a:rPr>
            </a:br>
            <a:r>
              <a:rPr b="1" lang="en-US" sz="1600">
                <a:solidFill>
                  <a:schemeClr val="tx2"/>
                </a:solidFill>
                <a:latin charset="0" panose="02000503020000020003" pitchFamily="2" typeface="Avenir Book"/>
                <a:ea typeface="Comfortaa"/>
                <a:cs typeface="Comfortaa"/>
                <a:sym typeface="Comfortaa"/>
              </a:rPr>
              <a:t>56</a:t>
            </a:r>
            <a:r>
              <a:rPr lang="en-US" sz="1600">
                <a:solidFill>
                  <a:schemeClr val="tx2"/>
                </a:solidFill>
                <a:latin charset="0" panose="02000503020000020003" pitchFamily="2" typeface="Avenir Book"/>
                <a:ea typeface="Comfortaa"/>
                <a:cs typeface="Comfortaa"/>
                <a:sym typeface="Comfortaa"/>
              </a:rPr>
              <a:t>%</a:t>
            </a:r>
          </a:p>
        </p:txBody>
      </p:sp>
      <p:sp>
        <p:nvSpPr>
          <p:cNvPr id="31" name="Google Shape;636;p33">
            <a:extLst>
              <a:ext uri="{FF2B5EF4-FFF2-40B4-BE49-F238E27FC236}">
                <a16:creationId xmlns:a16="http://schemas.microsoft.com/office/drawing/2014/main" id="{1EEAEAF8-6592-7BCA-9FC1-7A3F9DFA1343}"/>
              </a:ext>
              <a:ext uri="{C183D7F6-B498-43B3-948B-1728B52AA6E4}">
                <adec:decorative xmlns:adec="http://schemas.microsoft.com/office/drawing/2017/decorative" val="1"/>
              </a:ext>
            </a:extLst>
          </p:cNvPr>
          <p:cNvSpPr txBox="1">
            <a:spLocks/>
          </p:cNvSpPr>
          <p:nvPr/>
        </p:nvSpPr>
        <p:spPr>
          <a:xfrm rot="-5400000">
            <a:off x="-387312" y="2968136"/>
            <a:ext cx="1746000" cy="6844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chemeClr val="bg1"/>
                </a:solidFill>
                <a:latin charset="0" panose="02000503020000020003" pitchFamily="2" typeface="Avenir Medium"/>
                <a:ea charset="0" panose="02000503020000020003" pitchFamily="2" typeface="Avenir Medium"/>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a:lstStyle>
          <a:p>
            <a:pPr algn="ctr">
              <a:lnSpc>
                <a:spcPct val="90000"/>
              </a:lnSpc>
              <a:buClr>
                <a:schemeClr val="dk1"/>
              </a:buClr>
              <a:buSzPts val="2400"/>
              <a:buFont typeface="Comfortaa"/>
              <a:buNone/>
            </a:pPr>
            <a:r>
              <a:rPr dirty="0" lang="en-US" sz="2400">
                <a:solidFill>
                  <a:schemeClr val="tx1"/>
                </a:solidFill>
                <a:latin charset="0" panose="02000503020000020003" pitchFamily="2" typeface="Avenir Book"/>
                <a:ea typeface="Comfortaa"/>
                <a:cs typeface="Comfortaa"/>
                <a:sym typeface="Comfortaa"/>
              </a:rPr>
              <a:t>On Time</a:t>
            </a:r>
          </a:p>
        </p:txBody>
      </p:sp>
      <p:sp>
        <p:nvSpPr>
          <p:cNvPr id="32" name="Google Shape;637;p33">
            <a:extLst>
              <a:ext uri="{FF2B5EF4-FFF2-40B4-BE49-F238E27FC236}">
                <a16:creationId xmlns:a16="http://schemas.microsoft.com/office/drawing/2014/main" id="{787961C2-E76C-AB6C-0A11-531CE92377EF}"/>
              </a:ext>
              <a:ext uri="{C183D7F6-B498-43B3-948B-1728B52AA6E4}">
                <adec:decorative xmlns:adec="http://schemas.microsoft.com/office/drawing/2017/decorative" val="1"/>
              </a:ext>
            </a:extLst>
          </p:cNvPr>
          <p:cNvSpPr txBox="1">
            <a:spLocks/>
          </p:cNvSpPr>
          <p:nvPr/>
        </p:nvSpPr>
        <p:spPr>
          <a:xfrm rot="-5400000">
            <a:off x="-769099" y="1058855"/>
            <a:ext cx="2413600" cy="6844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chemeClr val="bg1"/>
                </a:solidFill>
                <a:latin charset="0" panose="02000503020000020003" pitchFamily="2" typeface="Avenir Medium"/>
                <a:ea charset="0" panose="02000503020000020003" pitchFamily="2" typeface="Avenir Medium"/>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a:lstStyle>
          <a:p>
            <a:pPr algn="ctr">
              <a:lnSpc>
                <a:spcPct val="90000"/>
              </a:lnSpc>
              <a:buClr>
                <a:schemeClr val="dk1"/>
              </a:buClr>
              <a:buSzPts val="2400"/>
              <a:buFont typeface="Comfortaa"/>
              <a:buNone/>
            </a:pPr>
            <a:r>
              <a:rPr dirty="0" lang="en-US" sz="2400">
                <a:solidFill>
                  <a:schemeClr val="tx1"/>
                </a:solidFill>
                <a:latin charset="0" panose="02000503020000020003" pitchFamily="2" typeface="Avenir Book"/>
                <a:ea typeface="Comfortaa"/>
                <a:cs typeface="Comfortaa"/>
                <a:sym typeface="Comfortaa"/>
              </a:rPr>
              <a:t>On Budget</a:t>
            </a:r>
          </a:p>
        </p:txBody>
      </p:sp>
      <p:sp>
        <p:nvSpPr>
          <p:cNvPr id="33" name="Google Shape;638;p33">
            <a:extLst>
              <a:ext uri="{FF2B5EF4-FFF2-40B4-BE49-F238E27FC236}">
                <a16:creationId xmlns:a16="http://schemas.microsoft.com/office/drawing/2014/main" id="{F463CE74-E712-49B8-BA70-BDDCAB9607F2}"/>
              </a:ext>
              <a:ext uri="{C183D7F6-B498-43B3-948B-1728B52AA6E4}">
                <adec:decorative xmlns:adec="http://schemas.microsoft.com/office/drawing/2017/decorative" val="1"/>
              </a:ext>
            </a:extLst>
          </p:cNvPr>
          <p:cNvSpPr txBox="1">
            <a:spLocks/>
          </p:cNvSpPr>
          <p:nvPr/>
        </p:nvSpPr>
        <p:spPr>
          <a:xfrm rot="-5400000">
            <a:off x="-607959" y="4827487"/>
            <a:ext cx="2115200" cy="684400"/>
          </a:xfrm>
          <a:prstGeom prst="rect">
            <a:avLst/>
          </a:prstGeom>
          <a:noFill/>
          <a:ln>
            <a:noFill/>
          </a:ln>
        </p:spPr>
        <p:txBody>
          <a:bodyPr anchor="b" anchorCtr="0" bIns="121900" lIns="121900" rIns="121900" spcFirstLastPara="1" tIns="121900" wrap="square">
            <a:noAutofit/>
          </a:bodyPr>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chemeClr val="bg1"/>
                </a:solidFill>
                <a:latin charset="0" panose="02000503020000020003" pitchFamily="2" typeface="Avenir Medium"/>
                <a:ea charset="0" panose="02000503020000020003" pitchFamily="2" typeface="Avenir Medium"/>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a:lstStyle>
          <a:p>
            <a:pPr algn="ctr">
              <a:lnSpc>
                <a:spcPct val="90000"/>
              </a:lnSpc>
              <a:buClr>
                <a:schemeClr val="dk1"/>
              </a:buClr>
              <a:buSzPts val="2400"/>
              <a:buFont typeface="Comfortaa"/>
              <a:buNone/>
            </a:pPr>
            <a:r>
              <a:rPr dirty="0" lang="en-US" sz="2400">
                <a:solidFill>
                  <a:schemeClr val="tx1"/>
                </a:solidFill>
                <a:latin charset="0" panose="02000503020000020003" pitchFamily="2" typeface="Avenir Book"/>
                <a:ea typeface="Comfortaa"/>
                <a:cs typeface="Comfortaa"/>
                <a:sym typeface="Comfortaa"/>
              </a:rPr>
              <a:t>On Target</a:t>
            </a:r>
          </a:p>
        </p:txBody>
      </p:sp>
      <p:sp>
        <p:nvSpPr>
          <p:cNvPr id="37" name="Google Shape;642;p33">
            <a:extLst>
              <a:ext uri="{FF2B5EF4-FFF2-40B4-BE49-F238E27FC236}">
                <a16:creationId xmlns:a16="http://schemas.microsoft.com/office/drawing/2014/main" id="{E823203E-B078-5D80-65EE-135D4E9FDB4A}"/>
              </a:ext>
              <a:ext uri="{C183D7F6-B498-43B3-948B-1728B52AA6E4}">
                <adec:decorative xmlns:adec="http://schemas.microsoft.com/office/drawing/2017/decorative" val="1"/>
              </a:ext>
            </a:extLst>
          </p:cNvPr>
          <p:cNvSpPr txBox="1"/>
          <p:nvPr/>
        </p:nvSpPr>
        <p:spPr>
          <a:xfrm>
            <a:off x="3066580" y="3834063"/>
            <a:ext cx="4938432" cy="2090578"/>
          </a:xfrm>
          <a:prstGeom prst="rect">
            <a:avLst/>
          </a:prstGeom>
          <a:noFill/>
          <a:ln>
            <a:noFill/>
          </a:ln>
        </p:spPr>
        <p:txBody>
          <a:bodyPr anchor="t" anchorCtr="0" bIns="121900" lIns="121900" rIns="121900" spcFirstLastPara="1" tIns="121900" wrap="square">
            <a:noAutofit/>
          </a:bodyPr>
          <a:lstStyle/>
          <a:p>
            <a:pPr lvl="0"/>
            <a:r>
              <a:rPr dirty="0" lang="en-US" sz="2400">
                <a:latin charset="0" panose="02000503020000020003" pitchFamily="2" typeface="Avenir Book"/>
              </a:rPr>
              <a:t>“The results for all projects show that agile projects have almost four times the success rate as waterfall projects, and waterfall projects have three times the failure rate as agile projects.”</a:t>
            </a:r>
            <a:endParaRPr dirty="0" sz="2400">
              <a:solidFill>
                <a:schemeClr val="dk1"/>
              </a:solidFill>
              <a:latin charset="0" panose="02000503020000020003" pitchFamily="2" typeface="Avenir Book"/>
              <a:ea typeface="Comfortaa"/>
              <a:cs typeface="Comfortaa"/>
              <a:sym typeface="Comfortaa"/>
            </a:endParaRPr>
          </a:p>
        </p:txBody>
      </p:sp>
      <p:pic>
        <p:nvPicPr>
          <p:cNvPr descr="Diagram of the Waterfall Model of Design" id="35" name="Google Shape;640;p33">
            <a:extLst>
              <a:ext uri="{FF2B5EF4-FFF2-40B4-BE49-F238E27FC236}">
                <a16:creationId xmlns:a16="http://schemas.microsoft.com/office/drawing/2014/main" id="{034574F2-A179-EDEE-076D-84C20BA52F60}"/>
              </a:ext>
            </a:extLst>
          </p:cNvPr>
          <p:cNvPicPr preferRelativeResize="0"/>
          <p:nvPr/>
        </p:nvPicPr>
        <p:blipFill rotWithShape="1">
          <a:blip r:embed="rId6">
            <a:clrChange>
              <a:clrFrom>
                <a:srgbClr val="FFFFFF"/>
              </a:clrFrom>
              <a:clrTo>
                <a:srgbClr val="FFFFFF">
                  <a:alpha val="0"/>
                </a:srgbClr>
              </a:clrTo>
            </a:clrChange>
            <a:alphaModFix/>
          </a:blip>
          <a:srcRect/>
          <a:stretch/>
        </p:blipFill>
        <p:spPr>
          <a:xfrm>
            <a:off x="3459267" y="893183"/>
            <a:ext cx="8226501" cy="5191900"/>
          </a:xfrm>
          <a:prstGeom prst="rect">
            <a:avLst/>
          </a:prstGeom>
          <a:noFill/>
          <a:ln>
            <a:no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A4640AC-EECD-3C34-4440-FA7A5407DC6B}"/>
              </a:ext>
            </a:extLst>
          </p:cNvPr>
          <p:cNvSpPr>
            <a:spLocks noGrp="1"/>
          </p:cNvSpPr>
          <p:nvPr>
            <p:ph type="title"/>
          </p:nvPr>
        </p:nvSpPr>
        <p:spPr/>
        <p:txBody>
          <a:bodyPr/>
          <a:lstStyle/>
          <a:p>
            <a:r>
              <a:rPr dirty="0" lang="en-US"/>
              <a:t>The Agile SE Process</a:t>
            </a:r>
          </a:p>
        </p:txBody>
      </p:sp>
      <p:pic>
        <p:nvPicPr>
          <p:cNvPr descr="Diagram of the agile software development process" id="12" name="Content Placeholder 11">
            <a:extLst>
              <a:ext uri="{FF2B5EF4-FFF2-40B4-BE49-F238E27FC236}">
                <a16:creationId xmlns:a16="http://schemas.microsoft.com/office/drawing/2014/main" id="{B66FFE7D-8F0B-A444-1854-3EF269970A76}"/>
              </a:ext>
            </a:extLst>
          </p:cNvPr>
          <p:cNvPicPr>
            <a:picLocks noChangeAspect="1" noGrp="1"/>
          </p:cNvPicPr>
          <p:nvPr>
            <p:ph idx="1"/>
          </p:nvPr>
        </p:nvPicPr>
        <p:blipFill rotWithShape="1">
          <a:blip r:embed="rId2">
            <a:clrChange>
              <a:clrFrom>
                <a:srgbClr val="E9F6FE"/>
              </a:clrFrom>
              <a:clrTo>
                <a:srgbClr val="E9F6FE">
                  <a:alpha val="0"/>
                </a:srgbClr>
              </a:clrTo>
            </a:clrChange>
            <a:extLst>
              <a:ext uri="{28A0092B-C50C-407E-A947-70E740481C1C}">
                <a14:useLocalDpi xmlns:a14="http://schemas.microsoft.com/office/drawing/2010/main" val="0"/>
              </a:ext>
            </a:extLst>
          </a:blip>
          <a:srcRect t="23678"/>
          <a:stretch/>
        </p:blipFill>
        <p:spPr>
          <a:xfrm>
            <a:off x="-327259" y="1664265"/>
            <a:ext cx="12624507" cy="4476653"/>
          </a:xfrm>
        </p:spPr>
      </p:pic>
      <p:sp>
        <p:nvSpPr>
          <p:cNvPr id="14" name="TextBox 13">
            <a:extLst>
              <a:ext uri="{FF2B5EF4-FFF2-40B4-BE49-F238E27FC236}">
                <a16:creationId xmlns:a16="http://schemas.microsoft.com/office/drawing/2014/main" id="{3390E037-0CC0-E14E-F3F0-2C7B481B27DB}"/>
              </a:ext>
            </a:extLst>
          </p:cNvPr>
          <p:cNvSpPr txBox="1"/>
          <p:nvPr/>
        </p:nvSpPr>
        <p:spPr>
          <a:xfrm>
            <a:off x="71990" y="6517154"/>
            <a:ext cx="6095158" cy="215444"/>
          </a:xfrm>
          <a:prstGeom prst="rect">
            <a:avLst/>
          </a:prstGeom>
          <a:noFill/>
        </p:spPr>
        <p:txBody>
          <a:bodyPr wrap="square">
            <a:spAutoFit/>
          </a:bodyPr>
          <a:lstStyle/>
          <a:p>
            <a:r>
              <a:rPr dirty="0" lang="en-US" sz="800">
                <a:solidFill>
                  <a:srgbClr val="000000"/>
                </a:solidFill>
              </a:rPr>
              <a:t>From </a:t>
            </a:r>
            <a:r>
              <a:rPr dirty="0" lang="en-US" sz="800">
                <a:solidFill>
                  <a:srgbClr val="000000"/>
                </a:solidFill>
                <a:hlinkClick r:id="rId3">
                  <a:extLst>
                    <a:ext uri="{A12FA001-AC4F-418D-AE19-62706E023703}">
                      <ahyp:hlinkClr xmlns:ahyp="http://schemas.microsoft.com/office/drawing/2018/hyperlinkcolor" val="tx"/>
                    </a:ext>
                  </a:extLst>
                </a:hlinkClick>
              </a:rPr>
              <a:t>Is Agile Always the Best Solution</a:t>
            </a:r>
            <a:r>
              <a:rPr dirty="0" lang="en-US" sz="800"/>
              <a:t> </a:t>
            </a:r>
          </a:p>
        </p:txBody>
      </p:sp>
    </p:spTree>
    <p:extLst>
      <p:ext uri="{BB962C8B-B14F-4D97-AF65-F5344CB8AC3E}">
        <p14:creationId xmlns:p14="http://schemas.microsoft.com/office/powerpoint/2010/main" val="4221278689"/>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F1589-0808-C960-7120-6E3A00F1857A}"/>
              </a:ext>
            </a:extLst>
          </p:cNvPr>
          <p:cNvSpPr>
            <a:spLocks noGrp="1"/>
          </p:cNvSpPr>
          <p:nvPr>
            <p:ph idx="4294967295" type="title"/>
          </p:nvPr>
        </p:nvSpPr>
        <p:spPr>
          <a:xfrm>
            <a:off x="340252" y="241942"/>
            <a:ext cx="4902307" cy="1449387"/>
          </a:xfrm>
        </p:spPr>
        <p:txBody>
          <a:bodyPr>
            <a:normAutofit/>
          </a:bodyPr>
          <a:lstStyle/>
          <a:p>
            <a:r>
              <a:rPr dirty="0" lang="en-US" sz="5400"/>
              <a:t>The HCD Process</a:t>
            </a:r>
          </a:p>
        </p:txBody>
      </p:sp>
      <p:grpSp>
        <p:nvGrpSpPr>
          <p:cNvPr descr="Diagram of the Human Centered Design process" id="3" name="Group 2">
            <a:extLst>
              <a:ext uri="{FF2B5EF4-FFF2-40B4-BE49-F238E27FC236}">
                <a16:creationId xmlns:a16="http://schemas.microsoft.com/office/drawing/2014/main" id="{8725F59A-E196-0965-D71A-FAB39A2AC7FE}"/>
              </a:ext>
            </a:extLst>
          </p:cNvPr>
          <p:cNvGrpSpPr/>
          <p:nvPr/>
        </p:nvGrpSpPr>
        <p:grpSpPr>
          <a:xfrm>
            <a:off x="1277430" y="411170"/>
            <a:ext cx="10433731" cy="9149698"/>
            <a:chOff x="1277430" y="411170"/>
            <a:chExt cx="10433731" cy="9149698"/>
          </a:xfrm>
        </p:grpSpPr>
        <p:sp>
          <p:nvSpPr>
            <p:cNvPr id="16" name="Arrow: Circular 15">
              <a:extLst>
                <a:ext uri="{FF2B5EF4-FFF2-40B4-BE49-F238E27FC236}">
                  <a16:creationId xmlns:a16="http://schemas.microsoft.com/office/drawing/2014/main" id="{70AE2309-578D-94B0-B916-3593C76918A0}"/>
                </a:ext>
              </a:extLst>
            </p:cNvPr>
            <p:cNvSpPr/>
            <p:nvPr/>
          </p:nvSpPr>
          <p:spPr>
            <a:xfrm rot="13779122">
              <a:off x="5520357" y="667502"/>
              <a:ext cx="5601368" cy="5601368"/>
            </a:xfrm>
            <a:prstGeom prst="circularArrow">
              <a:avLst>
                <a:gd fmla="val 5502" name="adj1"/>
                <a:gd fmla="val 1028237" name="adj2"/>
                <a:gd fmla="val 20544483" name="adj3"/>
                <a:gd fmla="val 1219287" name="adj4"/>
                <a:gd fmla="val 7761" name="adj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lang="en-US">
                <a:solidFill>
                  <a:schemeClr val="tx1"/>
                </a:solidFill>
              </a:endParaRPr>
            </a:p>
          </p:txBody>
        </p:sp>
        <p:grpSp>
          <p:nvGrpSpPr>
            <p:cNvPr id="7" name="Group 6">
              <a:extLst>
                <a:ext uri="{FF2B5EF4-FFF2-40B4-BE49-F238E27FC236}">
                  <a16:creationId xmlns:a16="http://schemas.microsoft.com/office/drawing/2014/main" id="{82BD049F-E6E1-EFAA-FB46-5D17CFA427DC}"/>
                </a:ext>
              </a:extLst>
            </p:cNvPr>
            <p:cNvGrpSpPr/>
            <p:nvPr/>
          </p:nvGrpSpPr>
          <p:grpSpPr>
            <a:xfrm>
              <a:off x="4930922" y="809587"/>
              <a:ext cx="6780239" cy="5317199"/>
              <a:chOff x="5090094" y="732243"/>
              <a:chExt cx="6780239" cy="5317199"/>
            </a:xfrm>
          </p:grpSpPr>
          <p:sp>
            <p:nvSpPr>
              <p:cNvPr id="8" name="Freeform: Shape 7">
                <a:extLst>
                  <a:ext uri="{FF2B5EF4-FFF2-40B4-BE49-F238E27FC236}">
                    <a16:creationId xmlns:a16="http://schemas.microsoft.com/office/drawing/2014/main" id="{B403C4CA-403F-7143-2B32-3B07474148BA}"/>
                  </a:ext>
                </a:extLst>
              </p:cNvPr>
              <p:cNvSpPr/>
              <p:nvPr/>
            </p:nvSpPr>
            <p:spPr>
              <a:xfrm>
                <a:off x="7108614" y="732243"/>
                <a:ext cx="2743200" cy="1280160"/>
              </a:xfrm>
              <a:custGeom>
                <a:avLst/>
                <a:gdLst>
                  <a:gd fmla="*/ 0 w 1876846" name="csX0"/>
                  <a:gd fmla="*/ 203329 h 1219950" name="csY0"/>
                  <a:gd fmla="*/ 203329 w 1876846" name="csX1"/>
                  <a:gd fmla="*/ 0 h 1219950" name="csY1"/>
                  <a:gd fmla="*/ 1673517 w 1876846" name="csX2"/>
                  <a:gd fmla="*/ 0 h 1219950" name="csY2"/>
                  <a:gd fmla="*/ 1876846 w 1876846" name="csX3"/>
                  <a:gd fmla="*/ 203329 h 1219950" name="csY3"/>
                  <a:gd fmla="*/ 1876846 w 1876846" name="csX4"/>
                  <a:gd fmla="*/ 1016621 h 1219950" name="csY4"/>
                  <a:gd fmla="*/ 1673517 w 1876846" name="csX5"/>
                  <a:gd fmla="*/ 1219950 h 1219950" name="csY5"/>
                  <a:gd fmla="*/ 203329 w 1876846" name="csX6"/>
                  <a:gd fmla="*/ 1219950 h 1219950" name="csY6"/>
                  <a:gd fmla="*/ 0 w 1876846" name="csX7"/>
                  <a:gd fmla="*/ 1016621 h 1219950" name="csY7"/>
                  <a:gd fmla="*/ 0 w 1876846" name="csX8"/>
                  <a:gd fmla="*/ 203329 h 1219950" name="csY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b="b" l="l" r="r" t="t"/>
                <a:pathLst>
                  <a:path h="1219950" w="1876846">
                    <a:moveTo>
                      <a:pt x="0" y="203329"/>
                    </a:moveTo>
                    <a:cubicBezTo>
                      <a:pt x="0" y="91033"/>
                      <a:pt x="91033" y="0"/>
                      <a:pt x="203329" y="0"/>
                    </a:cubicBezTo>
                    <a:lnTo>
                      <a:pt x="1673517" y="0"/>
                    </a:lnTo>
                    <a:cubicBezTo>
                      <a:pt x="1785813" y="0"/>
                      <a:pt x="1876846" y="91033"/>
                      <a:pt x="1876846" y="203329"/>
                    </a:cubicBezTo>
                    <a:lnTo>
                      <a:pt x="1876846" y="1016621"/>
                    </a:lnTo>
                    <a:cubicBezTo>
                      <a:pt x="1876846" y="1128917"/>
                      <a:pt x="1785813" y="1219950"/>
                      <a:pt x="1673517" y="1219950"/>
                    </a:cubicBezTo>
                    <a:lnTo>
                      <a:pt x="203329" y="1219950"/>
                    </a:lnTo>
                    <a:cubicBezTo>
                      <a:pt x="91033" y="1219950"/>
                      <a:pt x="0" y="1128917"/>
                      <a:pt x="0" y="1016621"/>
                    </a:cubicBezTo>
                    <a:lnTo>
                      <a:pt x="0" y="203329"/>
                    </a:lnTo>
                    <a:close/>
                  </a:path>
                </a:pathLst>
              </a:custGeom>
              <a:solidFill>
                <a:schemeClr val="bg1">
                  <a:lumMod val="85000"/>
                </a:schemeClr>
              </a:solidFill>
              <a:ln w="57150">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bIns="143373" lIns="143373" numCol="1" rIns="143373" spcCol="1270" spcFirstLastPara="0" tIns="143373" vert="horz" wrap="square">
                <a:noAutofit/>
              </a:bodyPr>
              <a:lstStyle/>
              <a:p>
                <a:pPr algn="ctr" defTabSz="977900" indent="0" lvl="0" marL="0">
                  <a:lnSpc>
                    <a:spcPct val="90000"/>
                  </a:lnSpc>
                  <a:spcBef>
                    <a:spcPct val="0"/>
                  </a:spcBef>
                  <a:spcAft>
                    <a:spcPct val="35000"/>
                  </a:spcAft>
                  <a:buNone/>
                </a:pPr>
                <a:r>
                  <a:rPr dirty="0" kern="1200" lang="en-US" sz="3200">
                    <a:solidFill>
                      <a:schemeClr val="tx2"/>
                    </a:solidFill>
                  </a:rPr>
                  <a:t>Assess Needs</a:t>
                </a:r>
              </a:p>
            </p:txBody>
          </p:sp>
          <p:sp>
            <p:nvSpPr>
              <p:cNvPr id="10" name="Freeform: Shape 9">
                <a:extLst>
                  <a:ext uri="{FF2B5EF4-FFF2-40B4-BE49-F238E27FC236}">
                    <a16:creationId xmlns:a16="http://schemas.microsoft.com/office/drawing/2014/main" id="{C01D04BA-026F-399C-7EF7-D36BE525591E}"/>
                  </a:ext>
                </a:extLst>
              </p:cNvPr>
              <p:cNvSpPr/>
              <p:nvPr/>
            </p:nvSpPr>
            <p:spPr>
              <a:xfrm>
                <a:off x="9127133" y="2750762"/>
                <a:ext cx="2743200" cy="1280160"/>
              </a:xfrm>
              <a:custGeom>
                <a:avLst/>
                <a:gdLst>
                  <a:gd fmla="*/ 0 w 1876846" name="csX0"/>
                  <a:gd fmla="*/ 203329 h 1219950" name="csY0"/>
                  <a:gd fmla="*/ 203329 w 1876846" name="csX1"/>
                  <a:gd fmla="*/ 0 h 1219950" name="csY1"/>
                  <a:gd fmla="*/ 1673517 w 1876846" name="csX2"/>
                  <a:gd fmla="*/ 0 h 1219950" name="csY2"/>
                  <a:gd fmla="*/ 1876846 w 1876846" name="csX3"/>
                  <a:gd fmla="*/ 203329 h 1219950" name="csY3"/>
                  <a:gd fmla="*/ 1876846 w 1876846" name="csX4"/>
                  <a:gd fmla="*/ 1016621 h 1219950" name="csY4"/>
                  <a:gd fmla="*/ 1673517 w 1876846" name="csX5"/>
                  <a:gd fmla="*/ 1219950 h 1219950" name="csY5"/>
                  <a:gd fmla="*/ 203329 w 1876846" name="csX6"/>
                  <a:gd fmla="*/ 1219950 h 1219950" name="csY6"/>
                  <a:gd fmla="*/ 0 w 1876846" name="csX7"/>
                  <a:gd fmla="*/ 1016621 h 1219950" name="csY7"/>
                  <a:gd fmla="*/ 0 w 1876846" name="csX8"/>
                  <a:gd fmla="*/ 203329 h 1219950" name="csY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b="b" l="l" r="r" t="t"/>
                <a:pathLst>
                  <a:path h="1219950" w="1876846">
                    <a:moveTo>
                      <a:pt x="0" y="203329"/>
                    </a:moveTo>
                    <a:cubicBezTo>
                      <a:pt x="0" y="91033"/>
                      <a:pt x="91033" y="0"/>
                      <a:pt x="203329" y="0"/>
                    </a:cubicBezTo>
                    <a:lnTo>
                      <a:pt x="1673517" y="0"/>
                    </a:lnTo>
                    <a:cubicBezTo>
                      <a:pt x="1785813" y="0"/>
                      <a:pt x="1876846" y="91033"/>
                      <a:pt x="1876846" y="203329"/>
                    </a:cubicBezTo>
                    <a:lnTo>
                      <a:pt x="1876846" y="1016621"/>
                    </a:lnTo>
                    <a:cubicBezTo>
                      <a:pt x="1876846" y="1128917"/>
                      <a:pt x="1785813" y="1219950"/>
                      <a:pt x="1673517" y="1219950"/>
                    </a:cubicBezTo>
                    <a:lnTo>
                      <a:pt x="203329" y="1219950"/>
                    </a:lnTo>
                    <a:cubicBezTo>
                      <a:pt x="91033" y="1219950"/>
                      <a:pt x="0" y="1128917"/>
                      <a:pt x="0" y="1016621"/>
                    </a:cubicBezTo>
                    <a:lnTo>
                      <a:pt x="0" y="203329"/>
                    </a:lnTo>
                    <a:close/>
                  </a:path>
                </a:pathLst>
              </a:custGeom>
              <a:solidFill>
                <a:schemeClr val="bg1">
                  <a:lumMod val="85000"/>
                </a:schemeClr>
              </a:solidFill>
              <a:ln w="57150">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bIns="143373" lIns="143373" numCol="1" rIns="143373" spcCol="1270" spcFirstLastPara="0" tIns="143373" vert="horz" wrap="square">
                <a:noAutofit/>
              </a:bodyPr>
              <a:lstStyle/>
              <a:p>
                <a:pPr algn="ctr" defTabSz="977900" indent="0" lvl="0" marL="0">
                  <a:lnSpc>
                    <a:spcPct val="90000"/>
                  </a:lnSpc>
                  <a:spcBef>
                    <a:spcPct val="0"/>
                  </a:spcBef>
                  <a:spcAft>
                    <a:spcPct val="35000"/>
                  </a:spcAft>
                  <a:buNone/>
                </a:pPr>
                <a:r>
                  <a:rPr dirty="0" kern="1200" lang="en-US" sz="3200">
                    <a:solidFill>
                      <a:schemeClr val="tx2"/>
                    </a:solidFill>
                  </a:rPr>
                  <a:t>Specify Requirements</a:t>
                </a:r>
              </a:p>
            </p:txBody>
          </p:sp>
          <p:sp>
            <p:nvSpPr>
              <p:cNvPr id="12" name="Freeform: Shape 11">
                <a:extLst>
                  <a:ext uri="{FF2B5EF4-FFF2-40B4-BE49-F238E27FC236}">
                    <a16:creationId xmlns:a16="http://schemas.microsoft.com/office/drawing/2014/main" id="{693C2023-80DC-BEE8-15A3-5508447E65B7}"/>
                  </a:ext>
                </a:extLst>
              </p:cNvPr>
              <p:cNvSpPr/>
              <p:nvPr/>
            </p:nvSpPr>
            <p:spPr>
              <a:xfrm>
                <a:off x="7108614" y="4769282"/>
                <a:ext cx="2743200" cy="1280160"/>
              </a:xfrm>
              <a:custGeom>
                <a:avLst/>
                <a:gdLst>
                  <a:gd fmla="*/ 0 w 1876846" name="csX0"/>
                  <a:gd fmla="*/ 203329 h 1219950" name="csY0"/>
                  <a:gd fmla="*/ 203329 w 1876846" name="csX1"/>
                  <a:gd fmla="*/ 0 h 1219950" name="csY1"/>
                  <a:gd fmla="*/ 1673517 w 1876846" name="csX2"/>
                  <a:gd fmla="*/ 0 h 1219950" name="csY2"/>
                  <a:gd fmla="*/ 1876846 w 1876846" name="csX3"/>
                  <a:gd fmla="*/ 203329 h 1219950" name="csY3"/>
                  <a:gd fmla="*/ 1876846 w 1876846" name="csX4"/>
                  <a:gd fmla="*/ 1016621 h 1219950" name="csY4"/>
                  <a:gd fmla="*/ 1673517 w 1876846" name="csX5"/>
                  <a:gd fmla="*/ 1219950 h 1219950" name="csY5"/>
                  <a:gd fmla="*/ 203329 w 1876846" name="csX6"/>
                  <a:gd fmla="*/ 1219950 h 1219950" name="csY6"/>
                  <a:gd fmla="*/ 0 w 1876846" name="csX7"/>
                  <a:gd fmla="*/ 1016621 h 1219950" name="csY7"/>
                  <a:gd fmla="*/ 0 w 1876846" name="csX8"/>
                  <a:gd fmla="*/ 203329 h 1219950" name="csY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b="b" l="l" r="r" t="t"/>
                <a:pathLst>
                  <a:path h="1219950" w="1876846">
                    <a:moveTo>
                      <a:pt x="0" y="203329"/>
                    </a:moveTo>
                    <a:cubicBezTo>
                      <a:pt x="0" y="91033"/>
                      <a:pt x="91033" y="0"/>
                      <a:pt x="203329" y="0"/>
                    </a:cubicBezTo>
                    <a:lnTo>
                      <a:pt x="1673517" y="0"/>
                    </a:lnTo>
                    <a:cubicBezTo>
                      <a:pt x="1785813" y="0"/>
                      <a:pt x="1876846" y="91033"/>
                      <a:pt x="1876846" y="203329"/>
                    </a:cubicBezTo>
                    <a:lnTo>
                      <a:pt x="1876846" y="1016621"/>
                    </a:lnTo>
                    <a:cubicBezTo>
                      <a:pt x="1876846" y="1128917"/>
                      <a:pt x="1785813" y="1219950"/>
                      <a:pt x="1673517" y="1219950"/>
                    </a:cubicBezTo>
                    <a:lnTo>
                      <a:pt x="203329" y="1219950"/>
                    </a:lnTo>
                    <a:cubicBezTo>
                      <a:pt x="91033" y="1219950"/>
                      <a:pt x="0" y="1128917"/>
                      <a:pt x="0" y="1016621"/>
                    </a:cubicBezTo>
                    <a:lnTo>
                      <a:pt x="0" y="203329"/>
                    </a:lnTo>
                    <a:close/>
                  </a:path>
                </a:pathLst>
              </a:custGeom>
              <a:solidFill>
                <a:schemeClr val="bg1">
                  <a:lumMod val="85000"/>
                </a:schemeClr>
              </a:solidFill>
              <a:ln w="57150">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bIns="143373" lIns="143373" numCol="1" rIns="143373" spcCol="1270" spcFirstLastPara="0" tIns="143373" vert="horz" wrap="square">
                <a:noAutofit/>
              </a:bodyPr>
              <a:lstStyle/>
              <a:p>
                <a:pPr algn="ctr" defTabSz="977900" indent="0" lvl="0" marL="0">
                  <a:lnSpc>
                    <a:spcPct val="90000"/>
                  </a:lnSpc>
                  <a:spcBef>
                    <a:spcPct val="0"/>
                  </a:spcBef>
                  <a:spcAft>
                    <a:spcPct val="35000"/>
                  </a:spcAft>
                  <a:buNone/>
                </a:pPr>
                <a:r>
                  <a:rPr dirty="0" kern="1200" lang="en-US" sz="3200">
                    <a:solidFill>
                      <a:schemeClr val="tx2"/>
                    </a:solidFill>
                  </a:rPr>
                  <a:t>Build Prototypes</a:t>
                </a:r>
              </a:p>
            </p:txBody>
          </p:sp>
          <p:sp>
            <p:nvSpPr>
              <p:cNvPr id="14" name="Freeform: Shape 13">
                <a:extLst>
                  <a:ext uri="{FF2B5EF4-FFF2-40B4-BE49-F238E27FC236}">
                    <a16:creationId xmlns:a16="http://schemas.microsoft.com/office/drawing/2014/main" id="{BC285828-D295-98E4-6F7E-A264DFB87313}"/>
                  </a:ext>
                </a:extLst>
              </p:cNvPr>
              <p:cNvSpPr/>
              <p:nvPr/>
            </p:nvSpPr>
            <p:spPr>
              <a:xfrm>
                <a:off x="5090094" y="2750762"/>
                <a:ext cx="2743200" cy="1280160"/>
              </a:xfrm>
              <a:custGeom>
                <a:avLst/>
                <a:gdLst>
                  <a:gd fmla="*/ 0 w 1876846" name="csX0"/>
                  <a:gd fmla="*/ 203329 h 1219950" name="csY0"/>
                  <a:gd fmla="*/ 203329 w 1876846" name="csX1"/>
                  <a:gd fmla="*/ 0 h 1219950" name="csY1"/>
                  <a:gd fmla="*/ 1673517 w 1876846" name="csX2"/>
                  <a:gd fmla="*/ 0 h 1219950" name="csY2"/>
                  <a:gd fmla="*/ 1876846 w 1876846" name="csX3"/>
                  <a:gd fmla="*/ 203329 h 1219950" name="csY3"/>
                  <a:gd fmla="*/ 1876846 w 1876846" name="csX4"/>
                  <a:gd fmla="*/ 1016621 h 1219950" name="csY4"/>
                  <a:gd fmla="*/ 1673517 w 1876846" name="csX5"/>
                  <a:gd fmla="*/ 1219950 h 1219950" name="csY5"/>
                  <a:gd fmla="*/ 203329 w 1876846" name="csX6"/>
                  <a:gd fmla="*/ 1219950 h 1219950" name="csY6"/>
                  <a:gd fmla="*/ 0 w 1876846" name="csX7"/>
                  <a:gd fmla="*/ 1016621 h 1219950" name="csY7"/>
                  <a:gd fmla="*/ 0 w 1876846" name="csX8"/>
                  <a:gd fmla="*/ 203329 h 1219950" name="csY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b="b" l="l" r="r" t="t"/>
                <a:pathLst>
                  <a:path h="1219950" w="1876846">
                    <a:moveTo>
                      <a:pt x="0" y="203329"/>
                    </a:moveTo>
                    <a:cubicBezTo>
                      <a:pt x="0" y="91033"/>
                      <a:pt x="91033" y="0"/>
                      <a:pt x="203329" y="0"/>
                    </a:cubicBezTo>
                    <a:lnTo>
                      <a:pt x="1673517" y="0"/>
                    </a:lnTo>
                    <a:cubicBezTo>
                      <a:pt x="1785813" y="0"/>
                      <a:pt x="1876846" y="91033"/>
                      <a:pt x="1876846" y="203329"/>
                    </a:cubicBezTo>
                    <a:lnTo>
                      <a:pt x="1876846" y="1016621"/>
                    </a:lnTo>
                    <a:cubicBezTo>
                      <a:pt x="1876846" y="1128917"/>
                      <a:pt x="1785813" y="1219950"/>
                      <a:pt x="1673517" y="1219950"/>
                    </a:cubicBezTo>
                    <a:lnTo>
                      <a:pt x="203329" y="1219950"/>
                    </a:lnTo>
                    <a:cubicBezTo>
                      <a:pt x="91033" y="1219950"/>
                      <a:pt x="0" y="1128917"/>
                      <a:pt x="0" y="1016621"/>
                    </a:cubicBezTo>
                    <a:lnTo>
                      <a:pt x="0" y="203329"/>
                    </a:lnTo>
                    <a:close/>
                  </a:path>
                </a:pathLst>
              </a:custGeom>
              <a:solidFill>
                <a:schemeClr val="bg1">
                  <a:lumMod val="85000"/>
                </a:schemeClr>
              </a:solidFill>
              <a:ln w="57150">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bIns="143373" lIns="143373" numCol="1" rIns="143373" spcCol="1270" spcFirstLastPara="0" tIns="143373" vert="horz" wrap="square">
                <a:noAutofit/>
              </a:bodyPr>
              <a:lstStyle/>
              <a:p>
                <a:pPr algn="ctr" defTabSz="977900" indent="0" lvl="0" marL="0">
                  <a:lnSpc>
                    <a:spcPct val="90000"/>
                  </a:lnSpc>
                  <a:spcBef>
                    <a:spcPct val="0"/>
                  </a:spcBef>
                  <a:spcAft>
                    <a:spcPct val="35000"/>
                  </a:spcAft>
                  <a:buNone/>
                </a:pPr>
                <a:r>
                  <a:rPr dirty="0" kern="1200" lang="en-US" sz="3200">
                    <a:solidFill>
                      <a:schemeClr val="tx2"/>
                    </a:solidFill>
                  </a:rPr>
                  <a:t>Test </a:t>
                </a:r>
                <a:r>
                  <a:rPr kern="1200" lang="en-US" sz="3200">
                    <a:solidFill>
                      <a:schemeClr val="tx2"/>
                    </a:solidFill>
                  </a:rPr>
                  <a:t>with Users</a:t>
                </a:r>
                <a:endParaRPr dirty="0" kern="1200" lang="en-US" sz="3200">
                  <a:solidFill>
                    <a:schemeClr val="tx2"/>
                  </a:solidFill>
                </a:endParaRPr>
              </a:p>
            </p:txBody>
          </p:sp>
        </p:grpSp>
        <p:sp>
          <p:nvSpPr>
            <p:cNvPr id="17" name="Oval 16">
              <a:extLst>
                <a:ext uri="{FF2B5EF4-FFF2-40B4-BE49-F238E27FC236}">
                  <a16:creationId xmlns:a16="http://schemas.microsoft.com/office/drawing/2014/main" id="{6C13875D-892B-1893-6BBA-5923AC617645}"/>
                </a:ext>
              </a:extLst>
            </p:cNvPr>
            <p:cNvSpPr/>
            <p:nvPr/>
          </p:nvSpPr>
          <p:spPr>
            <a:xfrm>
              <a:off x="6551025" y="411170"/>
              <a:ext cx="796834" cy="796834"/>
            </a:xfrm>
            <a:prstGeom prst="ellipse">
              <a:avLst/>
            </a:prstGeom>
            <a:solidFill>
              <a:schemeClr val="bg1">
                <a:lumMod val="85000"/>
              </a:schemeClr>
            </a:solidFill>
            <a:ln w="571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r>
                <a:rPr b="1" dirty="0" lang="en-US" sz="3600">
                  <a:solidFill>
                    <a:schemeClr val="tx2"/>
                  </a:solidFill>
                </a:rPr>
                <a:t>1</a:t>
              </a:r>
            </a:p>
          </p:txBody>
        </p:sp>
        <p:sp>
          <p:nvSpPr>
            <p:cNvPr id="18" name="Oval 17">
              <a:extLst>
                <a:ext uri="{FF2B5EF4-FFF2-40B4-BE49-F238E27FC236}">
                  <a16:creationId xmlns:a16="http://schemas.microsoft.com/office/drawing/2014/main" id="{710CB8F7-4C6D-726A-1215-9580B5ED050A}"/>
                </a:ext>
              </a:extLst>
            </p:cNvPr>
            <p:cNvSpPr/>
            <p:nvPr/>
          </p:nvSpPr>
          <p:spPr>
            <a:xfrm>
              <a:off x="8569544" y="2429689"/>
              <a:ext cx="796834" cy="796834"/>
            </a:xfrm>
            <a:prstGeom prst="ellipse">
              <a:avLst/>
            </a:prstGeom>
            <a:solidFill>
              <a:schemeClr val="bg1">
                <a:lumMod val="85000"/>
              </a:schemeClr>
            </a:solidFill>
            <a:ln w="571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r>
                <a:rPr b="1" dirty="0" lang="en-US" sz="3600">
                  <a:solidFill>
                    <a:schemeClr val="tx2"/>
                  </a:solidFill>
                </a:rPr>
                <a:t>2</a:t>
              </a:r>
            </a:p>
          </p:txBody>
        </p:sp>
        <p:sp>
          <p:nvSpPr>
            <p:cNvPr id="19" name="Oval 18">
              <a:extLst>
                <a:ext uri="{FF2B5EF4-FFF2-40B4-BE49-F238E27FC236}">
                  <a16:creationId xmlns:a16="http://schemas.microsoft.com/office/drawing/2014/main" id="{8AA6A901-A1D9-1B3E-B0F8-13A33DA5E43B}"/>
                </a:ext>
              </a:extLst>
            </p:cNvPr>
            <p:cNvSpPr/>
            <p:nvPr/>
          </p:nvSpPr>
          <p:spPr>
            <a:xfrm>
              <a:off x="6596747" y="4448208"/>
              <a:ext cx="796834" cy="796834"/>
            </a:xfrm>
            <a:prstGeom prst="ellipse">
              <a:avLst/>
            </a:prstGeom>
            <a:solidFill>
              <a:schemeClr val="bg1">
                <a:lumMod val="85000"/>
              </a:schemeClr>
            </a:solidFill>
            <a:ln w="571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r>
                <a:rPr b="1" dirty="0" lang="en-US" sz="3600">
                  <a:solidFill>
                    <a:schemeClr val="tx2"/>
                  </a:solidFill>
                </a:rPr>
                <a:t>3</a:t>
              </a:r>
            </a:p>
          </p:txBody>
        </p:sp>
        <p:sp>
          <p:nvSpPr>
            <p:cNvPr id="20" name="Oval 19">
              <a:extLst>
                <a:ext uri="{FF2B5EF4-FFF2-40B4-BE49-F238E27FC236}">
                  <a16:creationId xmlns:a16="http://schemas.microsoft.com/office/drawing/2014/main" id="{95683E0F-02D6-F72D-C996-2C803D63DC3A}"/>
                </a:ext>
              </a:extLst>
            </p:cNvPr>
            <p:cNvSpPr/>
            <p:nvPr/>
          </p:nvSpPr>
          <p:spPr>
            <a:xfrm>
              <a:off x="4572618" y="2429689"/>
              <a:ext cx="796834" cy="796834"/>
            </a:xfrm>
            <a:prstGeom prst="ellipse">
              <a:avLst/>
            </a:prstGeom>
            <a:solidFill>
              <a:schemeClr val="bg1">
                <a:lumMod val="85000"/>
              </a:schemeClr>
            </a:solidFill>
            <a:ln w="571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r>
                <a:rPr b="1" dirty="0" lang="en-US" sz="3600">
                  <a:solidFill>
                    <a:schemeClr val="tx2"/>
                  </a:solidFill>
                </a:rPr>
                <a:t>4</a:t>
              </a:r>
            </a:p>
          </p:txBody>
        </p:sp>
        <p:sp>
          <p:nvSpPr>
            <p:cNvPr id="21" name="Freeform: Shape 20">
              <a:extLst>
                <a:ext uri="{FF2B5EF4-FFF2-40B4-BE49-F238E27FC236}">
                  <a16:creationId xmlns:a16="http://schemas.microsoft.com/office/drawing/2014/main" id="{602B579E-1D6B-8BF5-A4F8-A51DE5EBA4D5}"/>
                </a:ext>
              </a:extLst>
            </p:cNvPr>
            <p:cNvSpPr/>
            <p:nvPr/>
          </p:nvSpPr>
          <p:spPr>
            <a:xfrm>
              <a:off x="1277430" y="4947020"/>
              <a:ext cx="2743200" cy="1280160"/>
            </a:xfrm>
            <a:custGeom>
              <a:avLst/>
              <a:gdLst>
                <a:gd fmla="*/ 0 w 1876846" name="csX0"/>
                <a:gd fmla="*/ 203329 h 1219950" name="csY0"/>
                <a:gd fmla="*/ 203329 w 1876846" name="csX1"/>
                <a:gd fmla="*/ 0 h 1219950" name="csY1"/>
                <a:gd fmla="*/ 1673517 w 1876846" name="csX2"/>
                <a:gd fmla="*/ 0 h 1219950" name="csY2"/>
                <a:gd fmla="*/ 1876846 w 1876846" name="csX3"/>
                <a:gd fmla="*/ 203329 h 1219950" name="csY3"/>
                <a:gd fmla="*/ 1876846 w 1876846" name="csX4"/>
                <a:gd fmla="*/ 1016621 h 1219950" name="csY4"/>
                <a:gd fmla="*/ 1673517 w 1876846" name="csX5"/>
                <a:gd fmla="*/ 1219950 h 1219950" name="csY5"/>
                <a:gd fmla="*/ 203329 w 1876846" name="csX6"/>
                <a:gd fmla="*/ 1219950 h 1219950" name="csY6"/>
                <a:gd fmla="*/ 0 w 1876846" name="csX7"/>
                <a:gd fmla="*/ 1016621 h 1219950" name="csY7"/>
                <a:gd fmla="*/ 0 w 1876846" name="csX8"/>
                <a:gd fmla="*/ 203329 h 1219950" name="csY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b="b" l="l" r="r" t="t"/>
              <a:pathLst>
                <a:path h="1219950" w="1876846">
                  <a:moveTo>
                    <a:pt x="0" y="203329"/>
                  </a:moveTo>
                  <a:cubicBezTo>
                    <a:pt x="0" y="91033"/>
                    <a:pt x="91033" y="0"/>
                    <a:pt x="203329" y="0"/>
                  </a:cubicBezTo>
                  <a:lnTo>
                    <a:pt x="1673517" y="0"/>
                  </a:lnTo>
                  <a:cubicBezTo>
                    <a:pt x="1785813" y="0"/>
                    <a:pt x="1876846" y="91033"/>
                    <a:pt x="1876846" y="203329"/>
                  </a:cubicBezTo>
                  <a:lnTo>
                    <a:pt x="1876846" y="1016621"/>
                  </a:lnTo>
                  <a:cubicBezTo>
                    <a:pt x="1876846" y="1128917"/>
                    <a:pt x="1785813" y="1219950"/>
                    <a:pt x="1673517" y="1219950"/>
                  </a:cubicBezTo>
                  <a:lnTo>
                    <a:pt x="203329" y="1219950"/>
                  </a:lnTo>
                  <a:cubicBezTo>
                    <a:pt x="91033" y="1219950"/>
                    <a:pt x="0" y="1128917"/>
                    <a:pt x="0" y="1016621"/>
                  </a:cubicBezTo>
                  <a:lnTo>
                    <a:pt x="0" y="203329"/>
                  </a:lnTo>
                  <a:close/>
                </a:path>
              </a:pathLst>
            </a:custGeom>
            <a:solidFill>
              <a:schemeClr val="bg1">
                <a:lumMod val="85000"/>
              </a:schemeClr>
            </a:solidFill>
            <a:ln w="57150">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bIns="143373" lIns="143373" numCol="1" rIns="143373" spcCol="1270" spcFirstLastPara="0" tIns="143373" vert="horz" wrap="square">
              <a:noAutofit/>
            </a:bodyPr>
            <a:lstStyle/>
            <a:p>
              <a:pPr algn="ctr" defTabSz="977900" indent="0" lvl="0" marL="0">
                <a:lnSpc>
                  <a:spcPct val="90000"/>
                </a:lnSpc>
                <a:spcBef>
                  <a:spcPct val="0"/>
                </a:spcBef>
                <a:spcAft>
                  <a:spcPct val="35000"/>
                </a:spcAft>
                <a:buNone/>
              </a:pPr>
              <a:r>
                <a:rPr dirty="0" kern="1200" lang="en-US" sz="3200">
                  <a:solidFill>
                    <a:schemeClr val="tx2"/>
                  </a:solidFill>
                </a:rPr>
                <a:t>Successful Design</a:t>
              </a:r>
            </a:p>
          </p:txBody>
        </p:sp>
        <p:sp>
          <p:nvSpPr>
            <p:cNvPr id="22" name="Arrow: Circular 21">
              <a:extLst>
                <a:ext uri="{FF2B5EF4-FFF2-40B4-BE49-F238E27FC236}">
                  <a16:creationId xmlns:a16="http://schemas.microsoft.com/office/drawing/2014/main" id="{BBA42743-1262-0098-68A7-B1FE2896F340}"/>
                </a:ext>
              </a:extLst>
            </p:cNvPr>
            <p:cNvSpPr/>
            <p:nvPr/>
          </p:nvSpPr>
          <p:spPr>
            <a:xfrm flipH="1" rot="3113997">
              <a:off x="2441874" y="3959500"/>
              <a:ext cx="5601368" cy="5601368"/>
            </a:xfrm>
            <a:prstGeom prst="circularArrow">
              <a:avLst>
                <a:gd fmla="val 5502" name="adj1"/>
                <a:gd fmla="val 1028237" name="adj2"/>
                <a:gd fmla="val 20544483" name="adj3"/>
                <a:gd fmla="val 17869103" name="adj4"/>
                <a:gd fmla="val 7761" name="adj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lang="en-US">
                <a:solidFill>
                  <a:schemeClr val="tx1"/>
                </a:solidFill>
              </a:endParaRPr>
            </a:p>
          </p:txBody>
        </p:sp>
      </p:grpSp>
    </p:spTree>
    <p:extLst>
      <p:ext uri="{BB962C8B-B14F-4D97-AF65-F5344CB8AC3E}">
        <p14:creationId xmlns:p14="http://schemas.microsoft.com/office/powerpoint/2010/main" val="2011113206"/>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8C754-A603-1232-EB89-1F060C090280}"/>
              </a:ext>
            </a:extLst>
          </p:cNvPr>
          <p:cNvSpPr>
            <a:spLocks noGrp="1"/>
          </p:cNvSpPr>
          <p:nvPr>
            <p:ph type="title"/>
          </p:nvPr>
        </p:nvSpPr>
        <p:spPr/>
        <p:txBody>
          <a:bodyPr/>
          <a:lstStyle/>
          <a:p>
            <a:r>
              <a:rPr dirty="0" lang="en-US"/>
              <a:t>Matt’s View on SE &amp; UX Process Models</a:t>
            </a:r>
          </a:p>
        </p:txBody>
      </p:sp>
      <p:sp>
        <p:nvSpPr>
          <p:cNvPr id="3" name="Content Placeholder 2">
            <a:extLst>
              <a:ext uri="{FF2B5EF4-FFF2-40B4-BE49-F238E27FC236}">
                <a16:creationId xmlns:a16="http://schemas.microsoft.com/office/drawing/2014/main" id="{D7A26A4F-F863-214B-BD18-5576194831DC}"/>
              </a:ext>
            </a:extLst>
          </p:cNvPr>
          <p:cNvSpPr>
            <a:spLocks noGrp="1"/>
          </p:cNvSpPr>
          <p:nvPr>
            <p:ph idx="1"/>
          </p:nvPr>
        </p:nvSpPr>
        <p:spPr/>
        <p:txBody>
          <a:bodyPr/>
          <a:lstStyle/>
          <a:p>
            <a:r>
              <a:rPr dirty="0" lang="en-US"/>
              <a:t>Models are </a:t>
            </a:r>
            <a:r>
              <a:rPr dirty="0" err="1" lang="en-US"/>
              <a:t>usefult</a:t>
            </a:r>
            <a:r>
              <a:rPr dirty="0" lang="en-US"/>
              <a:t>, but…</a:t>
            </a:r>
          </a:p>
          <a:p>
            <a:r>
              <a:rPr dirty="0" lang="en-US"/>
              <a:t>Abstraction is not reality</a:t>
            </a:r>
          </a:p>
          <a:p>
            <a:r>
              <a:rPr dirty="0" lang="en-US"/>
              <a:t>SE models tend to treat “design” as a black box</a:t>
            </a:r>
          </a:p>
          <a:p>
            <a:r>
              <a:rPr dirty="0" lang="en-US"/>
              <a:t>UX models tend to treat “implementation” as a </a:t>
            </a:r>
            <a:br>
              <a:rPr dirty="0" lang="en-US"/>
            </a:br>
            <a:r>
              <a:rPr dirty="0" lang="en-US"/>
              <a:t>black box</a:t>
            </a:r>
          </a:p>
        </p:txBody>
      </p:sp>
    </p:spTree>
    <p:extLst>
      <p:ext uri="{BB962C8B-B14F-4D97-AF65-F5344CB8AC3E}">
        <p14:creationId xmlns:p14="http://schemas.microsoft.com/office/powerpoint/2010/main" val="4051191151"/>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C9B83-A33B-BBB4-E83C-2F2AE345D029}"/>
              </a:ext>
            </a:extLst>
          </p:cNvPr>
          <p:cNvSpPr>
            <a:spLocks noGrp="1"/>
          </p:cNvSpPr>
          <p:nvPr>
            <p:ph type="title"/>
          </p:nvPr>
        </p:nvSpPr>
        <p:spPr/>
        <p:txBody>
          <a:bodyPr/>
          <a:lstStyle/>
          <a:p>
            <a:r>
              <a:rPr dirty="0" lang="en-US"/>
              <a:t>Tensions Between SE / UX Approaches</a:t>
            </a:r>
          </a:p>
        </p:txBody>
      </p:sp>
      <p:sp>
        <p:nvSpPr>
          <p:cNvPr id="3" name="Content Placeholder 2">
            <a:extLst>
              <a:ext uri="{FF2B5EF4-FFF2-40B4-BE49-F238E27FC236}">
                <a16:creationId xmlns:a16="http://schemas.microsoft.com/office/drawing/2014/main" id="{1A8693D4-ED72-0C3F-551D-21376035B02E}"/>
              </a:ext>
            </a:extLst>
          </p:cNvPr>
          <p:cNvSpPr>
            <a:spLocks noGrp="1"/>
          </p:cNvSpPr>
          <p:nvPr>
            <p:ph idx="1"/>
          </p:nvPr>
        </p:nvSpPr>
        <p:spPr/>
        <p:txBody>
          <a:bodyPr>
            <a:normAutofit fontScale="92500" lnSpcReduction="10000"/>
          </a:bodyPr>
          <a:lstStyle/>
          <a:p>
            <a:r>
              <a:rPr dirty="0" lang="en-US"/>
              <a:t>Temporalities</a:t>
            </a:r>
          </a:p>
          <a:p>
            <a:pPr lvl="1"/>
            <a:r>
              <a:rPr dirty="0" lang="en-US"/>
              <a:t>Some UX processes don’t fit 2-week sprints</a:t>
            </a:r>
          </a:p>
          <a:p>
            <a:pPr lvl="1"/>
            <a:r>
              <a:rPr dirty="0" lang="en-US"/>
              <a:t>Some UX testing requires a working system</a:t>
            </a:r>
          </a:p>
          <a:p>
            <a:pPr lvl="1"/>
            <a:r>
              <a:rPr dirty="0" lang="en-US"/>
              <a:t>Too-frequent releases (continuous delivery) can harm UX</a:t>
            </a:r>
          </a:p>
          <a:p>
            <a:r>
              <a:rPr dirty="0" lang="en-US"/>
              <a:t>Interdependence</a:t>
            </a:r>
          </a:p>
          <a:p>
            <a:pPr lvl="1"/>
            <a:r>
              <a:rPr dirty="0" lang="en-US"/>
              <a:t>UX and software design affect each other</a:t>
            </a:r>
          </a:p>
          <a:p>
            <a:r>
              <a:rPr dirty="0" lang="en-US"/>
              <a:t>Different Subgoals</a:t>
            </a:r>
          </a:p>
          <a:p>
            <a:pPr lvl="1"/>
            <a:r>
              <a:rPr dirty="0" lang="en-US"/>
              <a:t>Implement in increments vs. holistic user experience</a:t>
            </a:r>
          </a:p>
          <a:p>
            <a:pPr lvl="1"/>
            <a:r>
              <a:rPr dirty="0" lang="en-US"/>
              <a:t>Software quality may mean different things</a:t>
            </a:r>
          </a:p>
          <a:p>
            <a:pPr lvl="1"/>
            <a:r>
              <a:rPr dirty="0" lang="en-US"/>
              <a:t>Software often requires tradeoffs (example: 2-factor authentication)</a:t>
            </a:r>
          </a:p>
        </p:txBody>
      </p:sp>
    </p:spTree>
    <p:extLst>
      <p:ext uri="{BB962C8B-B14F-4D97-AF65-F5344CB8AC3E}">
        <p14:creationId xmlns:p14="http://schemas.microsoft.com/office/powerpoint/2010/main" val="3568850703"/>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69DA3-D36E-7447-BEBC-161D49FCBA29}"/>
              </a:ext>
            </a:extLst>
          </p:cNvPr>
          <p:cNvSpPr>
            <a:spLocks noGrp="1"/>
          </p:cNvSpPr>
          <p:nvPr>
            <p:ph type="title"/>
          </p:nvPr>
        </p:nvSpPr>
        <p:spPr/>
        <p:txBody>
          <a:bodyPr/>
          <a:lstStyle/>
          <a:p>
            <a:r>
              <a:rPr dirty="0" lang="en-US"/>
              <a:t>IDEO’s Design Process</a:t>
            </a:r>
          </a:p>
        </p:txBody>
      </p:sp>
      <p:sp>
        <p:nvSpPr>
          <p:cNvPr id="3" name="Content Placeholder 2">
            <a:extLst>
              <a:ext uri="{FF2B5EF4-FFF2-40B4-BE49-F238E27FC236}">
                <a16:creationId xmlns:a16="http://schemas.microsoft.com/office/drawing/2014/main" id="{996AA227-CF26-7987-A70C-CDB63A938857}"/>
              </a:ext>
            </a:extLst>
          </p:cNvPr>
          <p:cNvSpPr>
            <a:spLocks noGrp="1"/>
          </p:cNvSpPr>
          <p:nvPr>
            <p:ph idx="1"/>
          </p:nvPr>
        </p:nvSpPr>
        <p:spPr/>
        <p:txBody>
          <a:bodyPr anchor="ctr"/>
          <a:lstStyle/>
          <a:p>
            <a:pPr algn="ctr"/>
            <a:r>
              <a:rPr dirty="0" lang="en-US">
                <a:hlinkClick r:id="rId2"/>
              </a:rPr>
              <a:t>IDEO Design Process video on YouTube</a:t>
            </a:r>
            <a:r>
              <a:rPr dirty="0" lang="en-US"/>
              <a:t> </a:t>
            </a:r>
          </a:p>
        </p:txBody>
      </p:sp>
    </p:spTree>
    <p:extLst>
      <p:ext uri="{BB962C8B-B14F-4D97-AF65-F5344CB8AC3E}">
        <p14:creationId xmlns:p14="http://schemas.microsoft.com/office/powerpoint/2010/main" val="2121059845"/>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0E9A6-6090-BBDB-1D72-992462540E3B}"/>
              </a:ext>
            </a:extLst>
          </p:cNvPr>
          <p:cNvSpPr>
            <a:spLocks noGrp="1"/>
          </p:cNvSpPr>
          <p:nvPr>
            <p:ph type="title"/>
          </p:nvPr>
        </p:nvSpPr>
        <p:spPr/>
        <p:txBody>
          <a:bodyPr/>
          <a:lstStyle/>
          <a:p>
            <a:r>
              <a:rPr dirty="0" lang="en-US"/>
              <a:t>Qualities of HCD (in IDEO video)</a:t>
            </a:r>
          </a:p>
        </p:txBody>
      </p:sp>
      <p:sp>
        <p:nvSpPr>
          <p:cNvPr id="3" name="Content Placeholder 2">
            <a:extLst>
              <a:ext uri="{FF2B5EF4-FFF2-40B4-BE49-F238E27FC236}">
                <a16:creationId xmlns:a16="http://schemas.microsoft.com/office/drawing/2014/main" id="{A7D05EF5-898A-66E6-0DEC-2A8847371BEE}"/>
              </a:ext>
            </a:extLst>
          </p:cNvPr>
          <p:cNvSpPr>
            <a:spLocks noGrp="1"/>
          </p:cNvSpPr>
          <p:nvPr>
            <p:ph idx="1" sz="half"/>
          </p:nvPr>
        </p:nvSpPr>
        <p:spPr>
          <a:xfrm>
            <a:off x="1097278" y="1845734"/>
            <a:ext cx="5618153" cy="4023360"/>
          </a:xfrm>
        </p:spPr>
        <p:txBody>
          <a:bodyPr>
            <a:normAutofit lnSpcReduction="10000"/>
          </a:bodyPr>
          <a:lstStyle/>
          <a:p>
            <a:r>
              <a:rPr dirty="0" lang="en-US"/>
              <a:t>Rapid prototyping – “fail often in order to succeed sooner”</a:t>
            </a:r>
          </a:p>
          <a:p>
            <a:r>
              <a:rPr dirty="0" lang="en-US"/>
              <a:t>Team environment – sharing, diverse perspectives</a:t>
            </a:r>
          </a:p>
          <a:p>
            <a:r>
              <a:rPr dirty="0" lang="en-US"/>
              <a:t>Spoke with / observed stakeholders – “real experts”</a:t>
            </a:r>
          </a:p>
          <a:p>
            <a:r>
              <a:rPr dirty="0" lang="en-US"/>
              <a:t>Props (baby doll, paper bags, plastic bags) + role play</a:t>
            </a:r>
          </a:p>
          <a:p>
            <a:r>
              <a:rPr dirty="0" lang="en-US"/>
              <a:t>Asked the stakeholders for feedback</a:t>
            </a:r>
          </a:p>
        </p:txBody>
      </p:sp>
      <p:sp>
        <p:nvSpPr>
          <p:cNvPr id="4" name="Content Placeholder 3">
            <a:extLst>
              <a:ext uri="{FF2B5EF4-FFF2-40B4-BE49-F238E27FC236}">
                <a16:creationId xmlns:a16="http://schemas.microsoft.com/office/drawing/2014/main" id="{AA258270-EFCF-3857-661F-2650B85C1DB4}"/>
              </a:ext>
            </a:extLst>
          </p:cNvPr>
          <p:cNvSpPr>
            <a:spLocks noGrp="1"/>
          </p:cNvSpPr>
          <p:nvPr>
            <p:ph idx="2" sz="half"/>
          </p:nvPr>
        </p:nvSpPr>
        <p:spPr>
          <a:xfrm>
            <a:off x="7059560" y="1845735"/>
            <a:ext cx="4532672" cy="4023360"/>
          </a:xfrm>
        </p:spPr>
        <p:style>
          <a:lnRef idx="2">
            <a:schemeClr val="accent1">
              <a:shade val="15000"/>
            </a:schemeClr>
          </a:lnRef>
          <a:fillRef idx="1">
            <a:schemeClr val="accent1"/>
          </a:fillRef>
          <a:effectRef idx="0">
            <a:schemeClr val="accent1"/>
          </a:effectRef>
          <a:fontRef idx="minor">
            <a:schemeClr val="lt1"/>
          </a:fontRef>
        </p:style>
        <p:txBody>
          <a:bodyPr anchor="ctr">
            <a:normAutofit lnSpcReduction="10000"/>
          </a:bodyPr>
          <a:lstStyle/>
          <a:p>
            <a:pPr algn="ctr"/>
            <a:r>
              <a:rPr b="1" dirty="0" lang="en-US" sz="3500" u="sng"/>
              <a:t>Brainstorming Rules</a:t>
            </a:r>
          </a:p>
          <a:p>
            <a:pPr algn="ctr"/>
            <a:r>
              <a:rPr dirty="0" lang="en-US"/>
              <a:t>No hierarchy</a:t>
            </a:r>
          </a:p>
          <a:p>
            <a:pPr algn="ctr"/>
            <a:r>
              <a:rPr dirty="0" lang="en-US"/>
              <a:t>“Focused chaos”</a:t>
            </a:r>
          </a:p>
          <a:p>
            <a:pPr algn="ctr"/>
            <a:r>
              <a:rPr dirty="0" lang="en-US"/>
              <a:t>Encourage wild ideas</a:t>
            </a:r>
          </a:p>
          <a:p>
            <a:pPr algn="ctr"/>
            <a:r>
              <a:rPr dirty="0" lang="en-US"/>
              <a:t>As many ideas as possible</a:t>
            </a:r>
          </a:p>
          <a:p>
            <a:pPr algn="ctr"/>
            <a:r>
              <a:rPr dirty="0" lang="en-US"/>
              <a:t>Defer judgment</a:t>
            </a:r>
          </a:p>
          <a:p>
            <a:pPr algn="ctr"/>
            <a:r>
              <a:rPr dirty="0" lang="en-US"/>
              <a:t>Build on each others’ ideas</a:t>
            </a:r>
          </a:p>
        </p:txBody>
      </p:sp>
    </p:spTree>
    <p:extLst>
      <p:ext uri="{BB962C8B-B14F-4D97-AF65-F5344CB8AC3E}">
        <p14:creationId xmlns:p14="http://schemas.microsoft.com/office/powerpoint/2010/main" val="1091196879"/>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4645C373-DF3B-B89A-DDFD-7FF1309E5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7CC1A-663B-640D-DBD6-C16FB2591F92}"/>
              </a:ext>
            </a:extLst>
          </p:cNvPr>
          <p:cNvSpPr>
            <a:spLocks noGrp="1"/>
          </p:cNvSpPr>
          <p:nvPr>
            <p:ph type="title"/>
          </p:nvPr>
        </p:nvSpPr>
        <p:spPr/>
        <p:txBody>
          <a:bodyPr/>
          <a:lstStyle/>
          <a:p>
            <a:r>
              <a:rPr dirty="0" lang="en-US"/>
              <a:t>Today’s Agenda</a:t>
            </a:r>
          </a:p>
        </p:txBody>
      </p:sp>
      <p:sp>
        <p:nvSpPr>
          <p:cNvPr id="3" name="Content Placeholder 2">
            <a:extLst>
              <a:ext uri="{FF2B5EF4-FFF2-40B4-BE49-F238E27FC236}">
                <a16:creationId xmlns:a16="http://schemas.microsoft.com/office/drawing/2014/main" id="{9B761A09-AAEB-15C3-C9A4-D9723FFA581E}"/>
              </a:ext>
            </a:extLst>
          </p:cNvPr>
          <p:cNvSpPr>
            <a:spLocks noGrp="1"/>
          </p:cNvSpPr>
          <p:nvPr>
            <p:ph idx="1"/>
          </p:nvPr>
        </p:nvSpPr>
        <p:spPr>
          <a:xfrm>
            <a:off x="1097280" y="1845734"/>
            <a:ext cx="10541726" cy="4023360"/>
          </a:xfrm>
        </p:spPr>
        <p:txBody>
          <a:bodyPr>
            <a:normAutofit/>
          </a:bodyPr>
          <a:lstStyle/>
          <a:p>
            <a:r>
              <a:rPr dirty="0" lang="en-US" sz="4000"/>
              <a:t>What Sets HCD Process Apart? </a:t>
            </a:r>
            <a:r>
              <a:rPr dirty="0" i="1" lang="en-US" sz="3200"/>
              <a:t>(~30 min)</a:t>
            </a:r>
            <a:endParaRPr dirty="0" i="1" lang="en-US" sz="4000"/>
          </a:p>
          <a:p>
            <a:r>
              <a:rPr dirty="0" lang="en-US" sz="4000"/>
              <a:t>Human Capabilities &amp; HCD + Break </a:t>
            </a:r>
            <a:r>
              <a:rPr dirty="0" i="1" lang="en-US" sz="3200"/>
              <a:t>(~30 min + 15 min)</a:t>
            </a:r>
            <a:endParaRPr dirty="0" i="1" lang="en-US" sz="4000"/>
          </a:p>
          <a:p>
            <a:r>
              <a:rPr dirty="0" lang="en-US" sz="4000"/>
              <a:t>Design Principles + Break </a:t>
            </a:r>
            <a:r>
              <a:rPr dirty="0" i="1" lang="en-US" sz="3200"/>
              <a:t>(~30 min + 15 min)</a:t>
            </a:r>
          </a:p>
          <a:p>
            <a:r>
              <a:rPr dirty="0" lang="en-US" sz="4000"/>
              <a:t>Activity </a:t>
            </a:r>
            <a:r>
              <a:rPr dirty="0" i="1" lang="en-US" sz="3200"/>
              <a:t>(~30 min + 15 min)</a:t>
            </a:r>
            <a:endParaRPr dirty="0" i="1" lang="en-US" sz="4000"/>
          </a:p>
          <a:p>
            <a:r>
              <a:rPr dirty="0" lang="en-US" sz="4000"/>
              <a:t>Coming Up </a:t>
            </a:r>
            <a:r>
              <a:rPr dirty="0" i="1" lang="en-US" sz="3200"/>
              <a:t>(~5 min)</a:t>
            </a:r>
            <a:endParaRPr dirty="0" i="1" lang="en-US" sz="4000"/>
          </a:p>
        </p:txBody>
      </p:sp>
      <p:sp>
        <p:nvSpPr>
          <p:cNvPr id="4" name="Arrow: Right 3">
            <a:extLst>
              <a:ext uri="{FF2B5EF4-FFF2-40B4-BE49-F238E27FC236}">
                <a16:creationId xmlns:a16="http://schemas.microsoft.com/office/drawing/2014/main" id="{61B15F1D-7CEC-9FAD-4FA0-0D71D994BAEB}"/>
              </a:ext>
              <a:ext uri="{C183D7F6-B498-43B3-948B-1728B52AA6E4}">
                <adec:decorative xmlns:adec="http://schemas.microsoft.com/office/drawing/2017/decorative" val="1"/>
              </a:ext>
            </a:extLst>
          </p:cNvPr>
          <p:cNvSpPr/>
          <p:nvPr/>
        </p:nvSpPr>
        <p:spPr>
          <a:xfrm>
            <a:off x="195942" y="2713282"/>
            <a:ext cx="862149" cy="3657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lang="en-US"/>
          </a:p>
        </p:txBody>
      </p:sp>
    </p:spTree>
    <p:extLst>
      <p:ext uri="{BB962C8B-B14F-4D97-AF65-F5344CB8AC3E}">
        <p14:creationId xmlns:p14="http://schemas.microsoft.com/office/powerpoint/2010/main" val="2177586473"/>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01726D-8D46-4666-91B2-01CA193FF8E4}"/>
              </a:ext>
            </a:extLst>
          </p:cNvPr>
          <p:cNvSpPr>
            <a:spLocks noGrp="1"/>
          </p:cNvSpPr>
          <p:nvPr>
            <p:ph type="title"/>
          </p:nvPr>
        </p:nvSpPr>
        <p:spPr/>
        <p:txBody>
          <a:bodyPr/>
          <a:lstStyle/>
          <a:p>
            <a:r>
              <a:rPr dirty="0" lang="en-US"/>
              <a:t>Designing for </a:t>
            </a:r>
            <a:br>
              <a:rPr dirty="0" lang="en-US"/>
            </a:br>
            <a:r>
              <a:rPr dirty="0" lang="en-US"/>
              <a:t>Human Capabilities</a:t>
            </a:r>
          </a:p>
        </p:txBody>
      </p:sp>
      <p:sp>
        <p:nvSpPr>
          <p:cNvPr id="6" name="Text Placeholder 5">
            <a:extLst>
              <a:ext uri="{FF2B5EF4-FFF2-40B4-BE49-F238E27FC236}">
                <a16:creationId xmlns:a16="http://schemas.microsoft.com/office/drawing/2014/main" id="{789E5C53-D382-44F3-A637-721BC6615E87}"/>
              </a:ext>
            </a:extLst>
          </p:cNvPr>
          <p:cNvSpPr>
            <a:spLocks noGrp="1"/>
          </p:cNvSpPr>
          <p:nvPr>
            <p:ph idx="1" type="body"/>
          </p:nvPr>
        </p:nvSpPr>
        <p:spPr/>
        <p:txBody>
          <a:bodyPr/>
          <a:lstStyle/>
          <a:p>
            <a:endParaRPr lang="en-US"/>
          </a:p>
        </p:txBody>
      </p:sp>
    </p:spTree>
    <p:extLst>
      <p:ext uri="{BB962C8B-B14F-4D97-AF65-F5344CB8AC3E}">
        <p14:creationId xmlns:p14="http://schemas.microsoft.com/office/powerpoint/2010/main" val="3367860843"/>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50D44-B93D-C1D1-4CBB-DED34BDF0302}"/>
              </a:ext>
            </a:extLst>
          </p:cNvPr>
          <p:cNvSpPr>
            <a:spLocks noGrp="1"/>
          </p:cNvSpPr>
          <p:nvPr>
            <p:ph idx="4294967295" type="title"/>
          </p:nvPr>
        </p:nvSpPr>
        <p:spPr>
          <a:xfrm>
            <a:off x="1097280" y="-1450757"/>
            <a:ext cx="10058400" cy="1450757"/>
          </a:xfrm>
        </p:spPr>
        <p:txBody>
          <a:bodyPr anchor="b" bIns="45720" lIns="91440" rIns="91440" rtlCol="0" tIns="45720" vert="horz">
            <a:normAutofit/>
          </a:bodyPr>
          <a:lstStyle/>
          <a:p>
            <a:r>
              <a:rPr dirty="0" lang="en-US"/>
              <a:t>Basic HCD Principle</a:t>
            </a:r>
          </a:p>
        </p:txBody>
      </p:sp>
      <p:sp>
        <p:nvSpPr>
          <p:cNvPr id="4" name="TextBox 3">
            <a:extLst>
              <a:ext uri="{FF2B5EF4-FFF2-40B4-BE49-F238E27FC236}">
                <a16:creationId xmlns:a16="http://schemas.microsoft.com/office/drawing/2014/main" id="{8E76E13E-E347-31D7-0D80-00650F1E5B30}"/>
              </a:ext>
            </a:extLst>
          </p:cNvPr>
          <p:cNvSpPr txBox="1"/>
          <p:nvPr/>
        </p:nvSpPr>
        <p:spPr>
          <a:xfrm>
            <a:off x="421907" y="394636"/>
            <a:ext cx="11348186" cy="5553777"/>
          </a:xfrm>
          <a:prstGeom prst="rect">
            <a:avLst/>
          </a:prstGeom>
          <a:noFill/>
        </p:spPr>
        <p:txBody>
          <a:bodyPr anchor="ctr" rtlCol="0" wrap="square">
            <a:normAutofit/>
          </a:bodyPr>
          <a:lstStyle/>
          <a:p>
            <a:r>
              <a:rPr b="1" dirty="0" lang="en-US" sz="4400"/>
              <a:t>Basic Principle: </a:t>
            </a:r>
            <a:br>
              <a:rPr b="1" dirty="0" lang="en-US" sz="4400"/>
            </a:br>
            <a:r>
              <a:rPr dirty="0" lang="en-US" sz="4400"/>
              <a:t>Designs that are matched to human cognitive and physical capabilities will be easier to use and provide a better user experience.</a:t>
            </a:r>
          </a:p>
        </p:txBody>
      </p:sp>
    </p:spTree>
    <p:extLst>
      <p:ext uri="{BB962C8B-B14F-4D97-AF65-F5344CB8AC3E}">
        <p14:creationId xmlns:p14="http://schemas.microsoft.com/office/powerpoint/2010/main" val="547443845"/>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3E102-8B7C-2238-000D-5341CBE28D49}"/>
              </a:ext>
            </a:extLst>
          </p:cNvPr>
          <p:cNvSpPr>
            <a:spLocks noGrp="1"/>
          </p:cNvSpPr>
          <p:nvPr>
            <p:ph type="title"/>
          </p:nvPr>
        </p:nvSpPr>
        <p:spPr/>
        <p:txBody>
          <a:bodyPr/>
          <a:lstStyle/>
          <a:p>
            <a:r>
              <a:rPr dirty="0" lang="en-US"/>
              <a:t>Memory Experiment</a:t>
            </a:r>
          </a:p>
        </p:txBody>
      </p:sp>
      <p:sp>
        <p:nvSpPr>
          <p:cNvPr id="3" name="Content Placeholder 2">
            <a:extLst>
              <a:ext uri="{FF2B5EF4-FFF2-40B4-BE49-F238E27FC236}">
                <a16:creationId xmlns:a16="http://schemas.microsoft.com/office/drawing/2014/main" id="{B93A97AA-0933-E8B0-570E-B42BB22DE417}"/>
              </a:ext>
            </a:extLst>
          </p:cNvPr>
          <p:cNvSpPr>
            <a:spLocks noGrp="1"/>
          </p:cNvSpPr>
          <p:nvPr>
            <p:ph idx="1"/>
          </p:nvPr>
        </p:nvSpPr>
        <p:spPr>
          <a:xfrm>
            <a:off x="2566218" y="2438400"/>
            <a:ext cx="8589461" cy="3430693"/>
          </a:xfrm>
        </p:spPr>
        <p:txBody>
          <a:bodyPr>
            <a:normAutofit/>
          </a:bodyPr>
          <a:lstStyle/>
          <a:p>
            <a:pPr>
              <a:spcBef>
                <a:spcPts val="0"/>
              </a:spcBef>
              <a:spcAft>
                <a:spcPts val="3000"/>
              </a:spcAft>
            </a:pPr>
            <a:r>
              <a:rPr dirty="0" lang="en-US" sz="3200"/>
              <a:t>Close your computers &amp; put down your phones (just for a couple minutes)</a:t>
            </a:r>
          </a:p>
          <a:p>
            <a:pPr>
              <a:spcBef>
                <a:spcPts val="0"/>
              </a:spcBef>
              <a:spcAft>
                <a:spcPts val="3000"/>
              </a:spcAft>
            </a:pPr>
            <a:r>
              <a:rPr dirty="0" lang="en-US" sz="3200"/>
              <a:t>Focus on the presentation screens</a:t>
            </a:r>
          </a:p>
        </p:txBody>
      </p:sp>
    </p:spTree>
    <p:extLst>
      <p:ext uri="{BB962C8B-B14F-4D97-AF65-F5344CB8AC3E}">
        <p14:creationId xmlns:p14="http://schemas.microsoft.com/office/powerpoint/2010/main" val="2457418286"/>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3"/>
          <p:cNvSpPr>
            <a:spLocks noGrp="1"/>
          </p:cNvSpPr>
          <p:nvPr>
            <p:ph idx="4294967295" type="title"/>
          </p:nvPr>
        </p:nvSpPr>
        <p:spPr>
          <a:xfrm>
            <a:off x="838200" y="2208213"/>
            <a:ext cx="10515600" cy="1676400"/>
          </a:xfrm>
        </p:spPr>
        <p:txBody>
          <a:bodyPr>
            <a:noAutofit/>
          </a:bodyPr>
          <a:lstStyle/>
          <a:p>
            <a:pPr algn="ctr"/>
            <a:r>
              <a:rPr dirty="0" lang="en-US" sz="11500">
                <a:solidFill>
                  <a:schemeClr val="tx1"/>
                </a:solidFill>
              </a:rPr>
              <a:t>R T J V P</a:t>
            </a:r>
          </a:p>
        </p:txBody>
      </p:sp>
    </p:spTree>
    <p:extLst>
      <p:ext uri="{BB962C8B-B14F-4D97-AF65-F5344CB8AC3E}">
        <p14:creationId xmlns:p14="http://schemas.microsoft.com/office/powerpoint/2010/main" val="2871574153"/>
      </p:ext>
    </p:extLst>
  </p:cSld>
  <p:clrMapOvr>
    <a:masterClrMapping/>
  </p:clrMapOvr>
  <mc:AlternateContent xmlns:mc="http://schemas.openxmlformats.org/markup-compatibility/2006" xmlns:p14="http://schemas.microsoft.com/office/powerpoint/2010/main">
    <mc:Choice Requires="p14">
      <p:transition advClick="0" advTm="11000" p14:dur="2000" spd="slow"/>
    </mc:Choice>
    <mc:Fallback>
      <p:transition advClick="0" advTm="11000"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lang="en-US"/>
              <a:t>Recite The Letters</a:t>
            </a:r>
          </a:p>
        </p:txBody>
      </p:sp>
      <p:sp>
        <p:nvSpPr>
          <p:cNvPr id="4" name="Text Placeholder 3"/>
          <p:cNvSpPr>
            <a:spLocks noGrp="1"/>
          </p:cNvSpPr>
          <p:nvPr>
            <p:ph idx="1" type="body"/>
          </p:nvPr>
        </p:nvSpPr>
        <p:spPr/>
        <p:txBody>
          <a:bodyPr/>
          <a:lstStyle/>
          <a:p>
            <a:endParaRPr lang="en-US"/>
          </a:p>
        </p:txBody>
      </p:sp>
    </p:spTree>
    <p:extLst>
      <p:ext uri="{BB962C8B-B14F-4D97-AF65-F5344CB8AC3E}">
        <p14:creationId xmlns:p14="http://schemas.microsoft.com/office/powerpoint/2010/main" val="4281821582"/>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3"/>
          <p:cNvSpPr>
            <a:spLocks noGrp="1"/>
          </p:cNvSpPr>
          <p:nvPr>
            <p:ph idx="4294967295" type="title"/>
          </p:nvPr>
        </p:nvSpPr>
        <p:spPr>
          <a:xfrm>
            <a:off x="1363663" y="2209800"/>
            <a:ext cx="9464675" cy="1676400"/>
          </a:xfrm>
        </p:spPr>
        <p:txBody>
          <a:bodyPr anchor="ctr">
            <a:noAutofit/>
          </a:bodyPr>
          <a:lstStyle/>
          <a:p>
            <a:pPr algn="ctr"/>
            <a:r>
              <a:rPr dirty="0" lang="en-US" sz="11500">
                <a:solidFill>
                  <a:schemeClr val="tx1"/>
                </a:solidFill>
              </a:rPr>
              <a:t>W X Y I M C P </a:t>
            </a:r>
            <a:br>
              <a:rPr dirty="0" lang="en-US" sz="11500">
                <a:solidFill>
                  <a:schemeClr val="tx1"/>
                </a:solidFill>
              </a:rPr>
            </a:br>
            <a:r>
              <a:rPr dirty="0" lang="en-US" sz="11500">
                <a:solidFill>
                  <a:schemeClr val="tx1"/>
                </a:solidFill>
              </a:rPr>
              <a:t> T X O P I Y</a:t>
            </a:r>
            <a:br>
              <a:rPr dirty="0" lang="en-US" sz="11500">
                <a:solidFill>
                  <a:schemeClr val="tx1"/>
                </a:solidFill>
              </a:rPr>
            </a:br>
            <a:r>
              <a:rPr dirty="0" lang="en-US" sz="11500">
                <a:solidFill>
                  <a:schemeClr val="tx1"/>
                </a:solidFill>
              </a:rPr>
              <a:t>Q A H E W M</a:t>
            </a:r>
          </a:p>
        </p:txBody>
      </p:sp>
    </p:spTree>
    <p:extLst>
      <p:ext uri="{BB962C8B-B14F-4D97-AF65-F5344CB8AC3E}">
        <p14:creationId xmlns:p14="http://schemas.microsoft.com/office/powerpoint/2010/main" val="928933146"/>
      </p:ext>
    </p:extLst>
  </p:cSld>
  <p:clrMapOvr>
    <a:masterClrMapping/>
  </p:clrMapOvr>
  <mc:AlternateContent xmlns:mc="http://schemas.openxmlformats.org/markup-compatibility/2006" xmlns:p14="http://schemas.microsoft.com/office/powerpoint/2010/main">
    <mc:Choice Requires="p14">
      <p:transition advClick="0" advTm="11000" p14:dur="2000" spd="slow"/>
    </mc:Choice>
    <mc:Fallback>
      <p:transition advClick="0" advTm="11000"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lang="en-US"/>
              <a:t>Recite the Letters</a:t>
            </a:r>
          </a:p>
        </p:txBody>
      </p:sp>
      <p:sp>
        <p:nvSpPr>
          <p:cNvPr id="3" name="Text Placeholder 2"/>
          <p:cNvSpPr>
            <a:spLocks noGrp="1"/>
          </p:cNvSpPr>
          <p:nvPr>
            <p:ph idx="1" type="body"/>
          </p:nvPr>
        </p:nvSpPr>
        <p:spPr/>
        <p:txBody>
          <a:bodyPr/>
          <a:lstStyle/>
          <a:p>
            <a:endParaRPr lang="en-US"/>
          </a:p>
        </p:txBody>
      </p:sp>
    </p:spTree>
    <p:extLst>
      <p:ext uri="{BB962C8B-B14F-4D97-AF65-F5344CB8AC3E}">
        <p14:creationId xmlns:p14="http://schemas.microsoft.com/office/powerpoint/2010/main" val="2568177137"/>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3"/>
          <p:cNvSpPr>
            <a:spLocks noGrp="1"/>
          </p:cNvSpPr>
          <p:nvPr>
            <p:ph idx="4294967295" type="title"/>
          </p:nvPr>
        </p:nvSpPr>
        <p:spPr>
          <a:xfrm>
            <a:off x="1981200" y="2857500"/>
            <a:ext cx="8229600" cy="1143000"/>
          </a:xfrm>
        </p:spPr>
        <p:txBody>
          <a:bodyPr anchor="ctr">
            <a:noAutofit/>
          </a:bodyPr>
          <a:lstStyle/>
          <a:p>
            <a:pPr algn="ctr">
              <a:lnSpc>
                <a:spcPct val="100000"/>
              </a:lnSpc>
            </a:pPr>
            <a:r>
              <a:rPr dirty="0" lang="en-US" sz="11500">
                <a:solidFill>
                  <a:schemeClr val="tx1"/>
                </a:solidFill>
              </a:rPr>
              <a:t>Cow		Dog</a:t>
            </a:r>
            <a:br>
              <a:rPr dirty="0" lang="en-US" sz="11500">
                <a:solidFill>
                  <a:schemeClr val="tx1"/>
                </a:solidFill>
              </a:rPr>
            </a:br>
            <a:r>
              <a:rPr dirty="0" lang="en-US" sz="11500">
                <a:solidFill>
                  <a:schemeClr val="tx1"/>
                </a:solidFill>
              </a:rPr>
              <a:t>Bird		Cat</a:t>
            </a:r>
            <a:br>
              <a:rPr dirty="0" lang="en-US" sz="11500">
                <a:solidFill>
                  <a:schemeClr val="tx1"/>
                </a:solidFill>
              </a:rPr>
            </a:br>
            <a:r>
              <a:rPr dirty="0" lang="en-US" sz="11500">
                <a:solidFill>
                  <a:schemeClr val="tx1"/>
                </a:solidFill>
              </a:rPr>
              <a:t>Rabbit</a:t>
            </a:r>
          </a:p>
        </p:txBody>
      </p:sp>
    </p:spTree>
    <p:extLst>
      <p:ext uri="{BB962C8B-B14F-4D97-AF65-F5344CB8AC3E}">
        <p14:creationId xmlns:p14="http://schemas.microsoft.com/office/powerpoint/2010/main" val="1486346624"/>
      </p:ext>
    </p:extLst>
  </p:cSld>
  <p:clrMapOvr>
    <a:masterClrMapping/>
  </p:clrMapOvr>
  <mc:AlternateContent xmlns:mc="http://schemas.openxmlformats.org/markup-compatibility/2006" xmlns:p14="http://schemas.microsoft.com/office/powerpoint/2010/main">
    <mc:Choice Requires="p14">
      <p:transition advTm="11000" p14:dur="2000" spd="slow"/>
    </mc:Choice>
    <mc:Fallback>
      <p:transition advTm="11000"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lang="en-US"/>
              <a:t>List the Animals</a:t>
            </a:r>
          </a:p>
        </p:txBody>
      </p:sp>
      <p:sp>
        <p:nvSpPr>
          <p:cNvPr id="3" name="Content Placeholder 2"/>
          <p:cNvSpPr>
            <a:spLocks noGrp="1"/>
          </p:cNvSpPr>
          <p:nvPr>
            <p:ph idx="1" type="body"/>
          </p:nvPr>
        </p:nvSpPr>
        <p:spPr/>
        <p:txBody>
          <a:bodyPr/>
          <a:lstStyle/>
          <a:p>
            <a:r>
              <a:rPr dirty="0" lang="en-US"/>
              <a:t>Which set was easiest to remember?</a:t>
            </a:r>
          </a:p>
        </p:txBody>
      </p:sp>
    </p:spTree>
    <p:extLst>
      <p:ext uri="{BB962C8B-B14F-4D97-AF65-F5344CB8AC3E}">
        <p14:creationId xmlns:p14="http://schemas.microsoft.com/office/powerpoint/2010/main" val="98486609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3"/>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lang="en-US"/>
              <a:t>Short-Term vs. Long-Term Memory</a:t>
            </a:r>
          </a:p>
        </p:txBody>
      </p:sp>
      <p:sp>
        <p:nvSpPr>
          <p:cNvPr id="3" name="Content Placeholder 2"/>
          <p:cNvSpPr>
            <a:spLocks noGrp="1"/>
          </p:cNvSpPr>
          <p:nvPr>
            <p:ph idx="1" sz="half"/>
          </p:nvPr>
        </p:nvSpPr>
        <p:spPr>
          <a:xfrm>
            <a:off x="1097279" y="1845734"/>
            <a:ext cx="5967664" cy="4023360"/>
          </a:xfrm>
        </p:spPr>
        <p:txBody>
          <a:bodyPr>
            <a:normAutofit/>
          </a:bodyPr>
          <a:lstStyle/>
          <a:p>
            <a:r>
              <a:rPr dirty="0" lang="en-US"/>
              <a:t>Can’t remember things for long without practice</a:t>
            </a:r>
          </a:p>
          <a:p>
            <a:r>
              <a:rPr dirty="0" lang="en-US"/>
              <a:t>Can keep a limited number in short-term memory: “7 plus or minus 2” (Miller’s “magic number”)</a:t>
            </a:r>
          </a:p>
          <a:p>
            <a:r>
              <a:rPr dirty="0" lang="en-US"/>
              <a:t>Grouping and hierarchy</a:t>
            </a:r>
          </a:p>
          <a:p>
            <a:r>
              <a:rPr dirty="0" lang="en-US"/>
              <a:t>Mnemonics</a:t>
            </a:r>
          </a:p>
          <a:p>
            <a:pPr lvl="1"/>
            <a:r>
              <a:rPr dirty="0" lang="en-US"/>
              <a:t>“My Very Educated Mother Just Served Us Nachos”</a:t>
            </a:r>
          </a:p>
        </p:txBody>
      </p:sp>
      <p:pic>
        <p:nvPicPr>
          <p:cNvPr descr="Photo of a finger with a string tied around it, with blurry silhouette of a person in the background." id="6" name="Content Placeholder 5">
            <a:extLst>
              <a:ext uri="{FF2B5EF4-FFF2-40B4-BE49-F238E27FC236}">
                <a16:creationId xmlns:a16="http://schemas.microsoft.com/office/drawing/2014/main" id="{7D775A50-995D-4EF4-B2C1-2C21CFFED5F4}"/>
              </a:ext>
            </a:extLst>
          </p:cNvPr>
          <p:cNvPicPr>
            <a:picLocks noChangeAspect="1" noGrp="1"/>
          </p:cNvPicPr>
          <p:nvPr>
            <p:ph idx="2" sz="half"/>
          </p:nvPr>
        </p:nvPicPr>
        <p:blipFill>
          <a:blip cstate="print" r:embed="rId2">
            <a:extLst>
              <a:ext uri="{28A0092B-C50C-407E-A947-70E740481C1C}">
                <a14:useLocalDpi xmlns:a14="http://schemas.microsoft.com/office/drawing/2010/main" val="0"/>
              </a:ext>
            </a:extLst>
          </a:blip>
          <a:stretch>
            <a:fillRect/>
          </a:stretch>
        </p:blipFill>
        <p:spPr>
          <a:xfrm>
            <a:off x="7185581" y="1846263"/>
            <a:ext cx="4022725" cy="4022725"/>
          </a:xfrm>
        </p:spPr>
      </p:pic>
      <p:sp>
        <p:nvSpPr>
          <p:cNvPr id="7" name="TextBox 6">
            <a:extLst>
              <a:ext uri="{FF2B5EF4-FFF2-40B4-BE49-F238E27FC236}">
                <a16:creationId xmlns:a16="http://schemas.microsoft.com/office/drawing/2014/main" id="{A2572D34-099F-4C1C-B0A9-BD880629E9FA}"/>
              </a:ext>
            </a:extLst>
          </p:cNvPr>
          <p:cNvSpPr txBox="1"/>
          <p:nvPr/>
        </p:nvSpPr>
        <p:spPr>
          <a:xfrm>
            <a:off x="8585744" y="5885816"/>
            <a:ext cx="2622562" cy="261610"/>
          </a:xfrm>
          <a:prstGeom prst="rect">
            <a:avLst/>
          </a:prstGeom>
          <a:noFill/>
        </p:spPr>
        <p:txBody>
          <a:bodyPr rtlCol="0" wrap="square">
            <a:spAutoFit/>
          </a:bodyPr>
          <a:lstStyle/>
          <a:p>
            <a:pPr algn="r"/>
            <a:r>
              <a:rPr dirty="0" lang="en-US" sz="1100"/>
              <a:t>Photo by </a:t>
            </a:r>
            <a:r>
              <a:rPr dirty="0" lang="en-US" sz="1100">
                <a:hlinkClick r:id="rId3"/>
              </a:rPr>
              <a:t>Flood G.</a:t>
            </a:r>
            <a:endParaRPr dirty="0" lang="en-US" sz="1100"/>
          </a:p>
        </p:txBody>
      </p:sp>
    </p:spTree>
    <p:extLst>
      <p:ext uri="{BB962C8B-B14F-4D97-AF65-F5344CB8AC3E}">
        <p14:creationId xmlns:p14="http://schemas.microsoft.com/office/powerpoint/2010/main" val="697894421"/>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13666-9A2E-9DCD-2E20-1AE0B1C87370}"/>
              </a:ext>
            </a:extLst>
          </p:cNvPr>
          <p:cNvSpPr>
            <a:spLocks noGrp="1"/>
          </p:cNvSpPr>
          <p:nvPr>
            <p:ph idx="4294967295" type="title"/>
          </p:nvPr>
        </p:nvSpPr>
        <p:spPr>
          <a:xfrm>
            <a:off x="1097280" y="-1450757"/>
            <a:ext cx="10058400" cy="1450757"/>
          </a:xfrm>
        </p:spPr>
        <p:txBody>
          <a:bodyPr anchor="b" bIns="45720" lIns="91440" rIns="91440" rtlCol="0" tIns="45720" vert="horz">
            <a:normAutofit/>
          </a:bodyPr>
          <a:lstStyle/>
          <a:p>
            <a:r>
              <a:rPr dirty="0" lang="en-US"/>
              <a:t>Memory Quiz</a:t>
            </a:r>
          </a:p>
        </p:txBody>
      </p:sp>
      <p:pic>
        <p:nvPicPr>
          <p:cNvPr descr="Photo of an Academy Award statuette" id="10" name="Content Placeholder 9"/>
          <p:cNvPicPr>
            <a:picLocks noChangeAspect="1" noGrp="1"/>
          </p:cNvPicPr>
          <p:nvPr>
            <p:ph idx="4294967295" sz="half"/>
          </p:nvPr>
        </p:nvPicPr>
        <p:blipFill>
          <a:blip cstate="print" r:embed="rId2">
            <a:extLst>
              <a:ext uri="{28A0092B-C50C-407E-A947-70E740481C1C}">
                <a14:useLocalDpi xmlns:a14="http://schemas.microsoft.com/office/drawing/2010/main" val="0"/>
              </a:ext>
            </a:extLst>
          </a:blip>
          <a:stretch>
            <a:fillRect/>
          </a:stretch>
        </p:blipFill>
        <p:spPr>
          <a:xfrm>
            <a:off x="981777" y="163629"/>
            <a:ext cx="2670626" cy="6157747"/>
          </a:xfrm>
        </p:spPr>
      </p:pic>
      <p:sp>
        <p:nvSpPr>
          <p:cNvPr id="9" name="Text Placeholder 8"/>
          <p:cNvSpPr>
            <a:spLocks noGrp="1"/>
          </p:cNvSpPr>
          <p:nvPr>
            <p:ph idx="4294967295" sz="half"/>
          </p:nvPr>
        </p:nvSpPr>
        <p:spPr>
          <a:xfrm>
            <a:off x="4328795" y="1043146"/>
            <a:ext cx="6594844" cy="4771708"/>
          </a:xfrm>
        </p:spPr>
        <p:txBody>
          <a:bodyPr anchor="ctr">
            <a:normAutofit/>
          </a:bodyPr>
          <a:lstStyle/>
          <a:p>
            <a:pPr indent="0" marL="0">
              <a:buNone/>
            </a:pPr>
            <a:r>
              <a:rPr dirty="0" lang="en-US" sz="4400"/>
              <a:t>What 2022 film won the Best Picture Oscar at the 2023 Academy Awards?</a:t>
            </a:r>
            <a:endParaRPr dirty="0" lang="en-US" sz="4320"/>
          </a:p>
          <a:p>
            <a:pPr indent="0" marL="0">
              <a:buNone/>
            </a:pPr>
            <a:endParaRPr dirty="0" lang="en-US" sz="4320"/>
          </a:p>
          <a:p>
            <a:pPr indent="-914400" marL="914400">
              <a:buNone/>
            </a:pPr>
            <a:r>
              <a:rPr dirty="0" lang="en-US" sz="4320"/>
              <a:t>A: 	Everything Everywhere All at Once</a:t>
            </a:r>
          </a:p>
        </p:txBody>
      </p:sp>
    </p:spTree>
    <p:extLst>
      <p:ext uri="{BB962C8B-B14F-4D97-AF65-F5344CB8AC3E}">
        <p14:creationId xmlns:p14="http://schemas.microsoft.com/office/powerpoint/2010/main" val="291130352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9">
                                            <p:txEl>
                                              <p:pRg end="2" st="2"/>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9" uiExpand="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dirty="0" lang="en-US"/>
              <a:t>Which is a poster for a </a:t>
            </a:r>
            <a:br>
              <a:rPr dirty="0" lang="en-US"/>
            </a:br>
            <a:r>
              <a:rPr dirty="0" lang="en-US"/>
              <a:t>Marvel Movie?</a:t>
            </a:r>
          </a:p>
        </p:txBody>
      </p:sp>
      <p:sp>
        <p:nvSpPr>
          <p:cNvPr id="7" name="TextBox 6"/>
          <p:cNvSpPr txBox="1"/>
          <p:nvPr/>
        </p:nvSpPr>
        <p:spPr>
          <a:xfrm>
            <a:off x="3139003" y="5442652"/>
            <a:ext cx="797295" cy="1015663"/>
          </a:xfrm>
          <a:prstGeom prst="rect">
            <a:avLst/>
          </a:prstGeom>
          <a:noFill/>
        </p:spPr>
        <p:txBody>
          <a:bodyPr rtlCol="0" wrap="square">
            <a:spAutoFit/>
          </a:bodyPr>
          <a:lstStyle/>
          <a:p>
            <a:pPr algn="ctr" defTabSz="427939"/>
            <a:r>
              <a:rPr dirty="0" lang="en-US" sz="6000">
                <a:solidFill>
                  <a:schemeClr val="tx2"/>
                </a:solidFill>
                <a:latin charset="0" panose="020B0A04020102020204" pitchFamily="34" typeface="Arial Black"/>
                <a:cs charset="-79" panose="02010803020104030203" pitchFamily="2" typeface="Aharoni"/>
              </a:rPr>
              <a:t>A</a:t>
            </a:r>
          </a:p>
        </p:txBody>
      </p:sp>
      <p:pic>
        <p:nvPicPr>
          <p:cNvPr descr="Poster for the movie &quot;Moonlight&quot;" id="1026" name="Picture 2">
            <a:extLst>
              <a:ext uri="{FF2B5EF4-FFF2-40B4-BE49-F238E27FC236}">
                <a16:creationId xmlns:a16="http://schemas.microsoft.com/office/drawing/2014/main" id="{069E6536-1C22-FB4D-5767-C77D37BA0E50}"/>
              </a:ext>
            </a:extLst>
          </p:cNvPr>
          <p:cNvPicPr>
            <a:picLocks noChangeArrowheads="1" noChangeAspect="1"/>
          </p:cNvPicPr>
          <p:nvPr/>
        </p:nvPicPr>
        <p:blipFill>
          <a:blip cstate="print" r:embed="rId2">
            <a:extLst>
              <a:ext uri="{28A0092B-C50C-407E-A947-70E740481C1C}">
                <a14:useLocalDpi xmlns:a14="http://schemas.microsoft.com/office/drawing/2010/main" val="0"/>
              </a:ext>
            </a:extLst>
          </a:blip>
          <a:srcRect/>
          <a:stretch>
            <a:fillRect/>
          </a:stretch>
        </p:blipFill>
        <p:spPr bwMode="auto">
          <a:xfrm>
            <a:off x="2270242" y="1885785"/>
            <a:ext cx="2441779" cy="353857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5730213" y="5442652"/>
            <a:ext cx="797295" cy="1015663"/>
          </a:xfrm>
          <a:prstGeom prst="rect">
            <a:avLst/>
          </a:prstGeom>
          <a:noFill/>
        </p:spPr>
        <p:txBody>
          <a:bodyPr rtlCol="0" wrap="square">
            <a:spAutoFit/>
          </a:bodyPr>
          <a:lstStyle/>
          <a:p>
            <a:pPr algn="ctr" defTabSz="427939"/>
            <a:r>
              <a:rPr dirty="0" lang="en-US" sz="6000">
                <a:solidFill>
                  <a:schemeClr val="tx2"/>
                </a:solidFill>
                <a:latin charset="0" panose="020B0A04020102020204" pitchFamily="34" typeface="Arial Black"/>
                <a:cs charset="-79" panose="02010803020104030203" pitchFamily="2" typeface="Aharoni"/>
              </a:rPr>
              <a:t>B</a:t>
            </a:r>
          </a:p>
        </p:txBody>
      </p:sp>
      <p:pic>
        <p:nvPicPr>
          <p:cNvPr descr="Poster for the movie &quot;Avengers: Infinity War.&quot;"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5035" y="1881285"/>
            <a:ext cx="2366789" cy="3547573"/>
          </a:xfrm>
          <a:prstGeom prst="rect">
            <a:avLst/>
          </a:prstGeom>
        </p:spPr>
      </p:pic>
      <p:sp>
        <p:nvSpPr>
          <p:cNvPr id="14" name="TextBox 13"/>
          <p:cNvSpPr txBox="1"/>
          <p:nvPr/>
        </p:nvSpPr>
        <p:spPr>
          <a:xfrm>
            <a:off x="8321423" y="5442652"/>
            <a:ext cx="797295" cy="1015663"/>
          </a:xfrm>
          <a:prstGeom prst="rect">
            <a:avLst/>
          </a:prstGeom>
          <a:noFill/>
        </p:spPr>
        <p:txBody>
          <a:bodyPr rtlCol="0" wrap="square">
            <a:spAutoFit/>
          </a:bodyPr>
          <a:lstStyle/>
          <a:p>
            <a:pPr algn="ctr" defTabSz="427939"/>
            <a:r>
              <a:rPr dirty="0" lang="en-US" sz="6000">
                <a:solidFill>
                  <a:schemeClr val="tx2"/>
                </a:solidFill>
                <a:latin charset="0" panose="020B0A04020102020204" pitchFamily="34" typeface="Arial Black"/>
                <a:cs charset="-79" panose="02010803020104030203" pitchFamily="2" typeface="Aharoni"/>
              </a:rPr>
              <a:t>C</a:t>
            </a:r>
          </a:p>
        </p:txBody>
      </p:sp>
      <p:pic>
        <p:nvPicPr>
          <p:cNvPr descr="Poster for the movie &quot;The Nun&quot;" id="17" name="Picture 16">
            <a:extLst>
              <a:ext uri="{FF2B5EF4-FFF2-40B4-BE49-F238E27FC236}">
                <a16:creationId xmlns:a16="http://schemas.microsoft.com/office/drawing/2014/main" id="{1B0F063C-8C3D-9E7F-64DF-E2382531E822}"/>
              </a:ext>
            </a:extLst>
          </p:cNvPr>
          <p:cNvPicPr>
            <a:picLocks noChangeAspect="1"/>
          </p:cNvPicPr>
          <p:nvPr/>
        </p:nvPicPr>
        <p:blipFill>
          <a:blip cstate="print" r:embed="rId4">
            <a:extLst>
              <a:ext uri="{28A0092B-C50C-407E-A947-70E740481C1C}">
                <a14:useLocalDpi xmlns:a14="http://schemas.microsoft.com/office/drawing/2010/main" val="0"/>
              </a:ext>
            </a:extLst>
          </a:blip>
          <a:stretch>
            <a:fillRect/>
          </a:stretch>
        </p:blipFill>
        <p:spPr>
          <a:xfrm>
            <a:off x="7530260" y="1871991"/>
            <a:ext cx="2377440" cy="3566160"/>
          </a:xfrm>
          <a:prstGeom prst="rect">
            <a:avLst/>
          </a:prstGeom>
        </p:spPr>
      </p:pic>
      <p:sp>
        <p:nvSpPr>
          <p:cNvPr id="10" name="Rectangle 9">
            <a:extLst>
              <a:ext uri="{C183D7F6-B498-43B3-948B-1728B52AA6E4}">
                <adec:decorative xmlns:adec="http://schemas.microsoft.com/office/drawing/2017/decorative" val="1"/>
              </a:ext>
            </a:extLst>
          </p:cNvPr>
          <p:cNvSpPr/>
          <p:nvPr/>
        </p:nvSpPr>
        <p:spPr>
          <a:xfrm>
            <a:off x="4930457" y="4301996"/>
            <a:ext cx="2381367" cy="749255"/>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defTabSz="427939"/>
            <a:endParaRPr lang="en-US" sz="1404">
              <a:solidFill>
                <a:schemeClr val="tx2"/>
              </a:solidFill>
            </a:endParaRPr>
          </a:p>
        </p:txBody>
      </p:sp>
      <p:sp>
        <p:nvSpPr>
          <p:cNvPr id="11" name="Rectangle 10">
            <a:extLst>
              <a:ext uri="{C183D7F6-B498-43B3-948B-1728B52AA6E4}">
                <adec:decorative xmlns:adec="http://schemas.microsoft.com/office/drawing/2017/decorative" val="1"/>
              </a:ext>
            </a:extLst>
          </p:cNvPr>
          <p:cNvSpPr/>
          <p:nvPr/>
        </p:nvSpPr>
        <p:spPr>
          <a:xfrm>
            <a:off x="7681394" y="4137212"/>
            <a:ext cx="1250850" cy="67542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defTabSz="427939"/>
            <a:endParaRPr lang="en-US" sz="1404">
              <a:solidFill>
                <a:schemeClr val="tx2"/>
              </a:solidFill>
            </a:endParaRPr>
          </a:p>
        </p:txBody>
      </p:sp>
      <p:sp>
        <p:nvSpPr>
          <p:cNvPr id="2" name="Rectangle 1">
            <a:extLst>
              <a:ext uri="{FF2B5EF4-FFF2-40B4-BE49-F238E27FC236}">
                <a16:creationId xmlns:a16="http://schemas.microsoft.com/office/drawing/2014/main" id="{AD2B798F-284A-B48B-04A0-2B56809066D4}"/>
              </a:ext>
              <a:ext uri="{C183D7F6-B498-43B3-948B-1728B52AA6E4}">
                <adec:decorative xmlns:adec="http://schemas.microsoft.com/office/drawing/2017/decorative" val="1"/>
              </a:ext>
            </a:extLst>
          </p:cNvPr>
          <p:cNvSpPr/>
          <p:nvPr/>
        </p:nvSpPr>
        <p:spPr>
          <a:xfrm>
            <a:off x="2301158" y="4438004"/>
            <a:ext cx="2381367" cy="749255"/>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defTabSz="427939"/>
            <a:endParaRPr lang="en-US" sz="1404">
              <a:solidFill>
                <a:schemeClr val="tx2"/>
              </a:solidFill>
            </a:endParaRPr>
          </a:p>
        </p:txBody>
      </p:sp>
    </p:spTree>
    <p:extLst>
      <p:ext uri="{BB962C8B-B14F-4D97-AF65-F5344CB8AC3E}">
        <p14:creationId xmlns:p14="http://schemas.microsoft.com/office/powerpoint/2010/main" val="357529044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grpId="0" id="5" nodeType="withEffect" presetClass="exit" presetID="1" presetSubtype="0">
                                  <p:stCondLst>
                                    <p:cond delay="0"/>
                                  </p:stCondLst>
                                  <p:childTnLst>
                                    <p:set>
                                      <p:cBhvr>
                                        <p:cTn dur="1" fill="hold" id="6">
                                          <p:stCondLst>
                                            <p:cond delay="0"/>
                                          </p:stCondLst>
                                        </p:cTn>
                                        <p:tgtEl>
                                          <p:spTgt spid="10"/>
                                        </p:tgtEl>
                                        <p:attrNameLst>
                                          <p:attrName>style.visibility</p:attrName>
                                        </p:attrNameLst>
                                      </p:cBhvr>
                                      <p:to>
                                        <p:strVal val="hidden"/>
                                      </p:to>
                                    </p:set>
                                  </p:childTnLst>
                                </p:cTn>
                              </p:par>
                              <p:par>
                                <p:cTn fill="hold" grpId="0" id="7" nodeType="withEffect" presetClass="exit" presetID="1" presetSubtype="0">
                                  <p:stCondLst>
                                    <p:cond delay="0"/>
                                  </p:stCondLst>
                                  <p:childTnLst>
                                    <p:set>
                                      <p:cBhvr>
                                        <p:cTn dur="1" fill="hold" id="8">
                                          <p:stCondLst>
                                            <p:cond delay="0"/>
                                          </p:stCondLst>
                                        </p:cTn>
                                        <p:tgtEl>
                                          <p:spTgt spid="11"/>
                                        </p:tgtEl>
                                        <p:attrNameLst>
                                          <p:attrName>style.visibility</p:attrName>
                                        </p:attrNameLst>
                                      </p:cBhvr>
                                      <p:to>
                                        <p:strVal val="hidden"/>
                                      </p:to>
                                    </p:set>
                                  </p:childTnLst>
                                </p:cTn>
                              </p:par>
                              <p:par>
                                <p:cTn fill="hold" grpId="0" id="9" nodeType="withEffect" presetClass="exit" presetID="1" presetSubtype="0">
                                  <p:stCondLst>
                                    <p:cond delay="0"/>
                                  </p:stCondLst>
                                  <p:childTnLst>
                                    <p:set>
                                      <p:cBhvr>
                                        <p:cTn dur="1" fill="hold" id="10">
                                          <p:stCondLst>
                                            <p:cond delay="0"/>
                                          </p:stCondLst>
                                        </p:cTn>
                                        <p:tgtEl>
                                          <p:spTgt spid="2"/>
                                        </p:tgtEl>
                                        <p:attrNameLst>
                                          <p:attrName>style.visibility</p:attrName>
                                        </p:attrNameLst>
                                      </p:cBhvr>
                                      <p:to>
                                        <p:strVal val="hidden"/>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10"/>
      <p:bldP animBg="1" grpId="0" spid="11"/>
      <p:bldP animBg="1" grpId="0" spid="2"/>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41D7B0-3DBF-46BA-896A-F6417F61310D}"/>
              </a:ext>
            </a:extLst>
          </p:cNvPr>
          <p:cNvSpPr>
            <a:spLocks noGrp="1"/>
          </p:cNvSpPr>
          <p:nvPr>
            <p:ph type="title"/>
          </p:nvPr>
        </p:nvSpPr>
        <p:spPr/>
        <p:txBody>
          <a:bodyPr/>
          <a:lstStyle/>
          <a:p>
            <a:r>
              <a:rPr dirty="0" lang="en-US"/>
              <a:t>Recognition vs. Recall</a:t>
            </a:r>
          </a:p>
        </p:txBody>
      </p:sp>
      <p:sp>
        <p:nvSpPr>
          <p:cNvPr id="4" name="Content Placeholder 3">
            <a:extLst>
              <a:ext uri="{FF2B5EF4-FFF2-40B4-BE49-F238E27FC236}">
                <a16:creationId xmlns:a16="http://schemas.microsoft.com/office/drawing/2014/main" id="{80F42D75-19F6-40A5-9EEE-5B8A867CA311}"/>
              </a:ext>
            </a:extLst>
          </p:cNvPr>
          <p:cNvSpPr>
            <a:spLocks noGrp="1"/>
          </p:cNvSpPr>
          <p:nvPr>
            <p:ph idx="1"/>
          </p:nvPr>
        </p:nvSpPr>
        <p:spPr>
          <a:xfrm>
            <a:off x="1097280" y="1845734"/>
            <a:ext cx="5657481" cy="4023360"/>
          </a:xfrm>
        </p:spPr>
        <p:txBody>
          <a:bodyPr/>
          <a:lstStyle/>
          <a:p>
            <a:r>
              <a:rPr lang="en-US"/>
              <a:t>Human memory and computer memory work in different ways</a:t>
            </a:r>
          </a:p>
          <a:p>
            <a:pPr lvl="1"/>
            <a:r>
              <a:rPr lang="en-US"/>
              <a:t>Humans are better at </a:t>
            </a:r>
            <a:r>
              <a:rPr b="1" lang="en-US"/>
              <a:t>recognition</a:t>
            </a:r>
          </a:p>
          <a:p>
            <a:pPr lvl="1"/>
            <a:r>
              <a:rPr lang="en-US"/>
              <a:t>Computers are better at </a:t>
            </a:r>
            <a:r>
              <a:rPr b="1" lang="en-US"/>
              <a:t>recall</a:t>
            </a:r>
          </a:p>
          <a:p>
            <a:r>
              <a:rPr lang="en-US"/>
              <a:t>We can use this kind of knowledge to design more intuitive systems</a:t>
            </a:r>
            <a:endParaRPr dirty="0" lang="en-US"/>
          </a:p>
        </p:txBody>
      </p:sp>
      <p:pic>
        <p:nvPicPr>
          <p:cNvPr descr="Screenshot of rules for generating a new password" id="2050" name="Picture 2">
            <a:extLst>
              <a:ext uri="{FF2B5EF4-FFF2-40B4-BE49-F238E27FC236}">
                <a16:creationId xmlns:a16="http://schemas.microsoft.com/office/drawing/2014/main" id="{022E6B07-1D1E-F4A2-28BB-74CAAEF51BAF}"/>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28333" r="21613"/>
          <a:stretch>
            <a:fillRect/>
          </a:stretch>
        </p:blipFill>
        <p:spPr bwMode="auto">
          <a:xfrm>
            <a:off x="6754761" y="457216"/>
            <a:ext cx="5299587" cy="3633924"/>
          </a:xfrm>
          <a:prstGeom prst="rect">
            <a:avLst/>
          </a:prstGeom>
          <a:noFill/>
          <a:extLst>
            <a:ext uri="{909E8E84-426E-40DD-AFC4-6F175D3DCCD1}">
              <a14:hiddenFill xmlns:a14="http://schemas.microsoft.com/office/drawing/2010/main">
                <a:solidFill>
                  <a:srgbClr val="FFFFFF"/>
                </a:solidFill>
              </a14:hiddenFill>
            </a:ext>
          </a:extLst>
        </p:spPr>
      </p:pic>
      <p:pic>
        <p:nvPicPr>
          <p:cNvPr descr="Screenshot of the 1Password strong password generator" id="2052" name="Picture 4">
            <a:extLst>
              <a:ext uri="{FF2B5EF4-FFF2-40B4-BE49-F238E27FC236}">
                <a16:creationId xmlns:a16="http://schemas.microsoft.com/office/drawing/2014/main" id="{B8E1A1BC-BCB4-D442-EEA5-F533BE6AD45A}"/>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87173" y="4169799"/>
            <a:ext cx="4234762" cy="1975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9346249"/>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4574E9-0C5C-F4C8-E325-4BF811AA2EB1}"/>
              </a:ext>
            </a:extLst>
          </p:cNvPr>
          <p:cNvSpPr>
            <a:spLocks noGrp="1"/>
          </p:cNvSpPr>
          <p:nvPr>
            <p:ph type="title"/>
          </p:nvPr>
        </p:nvSpPr>
        <p:spPr/>
        <p:txBody>
          <a:bodyPr/>
          <a:lstStyle/>
          <a:p>
            <a:r>
              <a:rPr dirty="0" lang="en-US"/>
              <a:t>15 min break</a:t>
            </a:r>
          </a:p>
        </p:txBody>
      </p:sp>
      <p:sp>
        <p:nvSpPr>
          <p:cNvPr id="5" name="Text Placeholder 4">
            <a:extLst>
              <a:ext uri="{FF2B5EF4-FFF2-40B4-BE49-F238E27FC236}">
                <a16:creationId xmlns:a16="http://schemas.microsoft.com/office/drawing/2014/main" id="{1EB5CE50-360E-D335-38D3-68E58837A6A6}"/>
              </a:ext>
            </a:extLst>
          </p:cNvPr>
          <p:cNvSpPr>
            <a:spLocks noGrp="1"/>
          </p:cNvSpPr>
          <p:nvPr>
            <p:ph idx="1" type="body"/>
          </p:nvPr>
        </p:nvSpPr>
        <p:spPr/>
        <p:txBody>
          <a:bodyPr/>
          <a:lstStyle/>
          <a:p>
            <a:endParaRPr lang="en-US"/>
          </a:p>
        </p:txBody>
      </p:sp>
    </p:spTree>
    <p:extLst>
      <p:ext uri="{BB962C8B-B14F-4D97-AF65-F5344CB8AC3E}">
        <p14:creationId xmlns:p14="http://schemas.microsoft.com/office/powerpoint/2010/main" val="1581980059"/>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F2224B0D-C576-1CB5-F641-C8543F151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30FFB-FECE-6EBA-F0B8-29B1914DFFCC}"/>
              </a:ext>
            </a:extLst>
          </p:cNvPr>
          <p:cNvSpPr>
            <a:spLocks noGrp="1"/>
          </p:cNvSpPr>
          <p:nvPr>
            <p:ph type="title"/>
          </p:nvPr>
        </p:nvSpPr>
        <p:spPr/>
        <p:txBody>
          <a:bodyPr/>
          <a:lstStyle/>
          <a:p>
            <a:r>
              <a:rPr dirty="0" lang="en-US"/>
              <a:t>Today’s Agenda</a:t>
            </a:r>
          </a:p>
        </p:txBody>
      </p:sp>
      <p:sp>
        <p:nvSpPr>
          <p:cNvPr id="3" name="Content Placeholder 2">
            <a:extLst>
              <a:ext uri="{FF2B5EF4-FFF2-40B4-BE49-F238E27FC236}">
                <a16:creationId xmlns:a16="http://schemas.microsoft.com/office/drawing/2014/main" id="{7B6AB885-590E-31C8-4BA7-EE5BF0F01952}"/>
              </a:ext>
            </a:extLst>
          </p:cNvPr>
          <p:cNvSpPr>
            <a:spLocks noGrp="1"/>
          </p:cNvSpPr>
          <p:nvPr>
            <p:ph idx="1"/>
          </p:nvPr>
        </p:nvSpPr>
        <p:spPr>
          <a:xfrm>
            <a:off x="1097280" y="1845734"/>
            <a:ext cx="10541726" cy="4023360"/>
          </a:xfrm>
        </p:spPr>
        <p:txBody>
          <a:bodyPr>
            <a:normAutofit/>
          </a:bodyPr>
          <a:lstStyle/>
          <a:p>
            <a:r>
              <a:rPr dirty="0" lang="en-US" sz="4000"/>
              <a:t>What Sets HCD Process Apart? </a:t>
            </a:r>
            <a:r>
              <a:rPr dirty="0" i="1" lang="en-US" sz="3200"/>
              <a:t>(~30 min)</a:t>
            </a:r>
            <a:endParaRPr dirty="0" i="1" lang="en-US" sz="4000"/>
          </a:p>
          <a:p>
            <a:r>
              <a:rPr dirty="0" lang="en-US" sz="4000"/>
              <a:t>Human Capabilities &amp; HCD + Break </a:t>
            </a:r>
            <a:r>
              <a:rPr dirty="0" i="1" lang="en-US" sz="3200"/>
              <a:t>(~30 min + 15 min)</a:t>
            </a:r>
            <a:endParaRPr dirty="0" i="1" lang="en-US" sz="4000"/>
          </a:p>
          <a:p>
            <a:r>
              <a:rPr dirty="0" lang="en-US" sz="4000"/>
              <a:t>Design Principles + Break </a:t>
            </a:r>
            <a:r>
              <a:rPr dirty="0" i="1" lang="en-US" sz="3200"/>
              <a:t>(~30 min + 15 min)</a:t>
            </a:r>
          </a:p>
          <a:p>
            <a:r>
              <a:rPr dirty="0" lang="en-US" sz="4000"/>
              <a:t>Activity </a:t>
            </a:r>
            <a:r>
              <a:rPr dirty="0" i="1" lang="en-US" sz="3200"/>
              <a:t>(~30 min + 15 min)</a:t>
            </a:r>
            <a:endParaRPr dirty="0" i="1" lang="en-US" sz="4000"/>
          </a:p>
          <a:p>
            <a:r>
              <a:rPr dirty="0" lang="en-US" sz="4000"/>
              <a:t>Coming Up </a:t>
            </a:r>
            <a:r>
              <a:rPr dirty="0" i="1" lang="en-US" sz="3200"/>
              <a:t>(~5 min)</a:t>
            </a:r>
            <a:endParaRPr dirty="0" i="1" lang="en-US" sz="4000"/>
          </a:p>
        </p:txBody>
      </p:sp>
      <p:sp>
        <p:nvSpPr>
          <p:cNvPr id="4" name="Arrow: Right 3">
            <a:extLst>
              <a:ext uri="{FF2B5EF4-FFF2-40B4-BE49-F238E27FC236}">
                <a16:creationId xmlns:a16="http://schemas.microsoft.com/office/drawing/2014/main" id="{B12E1BBD-A0A6-1688-D107-A8E96965CF88}"/>
              </a:ext>
              <a:ext uri="{C183D7F6-B498-43B3-948B-1728B52AA6E4}">
                <adec:decorative xmlns:adec="http://schemas.microsoft.com/office/drawing/2017/decorative" val="1"/>
              </a:ext>
            </a:extLst>
          </p:cNvPr>
          <p:cNvSpPr/>
          <p:nvPr/>
        </p:nvSpPr>
        <p:spPr>
          <a:xfrm>
            <a:off x="195942" y="3421208"/>
            <a:ext cx="862149" cy="3657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lang="en-US"/>
          </a:p>
        </p:txBody>
      </p:sp>
    </p:spTree>
    <p:extLst>
      <p:ext uri="{BB962C8B-B14F-4D97-AF65-F5344CB8AC3E}">
        <p14:creationId xmlns:p14="http://schemas.microsoft.com/office/powerpoint/2010/main" val="2134238451"/>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ABA01-43C0-434A-92E0-34EA8942F5FC}"/>
              </a:ext>
            </a:extLst>
          </p:cNvPr>
          <p:cNvSpPr>
            <a:spLocks noGrp="1"/>
          </p:cNvSpPr>
          <p:nvPr>
            <p:ph type="title"/>
          </p:nvPr>
        </p:nvSpPr>
        <p:spPr/>
        <p:txBody>
          <a:bodyPr/>
          <a:lstStyle/>
          <a:p>
            <a:r>
              <a:rPr dirty="0" lang="en-US"/>
              <a:t>Norman Doors</a:t>
            </a:r>
          </a:p>
        </p:txBody>
      </p:sp>
      <p:sp>
        <p:nvSpPr>
          <p:cNvPr id="5" name="TextBox 4">
            <a:extLst>
              <a:ext uri="{FF2B5EF4-FFF2-40B4-BE49-F238E27FC236}">
                <a16:creationId xmlns:a16="http://schemas.microsoft.com/office/drawing/2014/main" id="{A06AC1D6-A9CD-4683-8A21-0BD2B19BA0BC}"/>
              </a:ext>
            </a:extLst>
          </p:cNvPr>
          <p:cNvSpPr txBox="1"/>
          <p:nvPr/>
        </p:nvSpPr>
        <p:spPr>
          <a:xfrm>
            <a:off x="3046535" y="3244334"/>
            <a:ext cx="6093068" cy="1200329"/>
          </a:xfrm>
          <a:prstGeom prst="rect">
            <a:avLst/>
          </a:prstGeom>
          <a:noFill/>
        </p:spPr>
        <p:txBody>
          <a:bodyPr wrap="square">
            <a:spAutoFit/>
          </a:bodyPr>
          <a:lstStyle/>
          <a:p>
            <a:pPr algn="ctr"/>
            <a:r>
              <a:rPr dirty="0" lang="en-US" sz="3600">
                <a:hlinkClick r:id="rId2"/>
              </a:rPr>
              <a:t>Norman Doors video on YouTube</a:t>
            </a:r>
            <a:r>
              <a:rPr dirty="0" lang="en-US" sz="3600"/>
              <a:t> </a:t>
            </a:r>
          </a:p>
        </p:txBody>
      </p:sp>
    </p:spTree>
    <p:extLst>
      <p:ext uri="{BB962C8B-B14F-4D97-AF65-F5344CB8AC3E}">
        <p14:creationId xmlns:p14="http://schemas.microsoft.com/office/powerpoint/2010/main" val="3406139089"/>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4A00-A2EA-4EC3-A195-DC05D30B55C4}"/>
              </a:ext>
            </a:extLst>
          </p:cNvPr>
          <p:cNvSpPr>
            <a:spLocks noGrp="1"/>
          </p:cNvSpPr>
          <p:nvPr>
            <p:ph type="title"/>
          </p:nvPr>
        </p:nvSpPr>
        <p:spPr/>
        <p:txBody>
          <a:bodyPr/>
          <a:lstStyle/>
          <a:p>
            <a:r>
              <a:rPr dirty="0" lang="en-US"/>
              <a:t>Norman’s 6 Design Principles</a:t>
            </a:r>
          </a:p>
        </p:txBody>
      </p:sp>
      <p:sp>
        <p:nvSpPr>
          <p:cNvPr id="5" name="Content Placeholder 4">
            <a:extLst>
              <a:ext uri="{FF2B5EF4-FFF2-40B4-BE49-F238E27FC236}">
                <a16:creationId xmlns:a16="http://schemas.microsoft.com/office/drawing/2014/main" id="{72AB4398-7E15-4ADB-A101-4A44E1E88CFD}"/>
              </a:ext>
            </a:extLst>
          </p:cNvPr>
          <p:cNvSpPr>
            <a:spLocks noGrp="1"/>
          </p:cNvSpPr>
          <p:nvPr>
            <p:ph idx="1" sz="half"/>
          </p:nvPr>
        </p:nvSpPr>
        <p:spPr>
          <a:xfrm>
            <a:off x="1241660" y="1845734"/>
            <a:ext cx="4937760" cy="4023360"/>
          </a:xfrm>
        </p:spPr>
        <p:txBody>
          <a:bodyPr numCol="1">
            <a:normAutofit/>
          </a:bodyPr>
          <a:lstStyle/>
          <a:p>
            <a:r>
              <a:rPr dirty="0" lang="en-US"/>
              <a:t>Affordances</a:t>
            </a:r>
          </a:p>
          <a:p>
            <a:r>
              <a:rPr dirty="0" lang="en-US"/>
              <a:t>Signifiers</a:t>
            </a:r>
          </a:p>
          <a:p>
            <a:r>
              <a:rPr dirty="0" lang="en-US"/>
              <a:t>Constraints</a:t>
            </a:r>
          </a:p>
          <a:p>
            <a:r>
              <a:rPr dirty="0" lang="en-US"/>
              <a:t>Mappings</a:t>
            </a:r>
          </a:p>
          <a:p>
            <a:r>
              <a:rPr dirty="0" lang="en-US"/>
              <a:t>Feedback</a:t>
            </a:r>
          </a:p>
          <a:p>
            <a:r>
              <a:rPr dirty="0" lang="en-US"/>
              <a:t>Conceptual Model</a:t>
            </a:r>
          </a:p>
        </p:txBody>
      </p:sp>
      <p:pic>
        <p:nvPicPr>
          <p:cNvPr descr="Photo of a white porcelain sink with a silver faucet" id="6" name="Content Placeholder 5">
            <a:extLst>
              <a:ext uri="{FF2B5EF4-FFF2-40B4-BE49-F238E27FC236}">
                <a16:creationId xmlns:a16="http://schemas.microsoft.com/office/drawing/2014/main" id="{68F82278-4122-4170-AE22-13FAE3233DD1}"/>
              </a:ext>
            </a:extLst>
          </p:cNvPr>
          <p:cNvPicPr>
            <a:picLocks noChangeAspect="1" noGrp="1"/>
          </p:cNvPicPr>
          <p:nvPr>
            <p:ph idx="2" sz="half"/>
          </p:nvPr>
        </p:nvPicPr>
        <p:blipFill>
          <a:blip cstate="print" r:embed="rId2">
            <a:extLst>
              <a:ext uri="{28A0092B-C50C-407E-A947-70E740481C1C}">
                <a14:useLocalDpi xmlns:a14="http://schemas.microsoft.com/office/drawing/2010/main" val="0"/>
              </a:ext>
            </a:extLst>
          </a:blip>
          <a:stretch>
            <a:fillRect/>
          </a:stretch>
        </p:blipFill>
        <p:spPr>
          <a:xfrm>
            <a:off x="7723092" y="1846369"/>
            <a:ext cx="2681816" cy="4022725"/>
          </a:xfrm>
        </p:spPr>
      </p:pic>
      <p:sp>
        <p:nvSpPr>
          <p:cNvPr id="8" name="TextBox 7">
            <a:extLst>
              <a:ext uri="{FF2B5EF4-FFF2-40B4-BE49-F238E27FC236}">
                <a16:creationId xmlns:a16="http://schemas.microsoft.com/office/drawing/2014/main" id="{ABD0F7FA-BC73-4390-BC44-E8B3E1493859}"/>
              </a:ext>
            </a:extLst>
          </p:cNvPr>
          <p:cNvSpPr txBox="1"/>
          <p:nvPr/>
        </p:nvSpPr>
        <p:spPr>
          <a:xfrm>
            <a:off x="4396337" y="5869094"/>
            <a:ext cx="6008571" cy="261610"/>
          </a:xfrm>
          <a:prstGeom prst="rect">
            <a:avLst/>
          </a:prstGeom>
          <a:noFill/>
        </p:spPr>
        <p:txBody>
          <a:bodyPr wrap="square">
            <a:spAutoFit/>
          </a:bodyPr>
          <a:lstStyle/>
          <a:p>
            <a:pPr algn="r"/>
            <a:r>
              <a:rPr dirty="0" lang="en-US" sz="1050"/>
              <a:t>Photo by </a:t>
            </a:r>
            <a:r>
              <a:rPr dirty="0" lang="en-US" sz="1050">
                <a:hlinkClick r:id="rId3"/>
              </a:rPr>
              <a:t>Alfred Kenneally</a:t>
            </a:r>
            <a:endParaRPr dirty="0" lang="en-US" sz="1050"/>
          </a:p>
        </p:txBody>
      </p:sp>
    </p:spTree>
    <p:extLst>
      <p:ext uri="{BB962C8B-B14F-4D97-AF65-F5344CB8AC3E}">
        <p14:creationId xmlns:p14="http://schemas.microsoft.com/office/powerpoint/2010/main" val="2384302925"/>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282BA-FC5F-BCBB-591E-2087F86D8F9F}"/>
              </a:ext>
            </a:extLst>
          </p:cNvPr>
          <p:cNvSpPr>
            <a:spLocks noGrp="1"/>
          </p:cNvSpPr>
          <p:nvPr>
            <p:ph type="title"/>
          </p:nvPr>
        </p:nvSpPr>
        <p:spPr/>
        <p:txBody>
          <a:bodyPr/>
          <a:lstStyle/>
          <a:p>
            <a:r>
              <a:rPr dirty="0" lang="en-US"/>
              <a:t>Affordances</a:t>
            </a:r>
          </a:p>
        </p:txBody>
      </p:sp>
      <p:sp>
        <p:nvSpPr>
          <p:cNvPr id="5" name="Content Placeholder 4">
            <a:extLst>
              <a:ext uri="{FF2B5EF4-FFF2-40B4-BE49-F238E27FC236}">
                <a16:creationId xmlns:a16="http://schemas.microsoft.com/office/drawing/2014/main" id="{E5FC18EA-EC58-4FB6-1DCB-2F6891F2333F}"/>
              </a:ext>
            </a:extLst>
          </p:cNvPr>
          <p:cNvSpPr>
            <a:spLocks noGrp="1"/>
          </p:cNvSpPr>
          <p:nvPr>
            <p:ph idx="1"/>
          </p:nvPr>
        </p:nvSpPr>
        <p:spPr>
          <a:xfrm>
            <a:off x="1097280" y="1845734"/>
            <a:ext cx="10058400" cy="1192434"/>
          </a:xfrm>
        </p:spPr>
        <p:txBody>
          <a:bodyPr/>
          <a:lstStyle/>
          <a:p>
            <a:r>
              <a:rPr dirty="0" lang="en-US"/>
              <a:t>The user should be able to discern </a:t>
            </a:r>
            <a:r>
              <a:rPr b="1" dirty="0" lang="en-US"/>
              <a:t>what actions they can take</a:t>
            </a:r>
            <a:r>
              <a:rPr dirty="0" lang="en-US"/>
              <a:t> on the interface – what it </a:t>
            </a:r>
            <a:r>
              <a:rPr dirty="0" i="1" lang="en-US"/>
              <a:t>affords</a:t>
            </a:r>
            <a:r>
              <a:rPr dirty="0" lang="en-US"/>
              <a:t>.</a:t>
            </a:r>
          </a:p>
        </p:txBody>
      </p:sp>
      <p:pic>
        <p:nvPicPr>
          <p:cNvPr descr="An animated graphic of two switches changing positions" id="10" name="Google Shape;754;p90">
            <a:extLst>
              <a:ext uri="{FF2B5EF4-FFF2-40B4-BE49-F238E27FC236}">
                <a16:creationId xmlns:a16="http://schemas.microsoft.com/office/drawing/2014/main" id="{226391B3-6FD8-EBD7-2AF5-310E1B84D8A3}"/>
              </a:ext>
            </a:extLst>
          </p:cNvPr>
          <p:cNvPicPr preferRelativeResize="0"/>
          <p:nvPr/>
        </p:nvPicPr>
        <p:blipFill rotWithShape="1">
          <a:blip r:embed="rId2">
            <a:alphaModFix/>
          </a:blip>
          <a:srcRect l="32419" r="31948" t="46786"/>
          <a:stretch/>
        </p:blipFill>
        <p:spPr>
          <a:xfrm>
            <a:off x="1356800" y="2854467"/>
            <a:ext cx="1803267" cy="2019800"/>
          </a:xfrm>
          <a:prstGeom prst="rect">
            <a:avLst/>
          </a:prstGeom>
          <a:noFill/>
          <a:ln cap="flat" cmpd="sng" w="19050">
            <a:solidFill>
              <a:srgbClr val="CCCCCC"/>
            </a:solidFill>
            <a:prstDash val="solid"/>
            <a:round/>
            <a:headEnd len="sm" type="none" w="sm"/>
            <a:tailEnd len="sm" type="none" w="sm"/>
          </a:ln>
        </p:spPr>
      </p:pic>
      <p:sp>
        <p:nvSpPr>
          <p:cNvPr id="13" name="Google Shape;749;p90">
            <a:extLst>
              <a:ext uri="{FF2B5EF4-FFF2-40B4-BE49-F238E27FC236}">
                <a16:creationId xmlns:a16="http://schemas.microsoft.com/office/drawing/2014/main" id="{1C7B6038-B129-FA8F-37DA-E3E75FD22B0B}"/>
              </a:ext>
            </a:extLst>
          </p:cNvPr>
          <p:cNvSpPr txBox="1"/>
          <p:nvPr/>
        </p:nvSpPr>
        <p:spPr>
          <a:xfrm>
            <a:off x="989973" y="5057533"/>
            <a:ext cx="2472800" cy="1300800"/>
          </a:xfrm>
          <a:prstGeom prst="rect">
            <a:avLst/>
          </a:prstGeom>
          <a:noFill/>
          <a:ln>
            <a:noFill/>
          </a:ln>
        </p:spPr>
        <p:txBody>
          <a:bodyPr anchor="t" anchorCtr="0" bIns="121900" lIns="121900" rIns="121900" spcFirstLastPara="1" tIns="121900" wrap="square">
            <a:noAutofit/>
          </a:bodyPr>
          <a:lstStyle/>
          <a:p>
            <a:pPr algn="ctr">
              <a:lnSpc>
                <a:spcPct val="90000"/>
              </a:lnSpc>
              <a:buClr>
                <a:srgbClr val="000000"/>
              </a:buClr>
              <a:buSzPts val="1600"/>
            </a:pPr>
            <a:r>
              <a:rPr dirty="0" lang="en" sz="2133">
                <a:solidFill>
                  <a:schemeClr val="dk1"/>
                </a:solidFill>
                <a:latin typeface="Lexend Deca Light"/>
                <a:ea typeface="Lexend Deca Light"/>
                <a:cs typeface="Lexend Deca Light"/>
                <a:sym typeface="Lexend Deca Light"/>
              </a:rPr>
              <a:t>a switch affords flipping </a:t>
            </a:r>
            <a:endParaRPr dirty="0" sz="2133">
              <a:solidFill>
                <a:schemeClr val="dk1"/>
              </a:solidFill>
              <a:latin typeface="Lexend Deca Light"/>
              <a:ea typeface="Lexend Deca Light"/>
              <a:cs typeface="Lexend Deca Light"/>
              <a:sym typeface="Lexend Deca Light"/>
            </a:endParaRPr>
          </a:p>
        </p:txBody>
      </p:sp>
      <p:pic>
        <p:nvPicPr>
          <p:cNvPr descr="Digital scroll wheel on a portable music device" id="11" name="Google Shape;755;p90">
            <a:extLst>
              <a:ext uri="{FF2B5EF4-FFF2-40B4-BE49-F238E27FC236}">
                <a16:creationId xmlns:a16="http://schemas.microsoft.com/office/drawing/2014/main" id="{011D73CA-2FAC-9EB0-05B2-414DE901C646}"/>
              </a:ext>
            </a:extLst>
          </p:cNvPr>
          <p:cNvPicPr preferRelativeResize="0"/>
          <p:nvPr/>
        </p:nvPicPr>
        <p:blipFill rotWithShape="1">
          <a:blip r:embed="rId3">
            <a:alphaModFix/>
          </a:blip>
          <a:srcRect l="40717" r="14642"/>
          <a:stretch/>
        </p:blipFill>
        <p:spPr>
          <a:xfrm>
            <a:off x="3879132" y="2886233"/>
            <a:ext cx="1803269" cy="2019800"/>
          </a:xfrm>
          <a:prstGeom prst="rect">
            <a:avLst/>
          </a:prstGeom>
          <a:noFill/>
          <a:ln cap="flat" cmpd="sng" w="19050">
            <a:solidFill>
              <a:srgbClr val="CCCCCC"/>
            </a:solidFill>
            <a:prstDash val="solid"/>
            <a:round/>
            <a:headEnd len="sm" type="none" w="sm"/>
            <a:tailEnd len="sm" type="none" w="sm"/>
          </a:ln>
        </p:spPr>
      </p:pic>
      <p:sp>
        <p:nvSpPr>
          <p:cNvPr id="12" name="Google Shape;748;p90">
            <a:extLst>
              <a:ext uri="{FF2B5EF4-FFF2-40B4-BE49-F238E27FC236}">
                <a16:creationId xmlns:a16="http://schemas.microsoft.com/office/drawing/2014/main" id="{04F3E4E2-FC0F-9EAD-F9EF-9AD586BF50B9}"/>
              </a:ext>
            </a:extLst>
          </p:cNvPr>
          <p:cNvSpPr txBox="1"/>
          <p:nvPr/>
        </p:nvSpPr>
        <p:spPr>
          <a:xfrm>
            <a:off x="3662656" y="5067251"/>
            <a:ext cx="2362000" cy="763600"/>
          </a:xfrm>
          <a:prstGeom prst="rect">
            <a:avLst/>
          </a:prstGeom>
          <a:noFill/>
          <a:ln>
            <a:noFill/>
          </a:ln>
        </p:spPr>
        <p:txBody>
          <a:bodyPr anchor="t" anchorCtr="0" bIns="121900" lIns="121900" rIns="121900" spcFirstLastPara="1" tIns="121900" wrap="square">
            <a:noAutofit/>
          </a:bodyPr>
          <a:lstStyle/>
          <a:p>
            <a:pPr algn="ctr">
              <a:lnSpc>
                <a:spcPct val="90000"/>
              </a:lnSpc>
              <a:buClr>
                <a:srgbClr val="000000"/>
              </a:buClr>
              <a:buSzPts val="1600"/>
            </a:pPr>
            <a:r>
              <a:rPr lang="en" sz="2133">
                <a:solidFill>
                  <a:schemeClr val="dk1"/>
                </a:solidFill>
                <a:latin typeface="Lexend Deca Light"/>
                <a:ea typeface="Lexend Deca Light"/>
                <a:cs typeface="Lexend Deca Light"/>
                <a:sym typeface="Lexend Deca Light"/>
              </a:rPr>
              <a:t>a wheel affords turning </a:t>
            </a:r>
            <a:endParaRPr sz="2133">
              <a:solidFill>
                <a:srgbClr val="000000"/>
              </a:solidFill>
              <a:latin typeface="Lexend Deca Light"/>
              <a:ea typeface="Lexend Deca Light"/>
              <a:cs typeface="Lexend Deca Light"/>
              <a:sym typeface="Lexend Deca Light"/>
            </a:endParaRPr>
          </a:p>
        </p:txBody>
      </p:sp>
      <p:pic>
        <p:nvPicPr>
          <p:cNvPr descr="A button that says Click Me" id="8" name="Google Shape;752;p90">
            <a:extLst>
              <a:ext uri="{FF2B5EF4-FFF2-40B4-BE49-F238E27FC236}">
                <a16:creationId xmlns:a16="http://schemas.microsoft.com/office/drawing/2014/main" id="{48D5EA5E-B244-D92E-7528-683A2D76211C}"/>
              </a:ext>
            </a:extLst>
          </p:cNvPr>
          <p:cNvPicPr preferRelativeResize="0"/>
          <p:nvPr/>
        </p:nvPicPr>
        <p:blipFill rotWithShape="1">
          <a:blip r:embed="rId4">
            <a:alphaModFix/>
          </a:blip>
          <a:srcRect b="25161" l="18452" r="18635" t="29192"/>
          <a:stretch/>
        </p:blipFill>
        <p:spPr>
          <a:xfrm>
            <a:off x="6166631" y="3948100"/>
            <a:ext cx="2020000" cy="623600"/>
          </a:xfrm>
          <a:prstGeom prst="rect">
            <a:avLst/>
          </a:prstGeom>
          <a:noFill/>
          <a:ln>
            <a:noFill/>
          </a:ln>
        </p:spPr>
      </p:pic>
      <p:sp>
        <p:nvSpPr>
          <p:cNvPr id="14" name="Google Shape;750;p90">
            <a:extLst>
              <a:ext uri="{FF2B5EF4-FFF2-40B4-BE49-F238E27FC236}">
                <a16:creationId xmlns:a16="http://schemas.microsoft.com/office/drawing/2014/main" id="{C9A41443-3CBF-1AD8-9AEF-65194A04B2FD}"/>
              </a:ext>
            </a:extLst>
          </p:cNvPr>
          <p:cNvSpPr txBox="1"/>
          <p:nvPr/>
        </p:nvSpPr>
        <p:spPr>
          <a:xfrm>
            <a:off x="6047035" y="5057524"/>
            <a:ext cx="2472800" cy="918000"/>
          </a:xfrm>
          <a:prstGeom prst="rect">
            <a:avLst/>
          </a:prstGeom>
          <a:noFill/>
          <a:ln>
            <a:noFill/>
          </a:ln>
        </p:spPr>
        <p:txBody>
          <a:bodyPr anchor="t" anchorCtr="0" bIns="121900" lIns="121900" rIns="121900" spcFirstLastPara="1" tIns="121900" wrap="square">
            <a:noAutofit/>
          </a:bodyPr>
          <a:lstStyle/>
          <a:p>
            <a:pPr algn="ctr">
              <a:lnSpc>
                <a:spcPct val="90000"/>
              </a:lnSpc>
              <a:buClr>
                <a:srgbClr val="000000"/>
              </a:buClr>
              <a:buSzPts val="1600"/>
            </a:pPr>
            <a:r>
              <a:rPr lang="en" sz="2133">
                <a:solidFill>
                  <a:schemeClr val="dk1"/>
                </a:solidFill>
                <a:latin typeface="Lexend Deca Light"/>
                <a:ea typeface="Lexend Deca Light"/>
                <a:cs typeface="Lexend Deca Light"/>
                <a:sym typeface="Lexend Deca Light"/>
              </a:rPr>
              <a:t>a button affords pressing </a:t>
            </a:r>
            <a:endParaRPr sz="2133">
              <a:solidFill>
                <a:schemeClr val="dk1"/>
              </a:solidFill>
              <a:latin typeface="Lexend Deca Light"/>
              <a:ea typeface="Lexend Deca Light"/>
              <a:cs typeface="Lexend Deca Light"/>
              <a:sym typeface="Lexend Deca Light"/>
            </a:endParaRPr>
          </a:p>
        </p:txBody>
      </p:sp>
      <p:pic>
        <p:nvPicPr>
          <p:cNvPr descr="An animated screenshot of an item being dragged off the screen." id="9" name="Google Shape;753;p90">
            <a:extLst>
              <a:ext uri="{FF2B5EF4-FFF2-40B4-BE49-F238E27FC236}">
                <a16:creationId xmlns:a16="http://schemas.microsoft.com/office/drawing/2014/main" id="{4C69DFB5-8DE8-7C4D-7E4D-3134DD9ED715}"/>
              </a:ext>
            </a:extLst>
          </p:cNvPr>
          <p:cNvPicPr preferRelativeResize="0"/>
          <p:nvPr/>
        </p:nvPicPr>
        <p:blipFill rotWithShape="1">
          <a:blip r:embed="rId5">
            <a:alphaModFix/>
          </a:blip>
          <a:srcRect b="29839" r="65211"/>
          <a:stretch/>
        </p:blipFill>
        <p:spPr>
          <a:xfrm>
            <a:off x="8857526" y="2881885"/>
            <a:ext cx="1803267" cy="2028500"/>
          </a:xfrm>
          <a:prstGeom prst="rect">
            <a:avLst/>
          </a:prstGeom>
          <a:noFill/>
          <a:ln cap="flat" cmpd="sng" w="19050">
            <a:solidFill>
              <a:srgbClr val="CCCCCC"/>
            </a:solidFill>
            <a:prstDash val="solid"/>
            <a:round/>
            <a:headEnd len="sm" type="none" w="sm"/>
            <a:tailEnd len="sm" type="none" w="sm"/>
          </a:ln>
        </p:spPr>
      </p:pic>
      <p:sp>
        <p:nvSpPr>
          <p:cNvPr id="15" name="Google Shape;751;p90">
            <a:extLst>
              <a:ext uri="{FF2B5EF4-FFF2-40B4-BE49-F238E27FC236}">
                <a16:creationId xmlns:a16="http://schemas.microsoft.com/office/drawing/2014/main" id="{1F12281D-BC2B-E138-2AD8-0D7CA5C945A6}"/>
              </a:ext>
            </a:extLst>
          </p:cNvPr>
          <p:cNvSpPr txBox="1"/>
          <p:nvPr/>
        </p:nvSpPr>
        <p:spPr>
          <a:xfrm>
            <a:off x="8522759" y="5057533"/>
            <a:ext cx="2472800" cy="1300800"/>
          </a:xfrm>
          <a:prstGeom prst="rect">
            <a:avLst/>
          </a:prstGeom>
          <a:noFill/>
          <a:ln>
            <a:noFill/>
          </a:ln>
        </p:spPr>
        <p:txBody>
          <a:bodyPr anchor="t" anchorCtr="0" bIns="121900" lIns="121900" rIns="121900" spcFirstLastPara="1" tIns="121900" wrap="square">
            <a:noAutofit/>
          </a:bodyPr>
          <a:lstStyle/>
          <a:p>
            <a:pPr algn="ctr">
              <a:lnSpc>
                <a:spcPct val="90000"/>
              </a:lnSpc>
              <a:buClr>
                <a:srgbClr val="000000"/>
              </a:buClr>
              <a:buSzPts val="1600"/>
            </a:pPr>
            <a:r>
              <a:rPr dirty="0" lang="en" sz="2133">
                <a:solidFill>
                  <a:schemeClr val="dk1"/>
                </a:solidFill>
                <a:latin typeface="Lexend Deca Light"/>
                <a:ea typeface="Lexend Deca Light"/>
                <a:cs typeface="Lexend Deca Light"/>
                <a:sym typeface="Lexend Deca Light"/>
              </a:rPr>
              <a:t>a grip affords dragging</a:t>
            </a:r>
            <a:endParaRPr dirty="0" sz="2133">
              <a:solidFill>
                <a:schemeClr val="dk1"/>
              </a:solidFill>
              <a:latin typeface="Lexend Deca Light"/>
              <a:ea typeface="Lexend Deca Light"/>
              <a:cs typeface="Lexend Deca Light"/>
              <a:sym typeface="Lexend Deca Light"/>
            </a:endParaRPr>
          </a:p>
        </p:txBody>
      </p:sp>
    </p:spTree>
    <p:extLst>
      <p:ext uri="{BB962C8B-B14F-4D97-AF65-F5344CB8AC3E}">
        <p14:creationId xmlns:p14="http://schemas.microsoft.com/office/powerpoint/2010/main" val="492708410"/>
      </p:ext>
    </p:extLst>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4DE85-7580-3F0B-3B68-72548CBFD246}"/>
              </a:ext>
            </a:extLst>
          </p:cNvPr>
          <p:cNvSpPr>
            <a:spLocks noGrp="1"/>
          </p:cNvSpPr>
          <p:nvPr>
            <p:ph type="title"/>
          </p:nvPr>
        </p:nvSpPr>
        <p:spPr/>
        <p:txBody>
          <a:bodyPr/>
          <a:lstStyle/>
          <a:p>
            <a:r>
              <a:rPr dirty="0" lang="en-US"/>
              <a:t>Signifiers</a:t>
            </a:r>
          </a:p>
        </p:txBody>
      </p:sp>
      <p:sp>
        <p:nvSpPr>
          <p:cNvPr id="3" name="Content Placeholder 2">
            <a:extLst>
              <a:ext uri="{FF2B5EF4-FFF2-40B4-BE49-F238E27FC236}">
                <a16:creationId xmlns:a16="http://schemas.microsoft.com/office/drawing/2014/main" id="{2CE927F7-3F99-664D-C39A-00A52F0654AB}"/>
              </a:ext>
            </a:extLst>
          </p:cNvPr>
          <p:cNvSpPr>
            <a:spLocks noGrp="1"/>
          </p:cNvSpPr>
          <p:nvPr>
            <p:ph idx="1"/>
          </p:nvPr>
        </p:nvSpPr>
        <p:spPr>
          <a:xfrm>
            <a:off x="1097280" y="1845734"/>
            <a:ext cx="5795133" cy="4023360"/>
          </a:xfrm>
        </p:spPr>
        <p:txBody>
          <a:bodyPr/>
          <a:lstStyle/>
          <a:p>
            <a:r>
              <a:rPr dirty="0" lang="en-US"/>
              <a:t>Good signifiers </a:t>
            </a:r>
            <a:r>
              <a:rPr b="1" dirty="0" lang="en-US"/>
              <a:t>communicate</a:t>
            </a:r>
            <a:r>
              <a:rPr dirty="0" lang="en-US"/>
              <a:t> what the affordances of the interface are</a:t>
            </a:r>
          </a:p>
        </p:txBody>
      </p:sp>
      <p:sp>
        <p:nvSpPr>
          <p:cNvPr id="4" name="Rectangle 3">
            <a:extLst>
              <a:ext uri="{FF2B5EF4-FFF2-40B4-BE49-F238E27FC236}">
                <a16:creationId xmlns:a16="http://schemas.microsoft.com/office/drawing/2014/main" id="{F0D5D38C-A2D1-9EEE-215D-E5E8BA04E07C}"/>
              </a:ext>
            </a:extLst>
          </p:cNvPr>
          <p:cNvSpPr/>
          <p:nvPr/>
        </p:nvSpPr>
        <p:spPr>
          <a:xfrm>
            <a:off x="3082413" y="3429000"/>
            <a:ext cx="6027174" cy="946355"/>
          </a:xfrm>
          <a:prstGeom prst="rect">
            <a:avLst/>
          </a:prstGeom>
        </p:spPr>
        <p:style>
          <a:lnRef idx="2">
            <a:schemeClr val="accent1"/>
          </a:lnRef>
          <a:fillRef idx="1">
            <a:schemeClr val="lt1"/>
          </a:fillRef>
          <a:effectRef idx="0">
            <a:schemeClr val="accent1"/>
          </a:effectRef>
          <a:fontRef idx="minor">
            <a:schemeClr val="dk1"/>
          </a:fontRef>
        </p:style>
        <p:txBody>
          <a:bodyPr anchor="ctr" rtlCol="0"/>
          <a:lstStyle/>
          <a:p>
            <a:pPr algn="ctr"/>
            <a:r>
              <a:rPr dirty="0" lang="en-US" sz="3600"/>
              <a:t>To visit the link, </a:t>
            </a:r>
            <a:r>
              <a:rPr dirty="0" lang="en-US" sz="3600" u="sng">
                <a:solidFill>
                  <a:schemeClr val="accent1"/>
                </a:solidFill>
              </a:rPr>
              <a:t>click here</a:t>
            </a:r>
          </a:p>
        </p:txBody>
      </p:sp>
      <p:sp>
        <p:nvSpPr>
          <p:cNvPr id="5" name="TextBox 4">
            <a:extLst>
              <a:ext uri="{FF2B5EF4-FFF2-40B4-BE49-F238E27FC236}">
                <a16:creationId xmlns:a16="http://schemas.microsoft.com/office/drawing/2014/main" id="{678CFD90-88C9-968F-37EB-9DBFA3B3DE3C}"/>
              </a:ext>
            </a:extLst>
          </p:cNvPr>
          <p:cNvSpPr txBox="1"/>
          <p:nvPr/>
        </p:nvSpPr>
        <p:spPr>
          <a:xfrm>
            <a:off x="7079226" y="4935794"/>
            <a:ext cx="4739147" cy="830997"/>
          </a:xfrm>
          <a:prstGeom prst="rect">
            <a:avLst/>
          </a:prstGeom>
          <a:noFill/>
        </p:spPr>
        <p:txBody>
          <a:bodyPr rtlCol="0" wrap="square">
            <a:spAutoFit/>
          </a:bodyPr>
          <a:lstStyle/>
          <a:p>
            <a:r>
              <a:rPr b="1" dirty="0" lang="en-US" sz="2400"/>
              <a:t>Affordance:</a:t>
            </a:r>
            <a:r>
              <a:rPr dirty="0" lang="en-US" sz="2400"/>
              <a:t> I can click it</a:t>
            </a:r>
          </a:p>
          <a:p>
            <a:r>
              <a:rPr b="1" dirty="0" lang="en-US" sz="2400"/>
              <a:t>Signifier:</a:t>
            </a:r>
            <a:r>
              <a:rPr dirty="0" lang="en-US" sz="2400"/>
              <a:t> Blue text with underline</a:t>
            </a:r>
          </a:p>
        </p:txBody>
      </p:sp>
      <p:sp>
        <p:nvSpPr>
          <p:cNvPr id="16" name="Arc 15">
            <a:extLst>
              <a:ext uri="{FF2B5EF4-FFF2-40B4-BE49-F238E27FC236}">
                <a16:creationId xmlns:a16="http://schemas.microsoft.com/office/drawing/2014/main" id="{02560B85-706D-2DAD-E363-0397F9C6BE03}"/>
              </a:ext>
              <a:ext uri="{C183D7F6-B498-43B3-948B-1728B52AA6E4}">
                <adec:decorative xmlns:adec="http://schemas.microsoft.com/office/drawing/2017/decorative" val="1"/>
              </a:ext>
            </a:extLst>
          </p:cNvPr>
          <p:cNvSpPr/>
          <p:nvPr/>
        </p:nvSpPr>
        <p:spPr>
          <a:xfrm flipV="1" rot="15420867">
            <a:off x="7683196" y="3545852"/>
            <a:ext cx="2423797" cy="3049262"/>
          </a:xfrm>
          <a:prstGeom prst="arc">
            <a:avLst>
              <a:gd fmla="val 14890143" name="adj1"/>
              <a:gd fmla="val 0" name="adj2"/>
            </a:avLst>
          </a:prstGeom>
          <a:ln w="38100">
            <a:headEnd len="med" type="none" w="med"/>
            <a:tailEnd len="med" type="arrow" w="med"/>
          </a:ln>
        </p:spPr>
        <p:style>
          <a:lnRef idx="1">
            <a:schemeClr val="accent1"/>
          </a:lnRef>
          <a:fillRef idx="0">
            <a:schemeClr val="accent1"/>
          </a:fillRef>
          <a:effectRef idx="0">
            <a:schemeClr val="accent1"/>
          </a:effectRef>
          <a:fontRef idx="minor">
            <a:schemeClr val="tx1"/>
          </a:fontRef>
        </p:style>
        <p:txBody>
          <a:bodyPr anchor="ctr" rtlCol="0"/>
          <a:lstStyle/>
          <a:p>
            <a:pPr algn="ctr"/>
            <a:endParaRPr lang="en-US"/>
          </a:p>
        </p:txBody>
      </p:sp>
    </p:spTree>
    <p:extLst>
      <p:ext uri="{BB962C8B-B14F-4D97-AF65-F5344CB8AC3E}">
        <p14:creationId xmlns:p14="http://schemas.microsoft.com/office/powerpoint/2010/main" val="1553139599"/>
      </p:ext>
    </p:extLst>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0E3C0-A1DA-F651-F144-88DC0275A42E}"/>
              </a:ext>
            </a:extLst>
          </p:cNvPr>
          <p:cNvSpPr>
            <a:spLocks noGrp="1"/>
          </p:cNvSpPr>
          <p:nvPr>
            <p:ph type="title"/>
          </p:nvPr>
        </p:nvSpPr>
        <p:spPr/>
        <p:txBody>
          <a:bodyPr/>
          <a:lstStyle/>
          <a:p>
            <a:r>
              <a:rPr dirty="0" lang="en-US"/>
              <a:t>Constraints</a:t>
            </a:r>
          </a:p>
        </p:txBody>
      </p:sp>
      <p:sp>
        <p:nvSpPr>
          <p:cNvPr id="3" name="Content Placeholder 2">
            <a:extLst>
              <a:ext uri="{FF2B5EF4-FFF2-40B4-BE49-F238E27FC236}">
                <a16:creationId xmlns:a16="http://schemas.microsoft.com/office/drawing/2014/main" id="{5468003B-481E-E0B9-AB0E-672BE0A467A9}"/>
              </a:ext>
            </a:extLst>
          </p:cNvPr>
          <p:cNvSpPr>
            <a:spLocks noGrp="1"/>
          </p:cNvSpPr>
          <p:nvPr>
            <p:ph idx="1"/>
          </p:nvPr>
        </p:nvSpPr>
        <p:spPr>
          <a:xfrm>
            <a:off x="1097280" y="1845734"/>
            <a:ext cx="6139262" cy="4004460"/>
          </a:xfrm>
        </p:spPr>
        <p:txBody>
          <a:bodyPr/>
          <a:lstStyle/>
          <a:p>
            <a:r>
              <a:rPr dirty="0" lang="en-US"/>
              <a:t>Limiting the user’s </a:t>
            </a:r>
            <a:r>
              <a:rPr b="1" dirty="0" lang="en-US"/>
              <a:t>possible actions</a:t>
            </a:r>
            <a:r>
              <a:rPr dirty="0" lang="en-US"/>
              <a:t> with the system to reduce complexity and likelihood of error; constraints can be physical or digital.</a:t>
            </a:r>
          </a:p>
        </p:txBody>
      </p:sp>
      <p:pic>
        <p:nvPicPr>
          <p:cNvPr descr="Screenshot of a menu showing several options grayed out." id="5122" name="Picture 2">
            <a:extLst>
              <a:ext uri="{FF2B5EF4-FFF2-40B4-BE49-F238E27FC236}">
                <a16:creationId xmlns:a16="http://schemas.microsoft.com/office/drawing/2014/main" id="{1F2FA5CC-A6CF-828D-FFA4-E8885C48D5AD}"/>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32902" l="22472" r="39105" t="1"/>
          <a:stretch>
            <a:fillRect/>
          </a:stretch>
        </p:blipFill>
        <p:spPr bwMode="auto">
          <a:xfrm>
            <a:off x="7836309" y="727587"/>
            <a:ext cx="3539613" cy="4601497"/>
          </a:xfrm>
          <a:prstGeom prst="rect">
            <a:avLst/>
          </a:prstGeom>
          <a:ln>
            <a:noFill/>
          </a:ln>
          <a:effectLst>
            <a:outerShdw algn="tl" blurRad="292100" dir="2700000" dist="139700"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48F6972-D1D2-02E8-F02D-0B81627F6FA8}"/>
              </a:ext>
            </a:extLst>
          </p:cNvPr>
          <p:cNvSpPr txBox="1"/>
          <p:nvPr/>
        </p:nvSpPr>
        <p:spPr>
          <a:xfrm>
            <a:off x="2880852" y="4501704"/>
            <a:ext cx="3736258" cy="1015663"/>
          </a:xfrm>
          <a:prstGeom prst="rect">
            <a:avLst/>
          </a:prstGeom>
          <a:noFill/>
        </p:spPr>
        <p:txBody>
          <a:bodyPr rtlCol="0" wrap="square">
            <a:spAutoFit/>
          </a:bodyPr>
          <a:lstStyle/>
          <a:p>
            <a:r>
              <a:rPr dirty="0" lang="en-US" sz="2000"/>
              <a:t>Menu items that aren’t currently available are grayed out and can’t be clicked.</a:t>
            </a:r>
          </a:p>
        </p:txBody>
      </p:sp>
      <p:cxnSp>
        <p:nvCxnSpPr>
          <p:cNvPr id="6" name="Straight Arrow Connector 5">
            <a:extLst>
              <a:ext uri="{FF2B5EF4-FFF2-40B4-BE49-F238E27FC236}">
                <a16:creationId xmlns:a16="http://schemas.microsoft.com/office/drawing/2014/main" id="{4531C088-99AA-29B0-171E-DA711B60DDF6}"/>
              </a:ext>
              <a:ext uri="{C183D7F6-B498-43B3-948B-1728B52AA6E4}">
                <adec:decorative xmlns:adec="http://schemas.microsoft.com/office/drawing/2017/decorative" val="1"/>
              </a:ext>
            </a:extLst>
          </p:cNvPr>
          <p:cNvCxnSpPr/>
          <p:nvPr/>
        </p:nvCxnSpPr>
        <p:spPr>
          <a:xfrm flipV="1">
            <a:off x="6538452" y="3028335"/>
            <a:ext cx="1750142" cy="16616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4989717"/>
      </p:ext>
    </p:extLst>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13CBE-ADCE-A414-73E5-8F95E3BDEE14}"/>
              </a:ext>
            </a:extLst>
          </p:cNvPr>
          <p:cNvSpPr>
            <a:spLocks noGrp="1"/>
          </p:cNvSpPr>
          <p:nvPr>
            <p:ph type="title"/>
          </p:nvPr>
        </p:nvSpPr>
        <p:spPr/>
        <p:txBody>
          <a:bodyPr/>
          <a:lstStyle/>
          <a:p>
            <a:r>
              <a:rPr dirty="0" lang="en-US"/>
              <a:t>Mapping</a:t>
            </a:r>
          </a:p>
        </p:txBody>
      </p:sp>
      <p:sp>
        <p:nvSpPr>
          <p:cNvPr id="3" name="Content Placeholder 2">
            <a:extLst>
              <a:ext uri="{FF2B5EF4-FFF2-40B4-BE49-F238E27FC236}">
                <a16:creationId xmlns:a16="http://schemas.microsoft.com/office/drawing/2014/main" id="{91BD235C-7CC0-7FF9-BEDB-0ECA33F03230}"/>
              </a:ext>
            </a:extLst>
          </p:cNvPr>
          <p:cNvSpPr>
            <a:spLocks noGrp="1"/>
          </p:cNvSpPr>
          <p:nvPr>
            <p:ph idx="1"/>
          </p:nvPr>
        </p:nvSpPr>
        <p:spPr/>
        <p:txBody>
          <a:bodyPr/>
          <a:lstStyle/>
          <a:p>
            <a:r>
              <a:rPr dirty="0" lang="en-US"/>
              <a:t>It should be easy to </a:t>
            </a:r>
            <a:r>
              <a:rPr b="1" dirty="0" lang="en-US"/>
              <a:t>predict what reaction</a:t>
            </a:r>
            <a:r>
              <a:rPr dirty="0" lang="en-US"/>
              <a:t> the system will have when the user interacts with a system control.</a:t>
            </a:r>
          </a:p>
          <a:p>
            <a:endParaRPr dirty="0" lang="en-US"/>
          </a:p>
        </p:txBody>
      </p:sp>
      <p:grpSp>
        <p:nvGrpSpPr>
          <p:cNvPr descr="An image showing two different forms of text links, one with poor mapping indicated by a red X, and one with better mapping indicated by a green check" id="12" name="Group 11">
            <a:extLst>
              <a:ext uri="{FF2B5EF4-FFF2-40B4-BE49-F238E27FC236}">
                <a16:creationId xmlns:a16="http://schemas.microsoft.com/office/drawing/2014/main" id="{69835647-F61D-39B9-905F-A546944A0718}"/>
              </a:ext>
            </a:extLst>
          </p:cNvPr>
          <p:cNvGrpSpPr/>
          <p:nvPr/>
        </p:nvGrpSpPr>
        <p:grpSpPr>
          <a:xfrm>
            <a:off x="4267195" y="3429000"/>
            <a:ext cx="3660843" cy="1591033"/>
            <a:chOff x="6479458" y="3429000"/>
            <a:chExt cx="3660843" cy="1591033"/>
          </a:xfrm>
        </p:grpSpPr>
        <p:sp>
          <p:nvSpPr>
            <p:cNvPr id="5" name="TextBox 4">
              <a:extLst>
                <a:ext uri="{FF2B5EF4-FFF2-40B4-BE49-F238E27FC236}">
                  <a16:creationId xmlns:a16="http://schemas.microsoft.com/office/drawing/2014/main" id="{BAC1BCFD-AAA9-5005-9653-4B8A231A2F82}"/>
                </a:ext>
              </a:extLst>
            </p:cNvPr>
            <p:cNvSpPr txBox="1"/>
            <p:nvPr/>
          </p:nvSpPr>
          <p:spPr>
            <a:xfrm>
              <a:off x="6479458" y="3429000"/>
              <a:ext cx="3660843" cy="1487587"/>
            </a:xfrm>
            <a:prstGeom prst="rect">
              <a:avLst/>
            </a:prstGeom>
            <a:noFill/>
          </p:spPr>
          <p:txBody>
            <a:bodyPr rtlCol="0" wrap="square">
              <a:spAutoFit/>
            </a:bodyPr>
            <a:lstStyle/>
            <a:p>
              <a:pPr>
                <a:spcAft>
                  <a:spcPts val="3200"/>
                </a:spcAft>
              </a:pPr>
              <a:r>
                <a:rPr dirty="0" lang="en-US" sz="3200" u="sng">
                  <a:solidFill>
                    <a:schemeClr val="accent1"/>
                  </a:solidFill>
                </a:rPr>
                <a:t>click here</a:t>
              </a:r>
            </a:p>
            <a:p>
              <a:pPr>
                <a:spcAft>
                  <a:spcPts val="3200"/>
                </a:spcAft>
              </a:pPr>
              <a:r>
                <a:rPr dirty="0" lang="en-US" sz="3200"/>
                <a:t>visit </a:t>
              </a:r>
              <a:r>
                <a:rPr dirty="0" lang="en-US" sz="3200" u="sng">
                  <a:solidFill>
                    <a:schemeClr val="accent1"/>
                  </a:solidFill>
                </a:rPr>
                <a:t>Canvas</a:t>
              </a:r>
            </a:p>
          </p:txBody>
        </p:sp>
        <p:sp>
          <p:nvSpPr>
            <p:cNvPr id="8" name="TextBox 7">
              <a:extLst>
                <a:ext uri="{FF2B5EF4-FFF2-40B4-BE49-F238E27FC236}">
                  <a16:creationId xmlns:a16="http://schemas.microsoft.com/office/drawing/2014/main" id="{7A20E778-4D9B-AF8C-12B2-476AD918667A}"/>
                </a:ext>
              </a:extLst>
            </p:cNvPr>
            <p:cNvSpPr txBox="1"/>
            <p:nvPr/>
          </p:nvSpPr>
          <p:spPr>
            <a:xfrm>
              <a:off x="8416414" y="4250592"/>
              <a:ext cx="806245" cy="769441"/>
            </a:xfrm>
            <a:prstGeom prst="rect">
              <a:avLst/>
            </a:prstGeom>
            <a:noFill/>
          </p:spPr>
          <p:txBody>
            <a:bodyPr wrap="square">
              <a:spAutoFit/>
            </a:bodyPr>
            <a:lstStyle/>
            <a:p>
              <a:pPr algn="ctr" rtl="0">
                <a:buNone/>
              </a:pPr>
              <a:r>
                <a:rPr b="1" dirty="0" i="0" lang="en-US" strike="noStrike" sz="4400" u="none">
                  <a:solidFill>
                    <a:srgbClr val="166446"/>
                  </a:solidFill>
                  <a:effectLst/>
                  <a:latin charset="0" panose="020B0604020202020204" pitchFamily="34" typeface="Arial"/>
                </a:rPr>
                <a:t>✓</a:t>
              </a:r>
              <a:endParaRPr dirty="0" lang="en-US" sz="2400">
                <a:solidFill>
                  <a:srgbClr val="166446"/>
                </a:solidFill>
                <a:effectLst/>
              </a:endParaRPr>
            </a:p>
          </p:txBody>
        </p:sp>
        <p:sp>
          <p:nvSpPr>
            <p:cNvPr id="11" name="TextBox 10">
              <a:extLst>
                <a:ext uri="{FF2B5EF4-FFF2-40B4-BE49-F238E27FC236}">
                  <a16:creationId xmlns:a16="http://schemas.microsoft.com/office/drawing/2014/main" id="{1E130790-89E8-B044-A74B-E5B157E64E7B}"/>
                </a:ext>
              </a:extLst>
            </p:cNvPr>
            <p:cNvSpPr txBox="1"/>
            <p:nvPr/>
          </p:nvSpPr>
          <p:spPr>
            <a:xfrm>
              <a:off x="8219768" y="3509489"/>
              <a:ext cx="727587" cy="646331"/>
            </a:xfrm>
            <a:prstGeom prst="rect">
              <a:avLst/>
            </a:prstGeom>
            <a:noFill/>
          </p:spPr>
          <p:txBody>
            <a:bodyPr wrap="none">
              <a:normAutofit fontScale="92500" lnSpcReduction="20000"/>
            </a:bodyPr>
            <a:lstStyle/>
            <a:p>
              <a:pPr algn="ctr" rtl="0">
                <a:buNone/>
              </a:pPr>
              <a:r>
                <a:rPr b="1" dirty="0" i="0" lang="en-US" strike="noStrike" sz="4400" u="none">
                  <a:solidFill>
                    <a:srgbClr val="C00000"/>
                  </a:solidFill>
                  <a:effectLst/>
                  <a:latin charset="0" panose="020B0604020202020204" pitchFamily="34" typeface="Arial"/>
                </a:rPr>
                <a:t>✗</a:t>
              </a:r>
              <a:endParaRPr dirty="0" lang="en-US" sz="2400">
                <a:solidFill>
                  <a:srgbClr val="C00000"/>
                </a:solidFill>
                <a:effectLst/>
              </a:endParaRPr>
            </a:p>
          </p:txBody>
        </p:sp>
      </p:grpSp>
    </p:spTree>
    <p:extLst>
      <p:ext uri="{BB962C8B-B14F-4D97-AF65-F5344CB8AC3E}">
        <p14:creationId xmlns:p14="http://schemas.microsoft.com/office/powerpoint/2010/main" val="660029709"/>
      </p:ext>
    </p:extLst>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3DEED-A2FE-D199-9F43-75D946F36B34}"/>
              </a:ext>
            </a:extLst>
          </p:cNvPr>
          <p:cNvSpPr>
            <a:spLocks noGrp="1"/>
          </p:cNvSpPr>
          <p:nvPr>
            <p:ph type="title"/>
          </p:nvPr>
        </p:nvSpPr>
        <p:spPr/>
        <p:txBody>
          <a:bodyPr/>
          <a:lstStyle/>
          <a:p>
            <a:r>
              <a:rPr dirty="0" lang="en-US"/>
              <a:t>Feedback</a:t>
            </a:r>
          </a:p>
        </p:txBody>
      </p:sp>
      <p:sp>
        <p:nvSpPr>
          <p:cNvPr id="3" name="Content Placeholder 2">
            <a:extLst>
              <a:ext uri="{FF2B5EF4-FFF2-40B4-BE49-F238E27FC236}">
                <a16:creationId xmlns:a16="http://schemas.microsoft.com/office/drawing/2014/main" id="{0B66FA92-661F-25B6-26E9-F8669B2A5E19}"/>
              </a:ext>
            </a:extLst>
          </p:cNvPr>
          <p:cNvSpPr>
            <a:spLocks noGrp="1"/>
          </p:cNvSpPr>
          <p:nvPr>
            <p:ph idx="1"/>
          </p:nvPr>
        </p:nvSpPr>
        <p:spPr/>
        <p:txBody>
          <a:bodyPr/>
          <a:lstStyle/>
          <a:p>
            <a:r>
              <a:rPr dirty="0" lang="en-US"/>
              <a:t>Provide information back to users that indicates their </a:t>
            </a:r>
            <a:r>
              <a:rPr b="1" dirty="0" lang="en-US"/>
              <a:t>action was registered</a:t>
            </a:r>
            <a:r>
              <a:rPr dirty="0" lang="en-US"/>
              <a:t> by the system; feedback should be given for both actions and status.</a:t>
            </a:r>
          </a:p>
        </p:txBody>
      </p:sp>
      <p:grpSp>
        <p:nvGrpSpPr>
          <p:cNvPr descr="Screenshot showing the uploading status message from Google drive" id="7" name="Group 6">
            <a:extLst>
              <a:ext uri="{FF2B5EF4-FFF2-40B4-BE49-F238E27FC236}">
                <a16:creationId xmlns:a16="http://schemas.microsoft.com/office/drawing/2014/main" id="{C9983D18-E27D-3A61-C222-532DBD0F2912}"/>
              </a:ext>
            </a:extLst>
          </p:cNvPr>
          <p:cNvGrpSpPr/>
          <p:nvPr/>
        </p:nvGrpSpPr>
        <p:grpSpPr>
          <a:xfrm>
            <a:off x="1179870" y="3150513"/>
            <a:ext cx="9636466" cy="2968646"/>
            <a:chOff x="1179870" y="3150513"/>
            <a:chExt cx="9636466" cy="2968646"/>
          </a:xfrm>
        </p:grpSpPr>
        <p:pic>
          <p:nvPicPr>
            <p:cNvPr id="5" name="Picture 4">
              <a:extLst>
                <a:ext uri="{FF2B5EF4-FFF2-40B4-BE49-F238E27FC236}">
                  <a16:creationId xmlns:a16="http://schemas.microsoft.com/office/drawing/2014/main" id="{87F3DC05-029D-D96E-8CA4-F4939B8D4D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9870" y="3150513"/>
              <a:ext cx="6082103" cy="2968646"/>
            </a:xfrm>
            <a:prstGeom prst="rect">
              <a:avLst/>
            </a:prstGeom>
            <a:ln>
              <a:noFill/>
            </a:ln>
            <a:effectLst>
              <a:outerShdw algn="tl" blurRad="292100" dir="2700000" dist="139700" rotWithShape="0">
                <a:srgbClr val="333333">
                  <a:alpha val="65000"/>
                </a:srgbClr>
              </a:outerShdw>
            </a:effectLst>
          </p:spPr>
        </p:pic>
        <p:pic>
          <p:nvPicPr>
            <p:cNvPr id="6" name="Picture 5">
              <a:extLst>
                <a:ext uri="{FF2B5EF4-FFF2-40B4-BE49-F238E27FC236}">
                  <a16:creationId xmlns:a16="http://schemas.microsoft.com/office/drawing/2014/main" id="{3DCC8DEB-4683-8333-DF27-E6FD5515393A}"/>
                </a:ext>
              </a:extLst>
            </p:cNvPr>
            <p:cNvPicPr>
              <a:picLocks noChangeAspect="1"/>
            </p:cNvPicPr>
            <p:nvPr/>
          </p:nvPicPr>
          <p:blipFill>
            <a:blip r:embed="rId2">
              <a:extLst>
                <a:ext uri="{28A0092B-C50C-407E-A947-70E740481C1C}">
                  <a14:useLocalDpi xmlns:a14="http://schemas.microsoft.com/office/drawing/2010/main" val="0"/>
                </a:ext>
              </a:extLst>
            </a:blip>
            <a:srcRect l="64542" t="71184"/>
            <a:stretch>
              <a:fillRect/>
            </a:stretch>
          </p:blipFill>
          <p:spPr>
            <a:xfrm>
              <a:off x="5986475" y="3953224"/>
              <a:ext cx="4829861" cy="1915870"/>
            </a:xfrm>
            <a:prstGeom prst="rect">
              <a:avLst/>
            </a:prstGeom>
            <a:ln cmpd="thinThick" w="31750">
              <a:solidFill>
                <a:schemeClr val="tx2"/>
              </a:solidFill>
            </a:ln>
            <a:effectLst/>
          </p:spPr>
        </p:pic>
      </p:grpSp>
    </p:spTree>
    <p:extLst>
      <p:ext uri="{BB962C8B-B14F-4D97-AF65-F5344CB8AC3E}">
        <p14:creationId xmlns:p14="http://schemas.microsoft.com/office/powerpoint/2010/main" val="3066438618"/>
      </p:ext>
    </p:extLst>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625A-5B51-445C-78FE-5EC634A08355}"/>
              </a:ext>
            </a:extLst>
          </p:cNvPr>
          <p:cNvSpPr>
            <a:spLocks noGrp="1"/>
          </p:cNvSpPr>
          <p:nvPr>
            <p:ph type="title"/>
          </p:nvPr>
        </p:nvSpPr>
        <p:spPr/>
        <p:txBody>
          <a:bodyPr/>
          <a:lstStyle/>
          <a:p>
            <a:r>
              <a:rPr dirty="0" lang="en-US"/>
              <a:t>Conceptual Model</a:t>
            </a:r>
          </a:p>
        </p:txBody>
      </p:sp>
      <p:sp>
        <p:nvSpPr>
          <p:cNvPr id="3" name="Content Placeholder 2">
            <a:extLst>
              <a:ext uri="{FF2B5EF4-FFF2-40B4-BE49-F238E27FC236}">
                <a16:creationId xmlns:a16="http://schemas.microsoft.com/office/drawing/2014/main" id="{0DBACCA9-79AA-0958-C00A-A7D4A248D5AE}"/>
              </a:ext>
            </a:extLst>
          </p:cNvPr>
          <p:cNvSpPr>
            <a:spLocks noGrp="1"/>
          </p:cNvSpPr>
          <p:nvPr>
            <p:ph idx="1" sz="half"/>
          </p:nvPr>
        </p:nvSpPr>
        <p:spPr/>
        <p:txBody>
          <a:bodyPr/>
          <a:lstStyle/>
          <a:p>
            <a:r>
              <a:rPr dirty="0" lang="en-US"/>
              <a:t>Designers have to communicate their </a:t>
            </a:r>
            <a:r>
              <a:rPr b="1" dirty="0" lang="en-US">
                <a:solidFill>
                  <a:schemeClr val="tx2"/>
                </a:solidFill>
              </a:rPr>
              <a:t>conceptual model</a:t>
            </a:r>
            <a:r>
              <a:rPr dirty="0" lang="en-US"/>
              <a:t> to the user through the interface (system image)</a:t>
            </a:r>
          </a:p>
          <a:p>
            <a:r>
              <a:rPr dirty="0" lang="en-US"/>
              <a:t>The user refines their </a:t>
            </a:r>
            <a:r>
              <a:rPr b="1" dirty="0" lang="en-US">
                <a:solidFill>
                  <a:schemeClr val="tx2"/>
                </a:solidFill>
              </a:rPr>
              <a:t>mental model</a:t>
            </a:r>
            <a:r>
              <a:rPr dirty="0" lang="en-US"/>
              <a:t> through interacting with the system over time</a:t>
            </a:r>
          </a:p>
          <a:p>
            <a:endParaRPr dirty="0" lang="en-US"/>
          </a:p>
        </p:txBody>
      </p:sp>
      <p:pic>
        <p:nvPicPr>
          <p:cNvPr descr="Diagram of the relationship between the design model, the user's model, and the system image." id="1026" name="Picture 2">
            <a:extLst>
              <a:ext uri="{FF2B5EF4-FFF2-40B4-BE49-F238E27FC236}">
                <a16:creationId xmlns:a16="http://schemas.microsoft.com/office/drawing/2014/main" id="{F20C4820-C25F-62CA-E580-55CAF84851F2}"/>
              </a:ext>
            </a:extLst>
          </p:cNvPr>
          <p:cNvPicPr>
            <a:picLocks noChangeArrowheads="1" noChangeAspect="1" noGrp="1"/>
          </p:cNvPicPr>
          <p:nvPr>
            <p:ph idx="2" sz="half"/>
          </p:nvPr>
        </p:nvPicPr>
        <p:blipFill>
          <a:blip r:embed="rId2">
            <a:extLst>
              <a:ext uri="{28A0092B-C50C-407E-A947-70E740481C1C}">
                <a14:useLocalDpi xmlns:a14="http://schemas.microsoft.com/office/drawing/2010/main" val="0"/>
              </a:ext>
            </a:extLst>
          </a:blip>
          <a:srcRect/>
          <a:stretch>
            <a:fillRect/>
          </a:stretch>
        </p:blipFill>
        <p:spPr bwMode="auto">
          <a:xfrm>
            <a:off x="6218238" y="1977719"/>
            <a:ext cx="4937125" cy="3327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9189333"/>
      </p:ext>
    </p:extLst>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Shape 828"/>
        <p:cNvGrpSpPr/>
        <p:nvPr/>
      </p:nvGrpSpPr>
      <p:grpSpPr>
        <a:xfrm>
          <a:off x="0" y="0"/>
          <a:ext cx="0" cy="0"/>
          <a:chOff x="0" y="0"/>
          <a:chExt cx="0" cy="0"/>
        </a:xfrm>
      </p:grpSpPr>
      <p:grpSp>
        <p:nvGrpSpPr>
          <p:cNvPr descr="A cartoon of a designer with red hair imagining an e-book reader, labeled &quot;Designer Conceptual Model.&quot;" id="2" name="Group 1">
            <a:extLst>
              <a:ext uri="{FF2B5EF4-FFF2-40B4-BE49-F238E27FC236}">
                <a16:creationId xmlns:a16="http://schemas.microsoft.com/office/drawing/2014/main" id="{7EA53C2D-4012-EF73-D2C7-1A5BAA164BDF}"/>
              </a:ext>
            </a:extLst>
          </p:cNvPr>
          <p:cNvGrpSpPr/>
          <p:nvPr/>
        </p:nvGrpSpPr>
        <p:grpSpPr>
          <a:xfrm>
            <a:off x="51" y="0"/>
            <a:ext cx="12192000" cy="6858000"/>
            <a:chOff x="51" y="0"/>
            <a:chExt cx="12192000" cy="6858000"/>
          </a:xfrm>
        </p:grpSpPr>
        <p:sp>
          <p:nvSpPr>
            <p:cNvPr id="829" name="Google Shape;829;p97"/>
            <p:cNvSpPr/>
            <p:nvPr/>
          </p:nvSpPr>
          <p:spPr>
            <a:xfrm>
              <a:off x="51" y="0"/>
              <a:ext cx="12192000" cy="68580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pic>
          <p:nvPicPr>
            <p:cNvPr id="830" name="Google Shape;830;p97"/>
            <p:cNvPicPr preferRelativeResize="0"/>
            <p:nvPr/>
          </p:nvPicPr>
          <p:blipFill rotWithShape="1">
            <a:blip r:embed="rId3">
              <a:alphaModFix/>
            </a:blip>
            <a:srcRect/>
            <a:stretch/>
          </p:blipFill>
          <p:spPr>
            <a:xfrm>
              <a:off x="1549400" y="133351"/>
              <a:ext cx="9093200" cy="6591200"/>
            </a:xfrm>
            <a:prstGeom prst="rect">
              <a:avLst/>
            </a:prstGeom>
            <a:noFill/>
            <a:ln>
              <a:noFill/>
            </a:ln>
          </p:spPr>
        </p:pic>
        <p:sp>
          <p:nvSpPr>
            <p:cNvPr id="831" name="Google Shape;831;p97"/>
            <p:cNvSpPr txBox="1"/>
            <p:nvPr/>
          </p:nvSpPr>
          <p:spPr>
            <a:xfrm>
              <a:off x="4757737" y="5981700"/>
              <a:ext cx="675200" cy="369200"/>
            </a:xfrm>
            <a:prstGeom prst="rect">
              <a:avLst/>
            </a:prstGeom>
            <a:noFill/>
            <a:ln>
              <a:noFill/>
            </a:ln>
          </p:spPr>
          <p:txBody>
            <a:bodyPr anchor="t" anchorCtr="0" bIns="45700" lIns="91433" rIns="91433" spcFirstLastPara="1" tIns="45700" wrap="square">
              <a:noAutofit/>
            </a:bodyPr>
            <a:lstStyle/>
            <a:p>
              <a:pPr>
                <a:buClr>
                  <a:srgbClr val="000000"/>
                </a:buClr>
                <a:buSzPts val="1400"/>
              </a:pPr>
              <a:r>
                <a:rPr lang="en" sz="1867">
                  <a:solidFill>
                    <a:schemeClr val="dk1"/>
                  </a:solidFill>
                  <a:latin typeface="Calibri"/>
                  <a:ea typeface="Calibri"/>
                  <a:cs typeface="Calibri"/>
                  <a:sym typeface="Calibri"/>
                </a:rPr>
                <a:t>USER</a:t>
              </a:r>
              <a:endParaRPr sz="1867">
                <a:solidFill>
                  <a:schemeClr val="dk1"/>
                </a:solidFill>
                <a:latin typeface="Calibri"/>
                <a:ea typeface="Calibri"/>
                <a:cs typeface="Calibri"/>
                <a:sym typeface="Calibri"/>
              </a:endParaRPr>
            </a:p>
          </p:txBody>
        </p:sp>
        <p:sp>
          <p:nvSpPr>
            <p:cNvPr id="832" name="Google Shape;832;p97">
              <a:extLst>
                <a:ext uri="{C183D7F6-B498-43B3-948B-1728B52AA6E4}">
                  <adec:decorative xmlns:adec="http://schemas.microsoft.com/office/drawing/2017/decorative" val="1"/>
                </a:ext>
              </a:extLst>
            </p:cNvPr>
            <p:cNvSpPr/>
            <p:nvPr/>
          </p:nvSpPr>
          <p:spPr>
            <a:xfrm>
              <a:off x="427251" y="33000"/>
              <a:ext cx="6226000" cy="67920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sp>
          <p:nvSpPr>
            <p:cNvPr id="833" name="Google Shape;833;p97"/>
            <p:cNvSpPr/>
            <p:nvPr/>
          </p:nvSpPr>
          <p:spPr>
            <a:xfrm>
              <a:off x="5763251" y="1097651"/>
              <a:ext cx="2326000" cy="16724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sp>
          <p:nvSpPr>
            <p:cNvPr id="834" name="Google Shape;834;p97"/>
            <p:cNvSpPr/>
            <p:nvPr/>
          </p:nvSpPr>
          <p:spPr>
            <a:xfrm>
              <a:off x="5432925" y="2319751"/>
              <a:ext cx="2326000" cy="16724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sp>
          <p:nvSpPr>
            <p:cNvPr id="835" name="Google Shape;835;p97"/>
            <p:cNvSpPr txBox="1"/>
            <p:nvPr/>
          </p:nvSpPr>
          <p:spPr>
            <a:xfrm>
              <a:off x="8450551" y="3705725"/>
              <a:ext cx="1014000" cy="1126800"/>
            </a:xfrm>
            <a:prstGeom prst="rect">
              <a:avLst/>
            </a:prstGeom>
            <a:noFill/>
            <a:ln>
              <a:noFill/>
            </a:ln>
          </p:spPr>
          <p:txBody>
            <a:bodyPr anchor="ctr" anchorCtr="0" bIns="91433" lIns="91433" rIns="91433" spcFirstLastPara="1" tIns="91433" wrap="square">
              <a:noAutofit/>
            </a:bodyPr>
            <a:lstStyle/>
            <a:p>
              <a:pPr>
                <a:buClr>
                  <a:srgbClr val="000000"/>
                </a:buClr>
                <a:buSzPts val="1000"/>
              </a:pPr>
              <a:r>
                <a:rPr lang="en" sz="1333">
                  <a:solidFill>
                    <a:srgbClr val="5B0F00"/>
                  </a:solidFill>
                  <a:latin typeface="Calibri"/>
                  <a:ea typeface="Calibri"/>
                  <a:cs typeface="Calibri"/>
                  <a:sym typeface="Calibri"/>
                </a:rPr>
                <a:t>E-BOOK READER</a:t>
              </a:r>
              <a:endParaRPr sz="1333">
                <a:solidFill>
                  <a:srgbClr val="5B0F00"/>
                </a:solidFill>
                <a:latin typeface="Calibri"/>
                <a:ea typeface="Calibri"/>
                <a:cs typeface="Calibri"/>
                <a:sym typeface="Calibri"/>
              </a:endParaRPr>
            </a:p>
          </p:txBody>
        </p:sp>
        <p:sp>
          <p:nvSpPr>
            <p:cNvPr id="836" name="Google Shape;836;p97"/>
            <p:cNvSpPr txBox="1"/>
            <p:nvPr/>
          </p:nvSpPr>
          <p:spPr>
            <a:xfrm>
              <a:off x="6841575" y="5876875"/>
              <a:ext cx="1128800" cy="369200"/>
            </a:xfrm>
            <a:prstGeom prst="rect">
              <a:avLst/>
            </a:prstGeom>
            <a:noFill/>
            <a:ln>
              <a:noFill/>
            </a:ln>
          </p:spPr>
          <p:txBody>
            <a:bodyPr anchor="t" anchorCtr="0" bIns="45700" lIns="91433" rIns="91433" spcFirstLastPara="1" tIns="45700" wrap="square">
              <a:noAutofit/>
            </a:bodyPr>
            <a:lstStyle/>
            <a:p>
              <a:pPr algn="ctr">
                <a:buClr>
                  <a:srgbClr val="000000"/>
                </a:buClr>
                <a:buSzPts val="1000"/>
              </a:pPr>
              <a:r>
                <a:rPr b="1" lang="en" sz="1333">
                  <a:solidFill>
                    <a:srgbClr val="FFFFFF"/>
                  </a:solidFill>
                  <a:latin typeface="Calibri"/>
                  <a:ea typeface="Calibri"/>
                  <a:cs typeface="Calibri"/>
                  <a:sym typeface="Calibri"/>
                </a:rPr>
                <a:t>DESIGNER</a:t>
              </a:r>
              <a:endParaRPr b="1" sz="1333">
                <a:solidFill>
                  <a:srgbClr val="FFFFFF"/>
                </a:solidFill>
                <a:latin typeface="Calibri"/>
                <a:ea typeface="Calibri"/>
                <a:cs typeface="Calibri"/>
                <a:sym typeface="Calibri"/>
              </a:endParaRPr>
            </a:p>
          </p:txBody>
        </p:sp>
      </p:grpSp>
      <p:sp>
        <p:nvSpPr>
          <p:cNvPr id="3" name="Title 2">
            <a:extLst>
              <a:ext uri="{FF2B5EF4-FFF2-40B4-BE49-F238E27FC236}">
                <a16:creationId xmlns:a16="http://schemas.microsoft.com/office/drawing/2014/main" id="{D18A5EC6-7BBC-E383-F241-C0BA8A7460D9}"/>
              </a:ext>
            </a:extLst>
          </p:cNvPr>
          <p:cNvSpPr>
            <a:spLocks noGrp="1"/>
          </p:cNvSpPr>
          <p:nvPr>
            <p:ph type="title"/>
          </p:nvPr>
        </p:nvSpPr>
        <p:spPr>
          <a:xfrm>
            <a:off x="1097280" y="-1450757"/>
            <a:ext cx="10058400" cy="1450757"/>
          </a:xfrm>
        </p:spPr>
        <p:txBody>
          <a:bodyPr anchor="b" bIns="45720" lIns="91440" rIns="91440" rtlCol="0" tIns="45720" vert="horz">
            <a:normAutofit/>
          </a:bodyPr>
          <a:lstStyle/>
          <a:p>
            <a:r>
              <a:rPr dirty="0" lang="en-US"/>
              <a:t>Designer’s Conceptual Model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Shape 816"/>
        <p:cNvGrpSpPr/>
        <p:nvPr/>
      </p:nvGrpSpPr>
      <p:grpSpPr>
        <a:xfrm>
          <a:off x="0" y="0"/>
          <a:ext cx="0" cy="0"/>
          <a:chOff x="0" y="0"/>
          <a:chExt cx="0" cy="0"/>
        </a:xfrm>
      </p:grpSpPr>
      <p:grpSp>
        <p:nvGrpSpPr>
          <p:cNvPr descr="A cartoon of a user with black hair imagining a traditional book, labeled &quot;User Mental Model.&quot;" id="2" name="Group 1">
            <a:extLst>
              <a:ext uri="{FF2B5EF4-FFF2-40B4-BE49-F238E27FC236}">
                <a16:creationId xmlns:a16="http://schemas.microsoft.com/office/drawing/2014/main" id="{26CBB738-6D29-33A4-7825-64CFF92A356C}"/>
              </a:ext>
            </a:extLst>
          </p:cNvPr>
          <p:cNvGrpSpPr/>
          <p:nvPr/>
        </p:nvGrpSpPr>
        <p:grpSpPr>
          <a:xfrm>
            <a:off x="51" y="0"/>
            <a:ext cx="12192000" cy="6858000"/>
            <a:chOff x="51" y="0"/>
            <a:chExt cx="12192000" cy="6858000"/>
          </a:xfrm>
        </p:grpSpPr>
        <p:sp>
          <p:nvSpPr>
            <p:cNvPr id="817" name="Google Shape;817;p96"/>
            <p:cNvSpPr/>
            <p:nvPr/>
          </p:nvSpPr>
          <p:spPr>
            <a:xfrm>
              <a:off x="51" y="0"/>
              <a:ext cx="12192000" cy="68580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pic>
          <p:nvPicPr>
            <p:cNvPr id="818" name="Google Shape;818;p96"/>
            <p:cNvPicPr preferRelativeResize="0"/>
            <p:nvPr/>
          </p:nvPicPr>
          <p:blipFill rotWithShape="1">
            <a:blip r:embed="rId3">
              <a:alphaModFix/>
            </a:blip>
            <a:srcRect r="48605"/>
            <a:stretch/>
          </p:blipFill>
          <p:spPr>
            <a:xfrm>
              <a:off x="1549401" y="133367"/>
              <a:ext cx="4673599" cy="6591200"/>
            </a:xfrm>
            <a:prstGeom prst="rect">
              <a:avLst/>
            </a:prstGeom>
            <a:noFill/>
            <a:ln>
              <a:noFill/>
            </a:ln>
          </p:spPr>
        </p:pic>
        <p:sp>
          <p:nvSpPr>
            <p:cNvPr id="819" name="Google Shape;819;p96"/>
            <p:cNvSpPr txBox="1"/>
            <p:nvPr/>
          </p:nvSpPr>
          <p:spPr>
            <a:xfrm>
              <a:off x="4757625" y="5851475"/>
              <a:ext cx="675200" cy="369200"/>
            </a:xfrm>
            <a:prstGeom prst="rect">
              <a:avLst/>
            </a:prstGeom>
            <a:noFill/>
            <a:ln>
              <a:noFill/>
            </a:ln>
          </p:spPr>
          <p:txBody>
            <a:bodyPr anchor="t" anchorCtr="0" bIns="45700" lIns="91433" rIns="91433" spcFirstLastPara="1" tIns="45700" wrap="square">
              <a:noAutofit/>
            </a:bodyPr>
            <a:lstStyle/>
            <a:p>
              <a:pPr algn="ctr">
                <a:buClr>
                  <a:srgbClr val="000000"/>
                </a:buClr>
                <a:buSzPts val="1000"/>
              </a:pPr>
              <a:r>
                <a:rPr b="1" lang="en" sz="1333">
                  <a:solidFill>
                    <a:srgbClr val="FFFFFF"/>
                  </a:solidFill>
                  <a:latin typeface="Calibri"/>
                  <a:ea typeface="Calibri"/>
                  <a:cs typeface="Calibri"/>
                  <a:sym typeface="Calibri"/>
                </a:rPr>
                <a:t>USER</a:t>
              </a:r>
              <a:endParaRPr b="1" sz="1333">
                <a:solidFill>
                  <a:srgbClr val="FFFFFF"/>
                </a:solidFill>
                <a:latin typeface="Calibri"/>
                <a:ea typeface="Calibri"/>
                <a:cs typeface="Calibri"/>
                <a:sym typeface="Calibri"/>
              </a:endParaRPr>
            </a:p>
          </p:txBody>
        </p:sp>
        <p:sp>
          <p:nvSpPr>
            <p:cNvPr id="820" name="Google Shape;820;p96"/>
            <p:cNvSpPr/>
            <p:nvPr/>
          </p:nvSpPr>
          <p:spPr>
            <a:xfrm>
              <a:off x="4327025" y="723951"/>
              <a:ext cx="2326000" cy="30072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sp>
          <p:nvSpPr>
            <p:cNvPr id="821" name="Google Shape;821;p96"/>
            <p:cNvSpPr/>
            <p:nvPr/>
          </p:nvSpPr>
          <p:spPr>
            <a:xfrm>
              <a:off x="5763251" y="1097651"/>
              <a:ext cx="2326000" cy="16724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sp>
          <p:nvSpPr>
            <p:cNvPr id="822" name="Google Shape;822;p96"/>
            <p:cNvSpPr/>
            <p:nvPr/>
          </p:nvSpPr>
          <p:spPr>
            <a:xfrm>
              <a:off x="5432925" y="2319751"/>
              <a:ext cx="2326000" cy="16724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sp>
          <p:nvSpPr>
            <p:cNvPr id="823" name="Google Shape;823;p96"/>
            <p:cNvSpPr txBox="1"/>
            <p:nvPr/>
          </p:nvSpPr>
          <p:spPr>
            <a:xfrm>
              <a:off x="2677175" y="3654925"/>
              <a:ext cx="1364400" cy="1126800"/>
            </a:xfrm>
            <a:prstGeom prst="rect">
              <a:avLst/>
            </a:prstGeom>
            <a:noFill/>
            <a:ln>
              <a:noFill/>
            </a:ln>
          </p:spPr>
          <p:txBody>
            <a:bodyPr anchor="ctr" anchorCtr="0" bIns="91433" lIns="91433" rIns="91433" spcFirstLastPara="1" tIns="91433" wrap="square">
              <a:noAutofit/>
            </a:bodyPr>
            <a:lstStyle/>
            <a:p>
              <a:pPr algn="ctr">
                <a:buClr>
                  <a:srgbClr val="000000"/>
                </a:buClr>
                <a:buSzPts val="1000"/>
              </a:pPr>
              <a:r>
                <a:rPr lang="en" sz="1333">
                  <a:solidFill>
                    <a:srgbClr val="5B0F00"/>
                  </a:solidFill>
                  <a:latin typeface="Calibri"/>
                  <a:ea typeface="Calibri"/>
                  <a:cs typeface="Calibri"/>
                  <a:sym typeface="Calibri"/>
                </a:rPr>
                <a:t>TRADITIONAL BOOK</a:t>
              </a:r>
              <a:endParaRPr sz="1333">
                <a:solidFill>
                  <a:srgbClr val="5B0F00"/>
                </a:solidFill>
                <a:latin typeface="Calibri"/>
                <a:ea typeface="Calibri"/>
                <a:cs typeface="Calibri"/>
                <a:sym typeface="Calibri"/>
              </a:endParaRPr>
            </a:p>
          </p:txBody>
        </p:sp>
      </p:grpSp>
      <p:sp>
        <p:nvSpPr>
          <p:cNvPr id="3" name="Title 2">
            <a:extLst>
              <a:ext uri="{FF2B5EF4-FFF2-40B4-BE49-F238E27FC236}">
                <a16:creationId xmlns:a16="http://schemas.microsoft.com/office/drawing/2014/main" id="{4D764A0D-CDC8-89A2-A154-5D0F70EFAE56}"/>
              </a:ext>
            </a:extLst>
          </p:cNvPr>
          <p:cNvSpPr>
            <a:spLocks noGrp="1"/>
          </p:cNvSpPr>
          <p:nvPr>
            <p:ph type="title"/>
          </p:nvPr>
        </p:nvSpPr>
        <p:spPr>
          <a:xfrm>
            <a:off x="1097280" y="-1450757"/>
            <a:ext cx="10058400" cy="1450757"/>
          </a:xfrm>
        </p:spPr>
        <p:txBody>
          <a:bodyPr anchor="b" bIns="45720" lIns="91440" rIns="91440" rtlCol="0" tIns="45720" vert="horz">
            <a:normAutofit/>
          </a:bodyPr>
          <a:lstStyle/>
          <a:p>
            <a:r>
              <a:rPr dirty="0" lang="en-US"/>
              <a:t>User’s Mental Model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Shape 841"/>
        <p:cNvGrpSpPr/>
        <p:nvPr/>
      </p:nvGrpSpPr>
      <p:grpSpPr>
        <a:xfrm>
          <a:off x="0" y="0"/>
          <a:ext cx="0" cy="0"/>
          <a:chOff x="0" y="0"/>
          <a:chExt cx="0" cy="0"/>
        </a:xfrm>
      </p:grpSpPr>
      <p:grpSp>
        <p:nvGrpSpPr>
          <p:cNvPr descr="A cartoon of the user and designer imagining different models of the system, with an X between them." id="2" name="Group 1">
            <a:extLst>
              <a:ext uri="{FF2B5EF4-FFF2-40B4-BE49-F238E27FC236}">
                <a16:creationId xmlns:a16="http://schemas.microsoft.com/office/drawing/2014/main" id="{0FF0A58C-E291-7302-9A29-F35935AC3AA1}"/>
              </a:ext>
            </a:extLst>
          </p:cNvPr>
          <p:cNvGrpSpPr/>
          <p:nvPr/>
        </p:nvGrpSpPr>
        <p:grpSpPr>
          <a:xfrm>
            <a:off x="51" y="0"/>
            <a:ext cx="12192000" cy="6858000"/>
            <a:chOff x="51" y="0"/>
            <a:chExt cx="12192000" cy="6858000"/>
          </a:xfrm>
        </p:grpSpPr>
        <p:sp>
          <p:nvSpPr>
            <p:cNvPr id="842" name="Google Shape;842;p98"/>
            <p:cNvSpPr/>
            <p:nvPr/>
          </p:nvSpPr>
          <p:spPr>
            <a:xfrm>
              <a:off x="51" y="0"/>
              <a:ext cx="12192000" cy="68580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pic>
          <p:nvPicPr>
            <p:cNvPr id="843" name="Google Shape;843;p98"/>
            <p:cNvPicPr preferRelativeResize="0"/>
            <p:nvPr/>
          </p:nvPicPr>
          <p:blipFill rotWithShape="1">
            <a:blip r:embed="rId3">
              <a:alphaModFix/>
            </a:blip>
            <a:srcRect/>
            <a:stretch/>
          </p:blipFill>
          <p:spPr>
            <a:xfrm>
              <a:off x="1549400" y="133351"/>
              <a:ext cx="9093200" cy="6591200"/>
            </a:xfrm>
            <a:prstGeom prst="rect">
              <a:avLst/>
            </a:prstGeom>
            <a:noFill/>
            <a:ln>
              <a:noFill/>
            </a:ln>
          </p:spPr>
        </p:pic>
        <p:sp>
          <p:nvSpPr>
            <p:cNvPr id="844" name="Google Shape;844;p98"/>
            <p:cNvSpPr/>
            <p:nvPr/>
          </p:nvSpPr>
          <p:spPr>
            <a:xfrm>
              <a:off x="4327025" y="723951"/>
              <a:ext cx="2326000" cy="30072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sp>
          <p:nvSpPr>
            <p:cNvPr id="845" name="Google Shape;845;p98"/>
            <p:cNvSpPr/>
            <p:nvPr/>
          </p:nvSpPr>
          <p:spPr>
            <a:xfrm>
              <a:off x="5763251" y="1097651"/>
              <a:ext cx="2326000" cy="16724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sp>
          <p:nvSpPr>
            <p:cNvPr id="846" name="Google Shape;846;p98"/>
            <p:cNvSpPr/>
            <p:nvPr/>
          </p:nvSpPr>
          <p:spPr>
            <a:xfrm>
              <a:off x="5432925" y="2319751"/>
              <a:ext cx="2326000" cy="16724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sp>
          <p:nvSpPr>
            <p:cNvPr id="847" name="Google Shape;847;p98"/>
            <p:cNvSpPr txBox="1"/>
            <p:nvPr/>
          </p:nvSpPr>
          <p:spPr>
            <a:xfrm>
              <a:off x="8450551" y="3705725"/>
              <a:ext cx="1014000" cy="1126800"/>
            </a:xfrm>
            <a:prstGeom prst="rect">
              <a:avLst/>
            </a:prstGeom>
            <a:noFill/>
            <a:ln>
              <a:noFill/>
            </a:ln>
          </p:spPr>
          <p:txBody>
            <a:bodyPr anchor="ctr" anchorCtr="0" bIns="91433" lIns="91433" rIns="91433" spcFirstLastPara="1" tIns="91433" wrap="square">
              <a:noAutofit/>
            </a:bodyPr>
            <a:lstStyle/>
            <a:p>
              <a:pPr>
                <a:buClr>
                  <a:srgbClr val="000000"/>
                </a:buClr>
                <a:buSzPts val="1000"/>
              </a:pPr>
              <a:r>
                <a:rPr lang="en" sz="1333">
                  <a:solidFill>
                    <a:srgbClr val="5B0F00"/>
                  </a:solidFill>
                  <a:latin typeface="Calibri"/>
                  <a:ea typeface="Calibri"/>
                  <a:cs typeface="Calibri"/>
                  <a:sym typeface="Calibri"/>
                </a:rPr>
                <a:t>E-BOOK READER</a:t>
              </a:r>
              <a:endParaRPr sz="1333">
                <a:solidFill>
                  <a:srgbClr val="5B0F00"/>
                </a:solidFill>
                <a:latin typeface="Arial"/>
                <a:ea typeface="Arial"/>
                <a:cs typeface="Arial"/>
                <a:sym typeface="Arial"/>
              </a:endParaRPr>
            </a:p>
          </p:txBody>
        </p:sp>
        <p:sp>
          <p:nvSpPr>
            <p:cNvPr id="848" name="Google Shape;848;p98"/>
            <p:cNvSpPr txBox="1"/>
            <p:nvPr/>
          </p:nvSpPr>
          <p:spPr>
            <a:xfrm>
              <a:off x="2677175" y="3654925"/>
              <a:ext cx="1364400" cy="1126800"/>
            </a:xfrm>
            <a:prstGeom prst="rect">
              <a:avLst/>
            </a:prstGeom>
            <a:noFill/>
            <a:ln>
              <a:noFill/>
            </a:ln>
          </p:spPr>
          <p:txBody>
            <a:bodyPr anchor="ctr" anchorCtr="0" bIns="91433" lIns="91433" rIns="91433" spcFirstLastPara="1" tIns="91433" wrap="square">
              <a:noAutofit/>
            </a:bodyPr>
            <a:lstStyle/>
            <a:p>
              <a:pPr algn="ctr">
                <a:buClr>
                  <a:srgbClr val="000000"/>
                </a:buClr>
                <a:buSzPts val="1000"/>
              </a:pPr>
              <a:r>
                <a:rPr lang="en" sz="1333">
                  <a:solidFill>
                    <a:srgbClr val="5B0F00"/>
                  </a:solidFill>
                  <a:latin typeface="Calibri"/>
                  <a:ea typeface="Calibri"/>
                  <a:cs typeface="Calibri"/>
                  <a:sym typeface="Calibri"/>
                </a:rPr>
                <a:t>TRADITIONAL BOOK</a:t>
              </a:r>
              <a:endParaRPr sz="1333">
                <a:solidFill>
                  <a:srgbClr val="5B0F00"/>
                </a:solidFill>
                <a:latin typeface="Arial"/>
                <a:ea typeface="Arial"/>
                <a:cs typeface="Arial"/>
                <a:sym typeface="Arial"/>
              </a:endParaRPr>
            </a:p>
          </p:txBody>
        </p:sp>
        <p:sp>
          <p:nvSpPr>
            <p:cNvPr id="849" name="Google Shape;849;p98"/>
            <p:cNvSpPr txBox="1"/>
            <p:nvPr/>
          </p:nvSpPr>
          <p:spPr>
            <a:xfrm>
              <a:off x="4757625" y="5851475"/>
              <a:ext cx="675200" cy="369200"/>
            </a:xfrm>
            <a:prstGeom prst="rect">
              <a:avLst/>
            </a:prstGeom>
            <a:noFill/>
            <a:ln>
              <a:noFill/>
            </a:ln>
          </p:spPr>
          <p:txBody>
            <a:bodyPr anchor="t" anchorCtr="0" bIns="45700" lIns="91433" rIns="91433" spcFirstLastPara="1" tIns="45700" wrap="square">
              <a:noAutofit/>
            </a:bodyPr>
            <a:lstStyle/>
            <a:p>
              <a:pPr algn="ctr">
                <a:buClr>
                  <a:srgbClr val="000000"/>
                </a:buClr>
                <a:buSzPts val="1000"/>
              </a:pPr>
              <a:r>
                <a:rPr b="1" lang="en" sz="1333">
                  <a:solidFill>
                    <a:srgbClr val="FFFFFF"/>
                  </a:solidFill>
                  <a:latin typeface="Calibri"/>
                  <a:ea typeface="Calibri"/>
                  <a:cs typeface="Calibri"/>
                  <a:sym typeface="Calibri"/>
                </a:rPr>
                <a:t>USER</a:t>
              </a:r>
              <a:endParaRPr b="1" sz="1333">
                <a:solidFill>
                  <a:srgbClr val="FFFFFF"/>
                </a:solidFill>
                <a:latin typeface="Calibri"/>
                <a:ea typeface="Calibri"/>
                <a:cs typeface="Calibri"/>
                <a:sym typeface="Calibri"/>
              </a:endParaRPr>
            </a:p>
          </p:txBody>
        </p:sp>
        <p:sp>
          <p:nvSpPr>
            <p:cNvPr id="850" name="Google Shape;850;p98"/>
            <p:cNvSpPr txBox="1"/>
            <p:nvPr/>
          </p:nvSpPr>
          <p:spPr>
            <a:xfrm>
              <a:off x="6841575" y="5876875"/>
              <a:ext cx="1128800" cy="369200"/>
            </a:xfrm>
            <a:prstGeom prst="rect">
              <a:avLst/>
            </a:prstGeom>
            <a:noFill/>
            <a:ln>
              <a:noFill/>
            </a:ln>
          </p:spPr>
          <p:txBody>
            <a:bodyPr anchor="t" anchorCtr="0" bIns="45700" lIns="91433" rIns="91433" spcFirstLastPara="1" tIns="45700" wrap="square">
              <a:noAutofit/>
            </a:bodyPr>
            <a:lstStyle/>
            <a:p>
              <a:pPr algn="ctr">
                <a:buClr>
                  <a:srgbClr val="000000"/>
                </a:buClr>
                <a:buSzPts val="1000"/>
              </a:pPr>
              <a:r>
                <a:rPr b="1" lang="en" sz="1333">
                  <a:solidFill>
                    <a:srgbClr val="FFFFFF"/>
                  </a:solidFill>
                  <a:latin typeface="Calibri"/>
                  <a:ea typeface="Calibri"/>
                  <a:cs typeface="Calibri"/>
                  <a:sym typeface="Calibri"/>
                </a:rPr>
                <a:t>DESIGNER</a:t>
              </a:r>
              <a:endParaRPr b="1" sz="1333">
                <a:solidFill>
                  <a:srgbClr val="FFFFFF"/>
                </a:solidFill>
                <a:latin typeface="Calibri"/>
                <a:ea typeface="Calibri"/>
                <a:cs typeface="Calibri"/>
                <a:sym typeface="Calibri"/>
              </a:endParaRPr>
            </a:p>
          </p:txBody>
        </p:sp>
        <p:sp>
          <p:nvSpPr>
            <p:cNvPr id="851" name="Google Shape;851;p98"/>
            <p:cNvSpPr/>
            <p:nvPr/>
          </p:nvSpPr>
          <p:spPr>
            <a:xfrm>
              <a:off x="5578411" y="5232401"/>
              <a:ext cx="1333400" cy="294433"/>
            </a:xfrm>
            <a:custGeom>
              <a:avLst/>
              <a:gdLst/>
              <a:ahLst/>
              <a:cxnLst/>
              <a:rect b="b" l="l" r="r" t="t"/>
              <a:pathLst>
                <a:path extrusionOk="0" h="8833" w="40002">
                  <a:moveTo>
                    <a:pt x="3717" y="0"/>
                  </a:moveTo>
                  <a:cubicBezTo>
                    <a:pt x="2190" y="1527"/>
                    <a:pt x="-1336" y="4913"/>
                    <a:pt x="669" y="5715"/>
                  </a:cubicBezTo>
                  <a:cubicBezTo>
                    <a:pt x="2108" y="6291"/>
                    <a:pt x="4479" y="9932"/>
                    <a:pt x="4479" y="8382"/>
                  </a:cubicBezTo>
                  <a:cubicBezTo>
                    <a:pt x="4479" y="6577"/>
                    <a:pt x="-1326" y="5760"/>
                    <a:pt x="288" y="4953"/>
                  </a:cubicBezTo>
                  <a:cubicBezTo>
                    <a:pt x="5401" y="2397"/>
                    <a:pt x="11761" y="6043"/>
                    <a:pt x="17433" y="5334"/>
                  </a:cubicBezTo>
                  <a:cubicBezTo>
                    <a:pt x="22638" y="4683"/>
                    <a:pt x="27808" y="3429"/>
                    <a:pt x="33054" y="3429"/>
                  </a:cubicBezTo>
                  <a:cubicBezTo>
                    <a:pt x="35344" y="3429"/>
                    <a:pt x="40636" y="5220"/>
                    <a:pt x="39912" y="3048"/>
                  </a:cubicBezTo>
                  <a:cubicBezTo>
                    <a:pt x="39264" y="1105"/>
                    <a:pt x="32530" y="0"/>
                    <a:pt x="34578" y="0"/>
                  </a:cubicBezTo>
                  <a:cubicBezTo>
                    <a:pt x="36763" y="0"/>
                    <a:pt x="39912" y="1625"/>
                    <a:pt x="39912" y="3810"/>
                  </a:cubicBezTo>
                  <a:cubicBezTo>
                    <a:pt x="39912" y="5877"/>
                    <a:pt x="36646" y="6533"/>
                    <a:pt x="35721" y="8382"/>
                  </a:cubicBezTo>
                </a:path>
              </a:pathLst>
            </a:custGeom>
            <a:noFill/>
            <a:ln cap="flat" cmpd="sng" w="38100">
              <a:solidFill>
                <a:schemeClr val="dk2"/>
              </a:solidFill>
              <a:prstDash val="solid"/>
              <a:round/>
              <a:headEnd len="sm" type="none" w="sm"/>
              <a:tailEnd len="sm" type="none" w="sm"/>
            </a:ln>
          </p:spPr>
          <p:txBody>
            <a:bodyPr anchor="ctr" anchorCtr="0" bIns="121900" lIns="121900" rIns="121900" spcFirstLastPara="1" tIns="121900" wrap="square">
              <a:noAutofit/>
            </a:bodyPr>
            <a:lstStyle/>
            <a:p>
              <a:pPr>
                <a:buClr>
                  <a:srgbClr val="000000"/>
                </a:buClr>
                <a:buSzPts val="1400"/>
              </a:pPr>
              <a:endParaRPr sz="1867">
                <a:solidFill>
                  <a:srgbClr val="000000"/>
                </a:solidFill>
                <a:latin typeface="Arial"/>
                <a:ea typeface="Arial"/>
                <a:cs typeface="Arial"/>
                <a:sym typeface="Arial"/>
              </a:endParaRPr>
            </a:p>
          </p:txBody>
        </p:sp>
        <p:sp>
          <p:nvSpPr>
            <p:cNvPr id="852" name="Google Shape;852;p98"/>
            <p:cNvSpPr/>
            <p:nvPr/>
          </p:nvSpPr>
          <p:spPr>
            <a:xfrm>
              <a:off x="6022709" y="5166008"/>
              <a:ext cx="444800" cy="427200"/>
            </a:xfrm>
            <a:prstGeom prst="rect">
              <a:avLst/>
            </a:prstGeom>
            <a:solidFill>
              <a:srgbClr val="FFFFFF"/>
            </a:solidFill>
            <a:ln>
              <a:noFill/>
            </a:ln>
          </p:spPr>
          <p:txBody>
            <a:bodyPr anchor="ctr" anchorCtr="0" bIns="121900" lIns="121900" rIns="121900" spcFirstLastPara="1" tIns="121900" wrap="square">
              <a:noAutofit/>
            </a:bodyPr>
            <a:lstStyle/>
            <a:p>
              <a:pPr algn="ctr">
                <a:buClr>
                  <a:srgbClr val="000000"/>
                </a:buClr>
                <a:buSzPts val="2000"/>
              </a:pPr>
              <a:r>
                <a:rPr b="1" lang="en" sz="2667">
                  <a:solidFill>
                    <a:schemeClr val="accent4">
                      <a:lumMod val="50000"/>
                    </a:schemeClr>
                  </a:solidFill>
                  <a:latin typeface="Arial"/>
                  <a:ea typeface="Arial"/>
                  <a:cs typeface="Arial"/>
                  <a:sym typeface="Arial"/>
                </a:rPr>
                <a:t>✗</a:t>
              </a:r>
              <a:endParaRPr b="1" sz="2667">
                <a:solidFill>
                  <a:schemeClr val="accent4">
                    <a:lumMod val="50000"/>
                  </a:schemeClr>
                </a:solidFill>
                <a:latin typeface="Arial"/>
                <a:ea typeface="Arial"/>
                <a:cs typeface="Arial"/>
                <a:sym typeface="Arial"/>
              </a:endParaRPr>
            </a:p>
          </p:txBody>
        </p:sp>
      </p:grpSp>
      <p:sp>
        <p:nvSpPr>
          <p:cNvPr id="3" name="Title 2">
            <a:extLst>
              <a:ext uri="{FF2B5EF4-FFF2-40B4-BE49-F238E27FC236}">
                <a16:creationId xmlns:a16="http://schemas.microsoft.com/office/drawing/2014/main" id="{E5C302CF-8EFF-92BD-1297-166C0A1096D0}"/>
              </a:ext>
            </a:extLst>
          </p:cNvPr>
          <p:cNvSpPr>
            <a:spLocks noGrp="1"/>
          </p:cNvSpPr>
          <p:nvPr>
            <p:ph type="title"/>
          </p:nvPr>
        </p:nvSpPr>
        <p:spPr>
          <a:xfrm>
            <a:off x="1097280" y="-1450757"/>
            <a:ext cx="10058400" cy="1450757"/>
          </a:xfrm>
        </p:spPr>
        <p:txBody>
          <a:bodyPr anchor="b" bIns="45720" lIns="91440" rIns="91440" rtlCol="0" tIns="45720" vert="horz">
            <a:normAutofit/>
          </a:bodyPr>
          <a:lstStyle/>
          <a:p>
            <a:r>
              <a:rPr dirty="0" lang="en-US"/>
              <a:t>Designers and Users have Different Models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Shape 857"/>
        <p:cNvGrpSpPr/>
        <p:nvPr/>
      </p:nvGrpSpPr>
      <p:grpSpPr>
        <a:xfrm>
          <a:off x="0" y="0"/>
          <a:ext cx="0" cy="0"/>
          <a:chOff x="0" y="0"/>
          <a:chExt cx="0" cy="0"/>
        </a:xfrm>
      </p:grpSpPr>
      <p:grpSp>
        <p:nvGrpSpPr>
          <p:cNvPr descr="A cartoon of a user and designer imagining models of the system, with an arrow labeled Metaphor." id="2" name="Group 1">
            <a:extLst>
              <a:ext uri="{FF2B5EF4-FFF2-40B4-BE49-F238E27FC236}">
                <a16:creationId xmlns:a16="http://schemas.microsoft.com/office/drawing/2014/main" id="{2C875DD0-0DD7-31BD-74FF-E13E500FD5E0}"/>
              </a:ext>
            </a:extLst>
          </p:cNvPr>
          <p:cNvGrpSpPr/>
          <p:nvPr/>
        </p:nvGrpSpPr>
        <p:grpSpPr>
          <a:xfrm>
            <a:off x="51" y="0"/>
            <a:ext cx="12192000" cy="6858000"/>
            <a:chOff x="51" y="0"/>
            <a:chExt cx="12192000" cy="6858000"/>
          </a:xfrm>
        </p:grpSpPr>
        <p:sp>
          <p:nvSpPr>
            <p:cNvPr id="858" name="Google Shape;858;p99"/>
            <p:cNvSpPr/>
            <p:nvPr/>
          </p:nvSpPr>
          <p:spPr>
            <a:xfrm>
              <a:off x="51" y="0"/>
              <a:ext cx="12192000" cy="68580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pic>
          <p:nvPicPr>
            <p:cNvPr id="859" name="Google Shape;859;p99"/>
            <p:cNvPicPr preferRelativeResize="0"/>
            <p:nvPr/>
          </p:nvPicPr>
          <p:blipFill rotWithShape="1">
            <a:blip r:embed="rId3">
              <a:alphaModFix/>
            </a:blip>
            <a:srcRect/>
            <a:stretch/>
          </p:blipFill>
          <p:spPr>
            <a:xfrm>
              <a:off x="1549400" y="133351"/>
              <a:ext cx="9093200" cy="6591200"/>
            </a:xfrm>
            <a:prstGeom prst="rect">
              <a:avLst/>
            </a:prstGeom>
            <a:noFill/>
            <a:ln>
              <a:noFill/>
            </a:ln>
          </p:spPr>
        </p:pic>
        <p:sp>
          <p:nvSpPr>
            <p:cNvPr id="860" name="Google Shape;860;p99"/>
            <p:cNvSpPr/>
            <p:nvPr/>
          </p:nvSpPr>
          <p:spPr>
            <a:xfrm>
              <a:off x="4327025" y="723951"/>
              <a:ext cx="2326000" cy="24408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sp>
          <p:nvSpPr>
            <p:cNvPr id="861" name="Google Shape;861;p99"/>
            <p:cNvSpPr txBox="1"/>
            <p:nvPr/>
          </p:nvSpPr>
          <p:spPr>
            <a:xfrm>
              <a:off x="4757625" y="5851475"/>
              <a:ext cx="675200" cy="369200"/>
            </a:xfrm>
            <a:prstGeom prst="rect">
              <a:avLst/>
            </a:prstGeom>
            <a:noFill/>
            <a:ln>
              <a:noFill/>
            </a:ln>
          </p:spPr>
          <p:txBody>
            <a:bodyPr anchor="t" anchorCtr="0" bIns="45700" lIns="91433" rIns="91433" spcFirstLastPara="1" tIns="45700" wrap="square">
              <a:noAutofit/>
            </a:bodyPr>
            <a:lstStyle/>
            <a:p>
              <a:pPr algn="ctr">
                <a:buClr>
                  <a:srgbClr val="000000"/>
                </a:buClr>
                <a:buSzPts val="1000"/>
              </a:pPr>
              <a:r>
                <a:rPr b="1" lang="en" sz="1333">
                  <a:solidFill>
                    <a:srgbClr val="FFFFFF"/>
                  </a:solidFill>
                  <a:latin typeface="Calibri"/>
                  <a:ea typeface="Calibri"/>
                  <a:cs typeface="Calibri"/>
                  <a:sym typeface="Calibri"/>
                </a:rPr>
                <a:t>USER</a:t>
              </a:r>
              <a:endParaRPr b="1" sz="1333">
                <a:solidFill>
                  <a:srgbClr val="FFFFFF"/>
                </a:solidFill>
                <a:latin typeface="Calibri"/>
                <a:ea typeface="Calibri"/>
                <a:cs typeface="Calibri"/>
                <a:sym typeface="Calibri"/>
              </a:endParaRPr>
            </a:p>
          </p:txBody>
        </p:sp>
        <p:sp>
          <p:nvSpPr>
            <p:cNvPr id="862" name="Google Shape;862;p99"/>
            <p:cNvSpPr txBox="1"/>
            <p:nvPr/>
          </p:nvSpPr>
          <p:spPr>
            <a:xfrm>
              <a:off x="6841575" y="5876875"/>
              <a:ext cx="1128800" cy="369200"/>
            </a:xfrm>
            <a:prstGeom prst="rect">
              <a:avLst/>
            </a:prstGeom>
            <a:noFill/>
            <a:ln>
              <a:noFill/>
            </a:ln>
          </p:spPr>
          <p:txBody>
            <a:bodyPr anchor="t" anchorCtr="0" bIns="45700" lIns="91433" rIns="91433" spcFirstLastPara="1" tIns="45700" wrap="square">
              <a:noAutofit/>
            </a:bodyPr>
            <a:lstStyle/>
            <a:p>
              <a:pPr algn="ctr">
                <a:buClr>
                  <a:srgbClr val="000000"/>
                </a:buClr>
                <a:buSzPts val="1000"/>
              </a:pPr>
              <a:r>
                <a:rPr b="1" lang="en" sz="1333">
                  <a:solidFill>
                    <a:srgbClr val="FFFFFF"/>
                  </a:solidFill>
                  <a:latin typeface="Calibri"/>
                  <a:ea typeface="Calibri"/>
                  <a:cs typeface="Calibri"/>
                  <a:sym typeface="Calibri"/>
                </a:rPr>
                <a:t>DESIGNER</a:t>
              </a:r>
              <a:endParaRPr b="1" sz="1333">
                <a:solidFill>
                  <a:srgbClr val="FFFFFF"/>
                </a:solidFill>
                <a:latin typeface="Calibri"/>
                <a:ea typeface="Calibri"/>
                <a:cs typeface="Calibri"/>
                <a:sym typeface="Calibri"/>
              </a:endParaRPr>
            </a:p>
          </p:txBody>
        </p:sp>
        <p:sp>
          <p:nvSpPr>
            <p:cNvPr id="863" name="Google Shape;863;p99"/>
            <p:cNvSpPr txBox="1"/>
            <p:nvPr/>
          </p:nvSpPr>
          <p:spPr>
            <a:xfrm>
              <a:off x="8450551" y="3705725"/>
              <a:ext cx="1014000" cy="1126800"/>
            </a:xfrm>
            <a:prstGeom prst="rect">
              <a:avLst/>
            </a:prstGeom>
            <a:noFill/>
            <a:ln>
              <a:noFill/>
            </a:ln>
          </p:spPr>
          <p:txBody>
            <a:bodyPr anchor="ctr" anchorCtr="0" bIns="91433" lIns="91433" rIns="91433" spcFirstLastPara="1" tIns="91433" wrap="square">
              <a:noAutofit/>
            </a:bodyPr>
            <a:lstStyle/>
            <a:p>
              <a:pPr>
                <a:buClr>
                  <a:srgbClr val="000000"/>
                </a:buClr>
                <a:buSzPts val="1000"/>
              </a:pPr>
              <a:r>
                <a:rPr lang="en" sz="1333">
                  <a:solidFill>
                    <a:srgbClr val="5B0F00"/>
                  </a:solidFill>
                  <a:latin typeface="Calibri"/>
                  <a:ea typeface="Calibri"/>
                  <a:cs typeface="Calibri"/>
                  <a:sym typeface="Calibri"/>
                </a:rPr>
                <a:t>E-BOOK READER</a:t>
              </a:r>
              <a:endParaRPr sz="1333">
                <a:solidFill>
                  <a:srgbClr val="5B0F00"/>
                </a:solidFill>
                <a:latin typeface="Arial"/>
                <a:ea typeface="Arial"/>
                <a:cs typeface="Arial"/>
                <a:sym typeface="Arial"/>
              </a:endParaRPr>
            </a:p>
          </p:txBody>
        </p:sp>
        <p:sp>
          <p:nvSpPr>
            <p:cNvPr id="864" name="Google Shape;864;p99"/>
            <p:cNvSpPr txBox="1"/>
            <p:nvPr/>
          </p:nvSpPr>
          <p:spPr>
            <a:xfrm>
              <a:off x="2677175" y="3654925"/>
              <a:ext cx="1364400" cy="1126800"/>
            </a:xfrm>
            <a:prstGeom prst="rect">
              <a:avLst/>
            </a:prstGeom>
            <a:noFill/>
            <a:ln>
              <a:noFill/>
            </a:ln>
          </p:spPr>
          <p:txBody>
            <a:bodyPr anchor="ctr" anchorCtr="0" bIns="91433" lIns="91433" rIns="91433" spcFirstLastPara="1" tIns="91433" wrap="square">
              <a:noAutofit/>
            </a:bodyPr>
            <a:lstStyle/>
            <a:p>
              <a:pPr algn="ctr">
                <a:buClr>
                  <a:srgbClr val="000000"/>
                </a:buClr>
                <a:buSzPts val="1000"/>
              </a:pPr>
              <a:r>
                <a:rPr lang="en" sz="1333">
                  <a:solidFill>
                    <a:srgbClr val="5B0F00"/>
                  </a:solidFill>
                  <a:latin typeface="Calibri"/>
                  <a:ea typeface="Calibri"/>
                  <a:cs typeface="Calibri"/>
                  <a:sym typeface="Calibri"/>
                </a:rPr>
                <a:t>TRADITIONAL BOOK</a:t>
              </a:r>
              <a:endParaRPr sz="1333">
                <a:solidFill>
                  <a:srgbClr val="5B0F00"/>
                </a:solidFill>
                <a:latin typeface="Arial"/>
                <a:ea typeface="Arial"/>
                <a:cs typeface="Arial"/>
                <a:sym typeface="Arial"/>
              </a:endParaRPr>
            </a:p>
          </p:txBody>
        </p:sp>
        <p:sp>
          <p:nvSpPr>
            <p:cNvPr id="865" name="Google Shape;865;p99"/>
            <p:cNvSpPr/>
            <p:nvPr/>
          </p:nvSpPr>
          <p:spPr>
            <a:xfrm>
              <a:off x="4327037" y="3269033"/>
              <a:ext cx="3369200" cy="6412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sp>
          <p:nvSpPr>
            <p:cNvPr id="866" name="Google Shape;866;p99"/>
            <p:cNvSpPr txBox="1"/>
            <p:nvPr/>
          </p:nvSpPr>
          <p:spPr>
            <a:xfrm rot="2701991">
              <a:off x="6569268" y="2577437"/>
              <a:ext cx="1465408" cy="369392"/>
            </a:xfrm>
            <a:prstGeom prst="rect">
              <a:avLst/>
            </a:prstGeom>
            <a:noFill/>
            <a:ln>
              <a:noFill/>
            </a:ln>
          </p:spPr>
          <p:txBody>
            <a:bodyPr anchor="ctr" anchorCtr="0" bIns="45700" lIns="91433" rIns="91433" spcFirstLastPara="1" tIns="45700" wrap="square">
              <a:noAutofit/>
            </a:bodyPr>
            <a:lstStyle/>
            <a:p>
              <a:pPr algn="ctr">
                <a:buClr>
                  <a:srgbClr val="000000"/>
                </a:buClr>
                <a:buSzPts val="1200"/>
              </a:pPr>
              <a:r>
                <a:rPr lang="en" sz="1600">
                  <a:solidFill>
                    <a:srgbClr val="5B0F00"/>
                  </a:solidFill>
                  <a:latin typeface="Lexend Deca Light"/>
                  <a:ea typeface="Lexend Deca Light"/>
                  <a:cs typeface="Lexend Deca Light"/>
                  <a:sym typeface="Lexend Deca Light"/>
                </a:rPr>
                <a:t>METAPHOR</a:t>
              </a:r>
              <a:endParaRPr sz="1600">
                <a:solidFill>
                  <a:srgbClr val="434343"/>
                </a:solidFill>
                <a:latin typeface="Calibri"/>
                <a:ea typeface="Calibri"/>
                <a:cs typeface="Calibri"/>
                <a:sym typeface="Calibri"/>
              </a:endParaRPr>
            </a:p>
          </p:txBody>
        </p:sp>
      </p:grpSp>
      <p:sp>
        <p:nvSpPr>
          <p:cNvPr id="3" name="Title 2">
            <a:extLst>
              <a:ext uri="{FF2B5EF4-FFF2-40B4-BE49-F238E27FC236}">
                <a16:creationId xmlns:a16="http://schemas.microsoft.com/office/drawing/2014/main" id="{75EAFE1A-D358-6E80-C500-37E6BF8B8F35}"/>
              </a:ext>
            </a:extLst>
          </p:cNvPr>
          <p:cNvSpPr>
            <a:spLocks noGrp="1"/>
          </p:cNvSpPr>
          <p:nvPr>
            <p:ph type="title"/>
          </p:nvPr>
        </p:nvSpPr>
        <p:spPr>
          <a:xfrm>
            <a:off x="1097280" y="-1450757"/>
            <a:ext cx="10058400" cy="1450757"/>
          </a:xfrm>
        </p:spPr>
        <p:txBody>
          <a:bodyPr anchor="b" bIns="45720" lIns="91440" rIns="91440" rtlCol="0" tIns="45720" vert="horz">
            <a:normAutofit/>
          </a:bodyPr>
          <a:lstStyle/>
          <a:p>
            <a:r>
              <a:rPr dirty="0" lang="en-US"/>
              <a:t>Designers use Metaphors to Communicate the Conceptual Model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Shape 871"/>
        <p:cNvGrpSpPr/>
        <p:nvPr/>
      </p:nvGrpSpPr>
      <p:grpSpPr>
        <a:xfrm>
          <a:off x="0" y="0"/>
          <a:ext cx="0" cy="0"/>
          <a:chOff x="0" y="0"/>
          <a:chExt cx="0" cy="0"/>
        </a:xfrm>
      </p:grpSpPr>
      <p:grpSp>
        <p:nvGrpSpPr>
          <p:cNvPr descr="A cartoon showing the relationship between the user mental model and the designer conceptual model being mediated by an interface metaphor." id="2" name="Group 1">
            <a:extLst>
              <a:ext uri="{FF2B5EF4-FFF2-40B4-BE49-F238E27FC236}">
                <a16:creationId xmlns:a16="http://schemas.microsoft.com/office/drawing/2014/main" id="{52854A98-9262-5F86-4622-18ADAFE79C14}"/>
              </a:ext>
            </a:extLst>
          </p:cNvPr>
          <p:cNvGrpSpPr/>
          <p:nvPr/>
        </p:nvGrpSpPr>
        <p:grpSpPr>
          <a:xfrm>
            <a:off x="51" y="0"/>
            <a:ext cx="12192000" cy="6858000"/>
            <a:chOff x="51" y="0"/>
            <a:chExt cx="12192000" cy="6858000"/>
          </a:xfrm>
        </p:grpSpPr>
        <p:sp>
          <p:nvSpPr>
            <p:cNvPr id="872" name="Google Shape;872;p100"/>
            <p:cNvSpPr/>
            <p:nvPr/>
          </p:nvSpPr>
          <p:spPr>
            <a:xfrm>
              <a:off x="51" y="0"/>
              <a:ext cx="12192000" cy="68580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pic>
          <p:nvPicPr>
            <p:cNvPr id="873" name="Google Shape;873;p100"/>
            <p:cNvPicPr preferRelativeResize="0"/>
            <p:nvPr/>
          </p:nvPicPr>
          <p:blipFill rotWithShape="1">
            <a:blip r:embed="rId3">
              <a:alphaModFix/>
            </a:blip>
            <a:srcRect/>
            <a:stretch/>
          </p:blipFill>
          <p:spPr>
            <a:xfrm>
              <a:off x="1549400" y="133351"/>
              <a:ext cx="9093200" cy="6591200"/>
            </a:xfrm>
            <a:prstGeom prst="rect">
              <a:avLst/>
            </a:prstGeom>
            <a:noFill/>
            <a:ln>
              <a:noFill/>
            </a:ln>
          </p:spPr>
        </p:pic>
        <p:sp>
          <p:nvSpPr>
            <p:cNvPr id="874" name="Google Shape;874;p100"/>
            <p:cNvSpPr txBox="1"/>
            <p:nvPr/>
          </p:nvSpPr>
          <p:spPr>
            <a:xfrm>
              <a:off x="6841575" y="5876875"/>
              <a:ext cx="1128800" cy="369200"/>
            </a:xfrm>
            <a:prstGeom prst="rect">
              <a:avLst/>
            </a:prstGeom>
            <a:noFill/>
            <a:ln>
              <a:noFill/>
            </a:ln>
          </p:spPr>
          <p:txBody>
            <a:bodyPr anchor="t" anchorCtr="0" bIns="45700" lIns="91433" rIns="91433" spcFirstLastPara="1" tIns="45700" wrap="square">
              <a:noAutofit/>
            </a:bodyPr>
            <a:lstStyle/>
            <a:p>
              <a:pPr algn="ctr">
                <a:buClr>
                  <a:srgbClr val="000000"/>
                </a:buClr>
                <a:buSzPts val="1000"/>
              </a:pPr>
              <a:r>
                <a:rPr b="1" lang="en" sz="1333">
                  <a:solidFill>
                    <a:srgbClr val="FFFFFF"/>
                  </a:solidFill>
                  <a:latin typeface="Calibri"/>
                  <a:ea typeface="Calibri"/>
                  <a:cs typeface="Calibri"/>
                  <a:sym typeface="Calibri"/>
                </a:rPr>
                <a:t>DESIGNER</a:t>
              </a:r>
              <a:endParaRPr b="1" sz="1333">
                <a:solidFill>
                  <a:srgbClr val="FFFFFF"/>
                </a:solidFill>
                <a:latin typeface="Calibri"/>
                <a:ea typeface="Calibri"/>
                <a:cs typeface="Calibri"/>
                <a:sym typeface="Calibri"/>
              </a:endParaRPr>
            </a:p>
          </p:txBody>
        </p:sp>
        <p:grpSp>
          <p:nvGrpSpPr>
            <p:cNvPr id="875" name="Google Shape;875;p100"/>
            <p:cNvGrpSpPr/>
            <p:nvPr/>
          </p:nvGrpSpPr>
          <p:grpSpPr>
            <a:xfrm>
              <a:off x="3856228" y="1264578"/>
              <a:ext cx="1364411" cy="1390871"/>
              <a:chOff x="567528" y="1264577"/>
              <a:chExt cx="1364410" cy="1390870"/>
            </a:xfrm>
          </p:grpSpPr>
          <p:cxnSp>
            <p:nvCxnSpPr>
              <p:cNvPr id="876" name="Google Shape;876;p100"/>
              <p:cNvCxnSpPr/>
              <p:nvPr/>
            </p:nvCxnSpPr>
            <p:spPr>
              <a:xfrm flipH="1" rot="10800000">
                <a:off x="567528" y="1291347"/>
                <a:ext cx="1310700" cy="1364100"/>
              </a:xfrm>
              <a:prstGeom prst="straightConnector1">
                <a:avLst/>
              </a:prstGeom>
              <a:noFill/>
              <a:ln cap="flat" cmpd="sng" w="28575">
                <a:solidFill>
                  <a:srgbClr val="FFFFFF"/>
                </a:solidFill>
                <a:prstDash val="solid"/>
                <a:round/>
                <a:headEnd len="sm" type="none" w="sm"/>
                <a:tailEnd len="sm" type="none" w="sm"/>
              </a:ln>
            </p:spPr>
          </p:cxnSp>
          <p:cxnSp>
            <p:nvCxnSpPr>
              <p:cNvPr id="877" name="Google Shape;877;p100"/>
              <p:cNvCxnSpPr/>
              <p:nvPr/>
            </p:nvCxnSpPr>
            <p:spPr>
              <a:xfrm flipH="1" rot="10800000">
                <a:off x="1557238" y="1264694"/>
                <a:ext cx="374700" cy="106800"/>
              </a:xfrm>
              <a:prstGeom prst="straightConnector1">
                <a:avLst/>
              </a:prstGeom>
              <a:noFill/>
              <a:ln cap="flat" cmpd="sng" w="28575">
                <a:solidFill>
                  <a:srgbClr val="FFFFFF"/>
                </a:solidFill>
                <a:prstDash val="solid"/>
                <a:round/>
                <a:headEnd len="sm" type="none" w="sm"/>
                <a:tailEnd len="sm" type="none" w="sm"/>
              </a:ln>
            </p:spPr>
          </p:cxnSp>
          <p:cxnSp>
            <p:nvCxnSpPr>
              <p:cNvPr id="878" name="Google Shape;878;p100"/>
              <p:cNvCxnSpPr/>
              <p:nvPr/>
            </p:nvCxnSpPr>
            <p:spPr>
              <a:xfrm flipH="1" rot="10800000">
                <a:off x="1856036" y="1264577"/>
                <a:ext cx="75900" cy="282900"/>
              </a:xfrm>
              <a:prstGeom prst="straightConnector1">
                <a:avLst/>
              </a:prstGeom>
              <a:noFill/>
              <a:ln cap="flat" cmpd="sng" w="28575">
                <a:solidFill>
                  <a:srgbClr val="FFFFFF"/>
                </a:solidFill>
                <a:prstDash val="solid"/>
                <a:round/>
                <a:headEnd len="sm" type="none" w="sm"/>
                <a:tailEnd len="sm" type="none" w="sm"/>
              </a:ln>
            </p:spPr>
          </p:cxnSp>
        </p:grpSp>
        <p:grpSp>
          <p:nvGrpSpPr>
            <p:cNvPr id="879" name="Google Shape;879;p100"/>
            <p:cNvGrpSpPr/>
            <p:nvPr/>
          </p:nvGrpSpPr>
          <p:grpSpPr>
            <a:xfrm rot="10800000">
              <a:off x="4068513" y="1506829"/>
              <a:ext cx="1364409" cy="1390871"/>
              <a:chOff x="567528" y="1264577"/>
              <a:chExt cx="1364410" cy="1390870"/>
            </a:xfrm>
          </p:grpSpPr>
          <p:cxnSp>
            <p:nvCxnSpPr>
              <p:cNvPr id="880" name="Google Shape;880;p100"/>
              <p:cNvCxnSpPr/>
              <p:nvPr/>
            </p:nvCxnSpPr>
            <p:spPr>
              <a:xfrm flipH="1" rot="10800000">
                <a:off x="567528" y="1291347"/>
                <a:ext cx="1310700" cy="1364100"/>
              </a:xfrm>
              <a:prstGeom prst="straightConnector1">
                <a:avLst/>
              </a:prstGeom>
              <a:noFill/>
              <a:ln cap="flat" cmpd="sng" w="28575">
                <a:solidFill>
                  <a:srgbClr val="FFFFFF"/>
                </a:solidFill>
                <a:prstDash val="solid"/>
                <a:round/>
                <a:headEnd len="sm" type="none" w="sm"/>
                <a:tailEnd len="sm" type="none" w="sm"/>
              </a:ln>
            </p:spPr>
          </p:cxnSp>
          <p:cxnSp>
            <p:nvCxnSpPr>
              <p:cNvPr id="881" name="Google Shape;881;p100"/>
              <p:cNvCxnSpPr/>
              <p:nvPr/>
            </p:nvCxnSpPr>
            <p:spPr>
              <a:xfrm flipH="1" rot="10800000">
                <a:off x="1557238" y="1264694"/>
                <a:ext cx="374700" cy="106800"/>
              </a:xfrm>
              <a:prstGeom prst="straightConnector1">
                <a:avLst/>
              </a:prstGeom>
              <a:noFill/>
              <a:ln cap="flat" cmpd="sng" w="28575">
                <a:solidFill>
                  <a:srgbClr val="FFFFFF"/>
                </a:solidFill>
                <a:prstDash val="solid"/>
                <a:round/>
                <a:headEnd len="sm" type="none" w="sm"/>
                <a:tailEnd len="sm" type="none" w="sm"/>
              </a:ln>
            </p:spPr>
          </p:cxnSp>
          <p:cxnSp>
            <p:nvCxnSpPr>
              <p:cNvPr id="882" name="Google Shape;882;p100"/>
              <p:cNvCxnSpPr/>
              <p:nvPr/>
            </p:nvCxnSpPr>
            <p:spPr>
              <a:xfrm flipH="1" rot="10800000">
                <a:off x="1856036" y="1264577"/>
                <a:ext cx="75900" cy="282900"/>
              </a:xfrm>
              <a:prstGeom prst="straightConnector1">
                <a:avLst/>
              </a:prstGeom>
              <a:noFill/>
              <a:ln cap="flat" cmpd="sng" w="28575">
                <a:solidFill>
                  <a:srgbClr val="FFFFFF"/>
                </a:solidFill>
                <a:prstDash val="solid"/>
                <a:round/>
                <a:headEnd len="sm" type="none" w="sm"/>
                <a:tailEnd len="sm" type="none" w="sm"/>
              </a:ln>
            </p:spPr>
          </p:cxnSp>
        </p:grpSp>
        <p:sp>
          <p:nvSpPr>
            <p:cNvPr id="883" name="Google Shape;883;p100"/>
            <p:cNvSpPr txBox="1"/>
            <p:nvPr/>
          </p:nvSpPr>
          <p:spPr>
            <a:xfrm rot="-2700000">
              <a:off x="3501268" y="1239989"/>
              <a:ext cx="1544321" cy="979767"/>
            </a:xfrm>
            <a:prstGeom prst="rect">
              <a:avLst/>
            </a:prstGeom>
            <a:noFill/>
            <a:ln>
              <a:noFill/>
            </a:ln>
          </p:spPr>
          <p:txBody>
            <a:bodyPr anchor="ctr" anchorCtr="0" bIns="91433" lIns="91433" rIns="91433" spcFirstLastPara="1" tIns="91433" wrap="square">
              <a:noAutofit/>
            </a:bodyPr>
            <a:lstStyle/>
            <a:p>
              <a:pPr algn="ctr">
                <a:buClr>
                  <a:srgbClr val="000000"/>
                </a:buClr>
                <a:buSzPts val="1200"/>
              </a:pPr>
              <a:r>
                <a:rPr lang="en" sz="1600">
                  <a:solidFill>
                    <a:srgbClr val="5B0F00"/>
                  </a:solidFill>
                  <a:latin typeface="Lexend Deca Light"/>
                  <a:ea typeface="Lexend Deca Light"/>
                  <a:cs typeface="Lexend Deca Light"/>
                  <a:sym typeface="Lexend Deca Light"/>
                </a:rPr>
                <a:t>GULF OF EXECUTION</a:t>
              </a:r>
              <a:endParaRPr sz="1600">
                <a:solidFill>
                  <a:srgbClr val="5B0F00"/>
                </a:solidFill>
                <a:latin typeface="Lexend Deca Light"/>
                <a:ea typeface="Lexend Deca Light"/>
                <a:cs typeface="Lexend Deca Light"/>
                <a:sym typeface="Lexend Deca Light"/>
              </a:endParaRPr>
            </a:p>
          </p:txBody>
        </p:sp>
        <p:sp>
          <p:nvSpPr>
            <p:cNvPr id="884" name="Google Shape;884;p100"/>
            <p:cNvSpPr txBox="1"/>
            <p:nvPr/>
          </p:nvSpPr>
          <p:spPr>
            <a:xfrm rot="8100000">
              <a:off x="4059169" y="2121332"/>
              <a:ext cx="1927856" cy="556635"/>
            </a:xfrm>
            <a:prstGeom prst="rect">
              <a:avLst/>
            </a:prstGeom>
            <a:noFill/>
            <a:ln>
              <a:noFill/>
            </a:ln>
          </p:spPr>
          <p:txBody>
            <a:bodyPr anchor="ctr" anchorCtr="0" bIns="91433" lIns="91433" rIns="91433" spcFirstLastPara="1" tIns="91433" wrap="square">
              <a:noAutofit/>
            </a:bodyPr>
            <a:lstStyle/>
            <a:p>
              <a:pPr algn="ctr">
                <a:buClr>
                  <a:srgbClr val="000000"/>
                </a:buClr>
                <a:buSzPts val="1200"/>
              </a:pPr>
              <a:r>
                <a:rPr lang="en" sz="1600">
                  <a:solidFill>
                    <a:srgbClr val="5B0F00"/>
                  </a:solidFill>
                  <a:latin typeface="Lexend Deca Light"/>
                  <a:ea typeface="Lexend Deca Light"/>
                  <a:cs typeface="Lexend Deca Light"/>
                  <a:sym typeface="Lexend Deca Light"/>
                </a:rPr>
                <a:t>GULF OF EVALUATION</a:t>
              </a:r>
              <a:endParaRPr sz="1600">
                <a:solidFill>
                  <a:srgbClr val="5B0F00"/>
                </a:solidFill>
                <a:latin typeface="Lexend Deca Light"/>
                <a:ea typeface="Lexend Deca Light"/>
                <a:cs typeface="Lexend Deca Light"/>
                <a:sym typeface="Lexend Deca Light"/>
              </a:endParaRPr>
            </a:p>
          </p:txBody>
        </p:sp>
        <p:sp>
          <p:nvSpPr>
            <p:cNvPr id="885" name="Google Shape;885;p100"/>
            <p:cNvSpPr txBox="1"/>
            <p:nvPr/>
          </p:nvSpPr>
          <p:spPr>
            <a:xfrm>
              <a:off x="4757625" y="5851475"/>
              <a:ext cx="675200" cy="369200"/>
            </a:xfrm>
            <a:prstGeom prst="rect">
              <a:avLst/>
            </a:prstGeom>
            <a:noFill/>
            <a:ln>
              <a:noFill/>
            </a:ln>
          </p:spPr>
          <p:txBody>
            <a:bodyPr anchor="t" anchorCtr="0" bIns="45700" lIns="91433" rIns="91433" spcFirstLastPara="1" tIns="45700" wrap="square">
              <a:noAutofit/>
            </a:bodyPr>
            <a:lstStyle/>
            <a:p>
              <a:pPr algn="ctr">
                <a:buClr>
                  <a:srgbClr val="000000"/>
                </a:buClr>
                <a:buSzPts val="1000"/>
              </a:pPr>
              <a:r>
                <a:rPr b="1" lang="en" sz="1333">
                  <a:solidFill>
                    <a:srgbClr val="FFFFFF"/>
                  </a:solidFill>
                  <a:latin typeface="Calibri"/>
                  <a:ea typeface="Calibri"/>
                  <a:cs typeface="Calibri"/>
                  <a:sym typeface="Calibri"/>
                </a:rPr>
                <a:t>USER</a:t>
              </a:r>
              <a:endParaRPr b="1" sz="1333">
                <a:solidFill>
                  <a:srgbClr val="FFFFFF"/>
                </a:solidFill>
                <a:latin typeface="Calibri"/>
                <a:ea typeface="Calibri"/>
                <a:cs typeface="Calibri"/>
                <a:sym typeface="Calibri"/>
              </a:endParaRPr>
            </a:p>
          </p:txBody>
        </p:sp>
        <p:sp>
          <p:nvSpPr>
            <p:cNvPr id="886" name="Google Shape;886;p100"/>
            <p:cNvSpPr txBox="1"/>
            <p:nvPr/>
          </p:nvSpPr>
          <p:spPr>
            <a:xfrm>
              <a:off x="8450551" y="3705725"/>
              <a:ext cx="1014000" cy="1126800"/>
            </a:xfrm>
            <a:prstGeom prst="rect">
              <a:avLst/>
            </a:prstGeom>
            <a:noFill/>
            <a:ln>
              <a:noFill/>
            </a:ln>
          </p:spPr>
          <p:txBody>
            <a:bodyPr anchor="ctr" anchorCtr="0" bIns="91433" lIns="91433" rIns="91433" spcFirstLastPara="1" tIns="91433" wrap="square">
              <a:noAutofit/>
            </a:bodyPr>
            <a:lstStyle/>
            <a:p>
              <a:pPr>
                <a:buClr>
                  <a:srgbClr val="000000"/>
                </a:buClr>
                <a:buSzPts val="1000"/>
              </a:pPr>
              <a:r>
                <a:rPr lang="en" sz="1333">
                  <a:solidFill>
                    <a:srgbClr val="5B0F00"/>
                  </a:solidFill>
                  <a:latin typeface="Calibri"/>
                  <a:ea typeface="Calibri"/>
                  <a:cs typeface="Calibri"/>
                  <a:sym typeface="Calibri"/>
                </a:rPr>
                <a:t>E-BOOK READER</a:t>
              </a:r>
              <a:endParaRPr sz="1333">
                <a:solidFill>
                  <a:srgbClr val="5B0F00"/>
                </a:solidFill>
                <a:latin typeface="Arial"/>
                <a:ea typeface="Arial"/>
                <a:cs typeface="Arial"/>
                <a:sym typeface="Arial"/>
              </a:endParaRPr>
            </a:p>
          </p:txBody>
        </p:sp>
        <p:sp>
          <p:nvSpPr>
            <p:cNvPr id="887" name="Google Shape;887;p100"/>
            <p:cNvSpPr txBox="1"/>
            <p:nvPr/>
          </p:nvSpPr>
          <p:spPr>
            <a:xfrm>
              <a:off x="2677175" y="3654925"/>
              <a:ext cx="1364400" cy="1126800"/>
            </a:xfrm>
            <a:prstGeom prst="rect">
              <a:avLst/>
            </a:prstGeom>
            <a:noFill/>
            <a:ln>
              <a:noFill/>
            </a:ln>
          </p:spPr>
          <p:txBody>
            <a:bodyPr anchor="ctr" anchorCtr="0" bIns="91433" lIns="91433" rIns="91433" spcFirstLastPara="1" tIns="91433" wrap="square">
              <a:noAutofit/>
            </a:bodyPr>
            <a:lstStyle/>
            <a:p>
              <a:pPr algn="ctr">
                <a:buClr>
                  <a:srgbClr val="000000"/>
                </a:buClr>
                <a:buSzPts val="1000"/>
              </a:pPr>
              <a:r>
                <a:rPr lang="en" sz="1333">
                  <a:solidFill>
                    <a:srgbClr val="5B0F00"/>
                  </a:solidFill>
                  <a:latin typeface="Calibri"/>
                  <a:ea typeface="Calibri"/>
                  <a:cs typeface="Calibri"/>
                  <a:sym typeface="Calibri"/>
                </a:rPr>
                <a:t>TRADITIONAL BOOK</a:t>
              </a:r>
              <a:endParaRPr sz="1333">
                <a:solidFill>
                  <a:srgbClr val="5B0F00"/>
                </a:solidFill>
                <a:latin typeface="Arial"/>
                <a:ea typeface="Arial"/>
                <a:cs typeface="Arial"/>
                <a:sym typeface="Arial"/>
              </a:endParaRPr>
            </a:p>
          </p:txBody>
        </p:sp>
        <p:sp>
          <p:nvSpPr>
            <p:cNvPr id="888" name="Google Shape;888;p100"/>
            <p:cNvSpPr/>
            <p:nvPr/>
          </p:nvSpPr>
          <p:spPr>
            <a:xfrm>
              <a:off x="4327037" y="3269033"/>
              <a:ext cx="3369200" cy="641200"/>
            </a:xfrm>
            <a:prstGeom prst="rect">
              <a:avLst/>
            </a:prstGeom>
            <a:solidFill>
              <a:srgbClr val="A8D8CB"/>
            </a:solidFill>
            <a:ln>
              <a:noFill/>
            </a:ln>
          </p:spPr>
          <p:txBody>
            <a:bodyPr anchor="ctr" anchorCtr="0" bIns="50800" lIns="50800" rIns="50800" spcFirstLastPara="1" tIns="50800" wrap="square">
              <a:noAutofit/>
            </a:bodyPr>
            <a:lstStyle/>
            <a:p>
              <a:pPr algn="ctr">
                <a:buClr>
                  <a:srgbClr val="A8D8CB"/>
                </a:buClr>
                <a:buSzPts val="900"/>
              </a:pPr>
              <a:endParaRPr sz="1200">
                <a:solidFill>
                  <a:srgbClr val="A8D8CB"/>
                </a:solidFill>
                <a:latin typeface="Helvetica Neue"/>
                <a:ea typeface="Helvetica Neue"/>
                <a:cs typeface="Helvetica Neue"/>
                <a:sym typeface="Helvetica Neue"/>
              </a:endParaRPr>
            </a:p>
          </p:txBody>
        </p:sp>
        <p:sp>
          <p:nvSpPr>
            <p:cNvPr id="889" name="Google Shape;889;p100"/>
            <p:cNvSpPr txBox="1"/>
            <p:nvPr/>
          </p:nvSpPr>
          <p:spPr>
            <a:xfrm rot="2701991">
              <a:off x="6569268" y="2577437"/>
              <a:ext cx="1465408" cy="369392"/>
            </a:xfrm>
            <a:prstGeom prst="rect">
              <a:avLst/>
            </a:prstGeom>
            <a:noFill/>
            <a:ln>
              <a:noFill/>
            </a:ln>
          </p:spPr>
          <p:txBody>
            <a:bodyPr anchor="ctr" anchorCtr="0" bIns="45700" lIns="91433" rIns="91433" spcFirstLastPara="1" tIns="45700" wrap="square">
              <a:noAutofit/>
            </a:bodyPr>
            <a:lstStyle/>
            <a:p>
              <a:pPr algn="ctr">
                <a:buClr>
                  <a:srgbClr val="000000"/>
                </a:buClr>
                <a:buSzPts val="1200"/>
              </a:pPr>
              <a:r>
                <a:rPr lang="en" sz="1600">
                  <a:solidFill>
                    <a:srgbClr val="5B0F00"/>
                  </a:solidFill>
                  <a:latin typeface="Lexend Deca Light"/>
                  <a:ea typeface="Lexend Deca Light"/>
                  <a:cs typeface="Lexend Deca Light"/>
                  <a:sym typeface="Lexend Deca Light"/>
                </a:rPr>
                <a:t>METAPHOR</a:t>
              </a:r>
              <a:endParaRPr sz="1600">
                <a:solidFill>
                  <a:srgbClr val="434343"/>
                </a:solidFill>
                <a:latin typeface="Calibri"/>
                <a:ea typeface="Calibri"/>
                <a:cs typeface="Calibri"/>
                <a:sym typeface="Calibri"/>
              </a:endParaRPr>
            </a:p>
          </p:txBody>
        </p:sp>
      </p:grpSp>
      <p:sp>
        <p:nvSpPr>
          <p:cNvPr id="3" name="Title 2">
            <a:extLst>
              <a:ext uri="{FF2B5EF4-FFF2-40B4-BE49-F238E27FC236}">
                <a16:creationId xmlns:a16="http://schemas.microsoft.com/office/drawing/2014/main" id="{44E7530A-0727-B998-1824-E222931A6AFE}"/>
              </a:ext>
            </a:extLst>
          </p:cNvPr>
          <p:cNvSpPr>
            <a:spLocks noGrp="1"/>
          </p:cNvSpPr>
          <p:nvPr>
            <p:ph type="title"/>
          </p:nvPr>
        </p:nvSpPr>
        <p:spPr>
          <a:xfrm>
            <a:off x="1097280" y="-1450757"/>
            <a:ext cx="10058400" cy="1450757"/>
          </a:xfrm>
        </p:spPr>
        <p:txBody>
          <a:bodyPr anchor="b" bIns="45720" lIns="91440" rIns="91440" rtlCol="0" tIns="45720" vert="horz">
            <a:normAutofit/>
          </a:bodyPr>
          <a:lstStyle/>
          <a:p>
            <a:r>
              <a:rPr dirty="0" lang="en-US"/>
              <a:t>Users revise their mental model through use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Shape 893"/>
        <p:cNvGrpSpPr/>
        <p:nvPr/>
      </p:nvGrpSpPr>
      <p:grpSpPr>
        <a:xfrm>
          <a:off x="0" y="0"/>
          <a:ext cx="0" cy="0"/>
          <a:chOff x="0" y="0"/>
          <a:chExt cx="0" cy="0"/>
        </a:xfrm>
      </p:grpSpPr>
      <p:sp>
        <p:nvSpPr>
          <p:cNvPr id="894" name="Google Shape;894;p101"/>
          <p:cNvSpPr txBox="1">
            <a:spLocks noGrp="1"/>
          </p:cNvSpPr>
          <p:nvPr>
            <p:ph idx="4294967295" type="title"/>
          </p:nvPr>
        </p:nvSpPr>
        <p:spPr>
          <a:xfrm>
            <a:off x="1473200" y="593725"/>
            <a:ext cx="10718800" cy="763588"/>
          </a:xfrm>
          <a:prstGeom prst="rect">
            <a:avLst/>
          </a:prstGeom>
          <a:noFill/>
          <a:ln>
            <a:noFill/>
          </a:ln>
        </p:spPr>
        <p:txBody>
          <a:bodyPr anchor="t" anchorCtr="0" bIns="121900" lIns="121900" rIns="121900" rtlCol="0" spcFirstLastPara="1" tIns="121900" vert="horz" wrap="square">
            <a:noAutofit/>
          </a:bodyPr>
          <a:lstStyle/>
          <a:p>
            <a:pPr>
              <a:lnSpc>
                <a:spcPct val="100000"/>
              </a:lnSpc>
            </a:pPr>
            <a:r>
              <a:rPr b="1" dirty="0" lang="en" sz="3733">
                <a:solidFill>
                  <a:schemeClr val="accent4">
                    <a:lumMod val="75000"/>
                  </a:schemeClr>
                </a:solidFill>
              </a:rPr>
              <a:t>Mental</a:t>
            </a:r>
            <a:r>
              <a:rPr dirty="0" lang="en" sz="3733"/>
              <a:t> Model: Books / Libraries</a:t>
            </a:r>
            <a:endParaRPr dirty="0" sz="3733"/>
          </a:p>
        </p:txBody>
      </p:sp>
      <p:pic>
        <p:nvPicPr>
          <p:cNvPr descr="A stack of books in front of a blurry bookshelf in the background" id="895" name="Google Shape;895;p101"/>
          <p:cNvPicPr preferRelativeResize="0"/>
          <p:nvPr/>
        </p:nvPicPr>
        <p:blipFill>
          <a:blip r:embed="rId3">
            <a:alphaModFix/>
          </a:blip>
          <a:stretch>
            <a:fillRect/>
          </a:stretch>
        </p:blipFill>
        <p:spPr>
          <a:xfrm flipH="1">
            <a:off x="1335767" y="1586501"/>
            <a:ext cx="8380501" cy="4399767"/>
          </a:xfrm>
          <a:prstGeom prst="rect">
            <a:avLst/>
          </a:prstGeom>
          <a:noFill/>
          <a:ln cap="flat" cmpd="sng" w="38100">
            <a:solidFill>
              <a:schemeClr val="lt2"/>
            </a:solidFill>
            <a:prstDash val="solid"/>
            <a:round/>
            <a:headEnd len="sm" type="none" w="sm"/>
            <a:tailEnd len="sm" type="none" w="sm"/>
          </a:ln>
        </p:spPr>
      </p:pic>
      <p:pic>
        <p:nvPicPr>
          <p:cNvPr descr="An open book with highlighted text and bookmarks" id="896" name="Google Shape;896;p101"/>
          <p:cNvPicPr preferRelativeResize="0"/>
          <p:nvPr/>
        </p:nvPicPr>
        <p:blipFill>
          <a:blip r:embed="rId4">
            <a:alphaModFix/>
          </a:blip>
          <a:stretch>
            <a:fillRect/>
          </a:stretch>
        </p:blipFill>
        <p:spPr>
          <a:xfrm>
            <a:off x="7833934" y="3429001"/>
            <a:ext cx="3616601" cy="2846767"/>
          </a:xfrm>
          <a:prstGeom prst="rect">
            <a:avLst/>
          </a:prstGeom>
          <a:noFill/>
          <a:ln cap="flat" cmpd="sng" w="38100">
            <a:solidFill>
              <a:schemeClr val="lt2"/>
            </a:solidFill>
            <a:prstDash val="solid"/>
            <a:round/>
            <a:headEnd len="sm" type="none" w="sm"/>
            <a:tailEnd len="sm" type="none" w="sm"/>
          </a:ln>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Shape 900"/>
        <p:cNvGrpSpPr/>
        <p:nvPr/>
      </p:nvGrpSpPr>
      <p:grpSpPr>
        <a:xfrm>
          <a:off x="0" y="0"/>
          <a:ext cx="0" cy="0"/>
          <a:chOff x="0" y="0"/>
          <a:chExt cx="0" cy="0"/>
        </a:xfrm>
      </p:grpSpPr>
      <p:sp>
        <p:nvSpPr>
          <p:cNvPr id="901" name="Google Shape;901;p102"/>
          <p:cNvSpPr txBox="1">
            <a:spLocks noGrp="1"/>
          </p:cNvSpPr>
          <p:nvPr>
            <p:ph idx="4294967295" type="title"/>
          </p:nvPr>
        </p:nvSpPr>
        <p:spPr>
          <a:xfrm>
            <a:off x="1473200" y="593725"/>
            <a:ext cx="10718800" cy="763588"/>
          </a:xfrm>
          <a:prstGeom prst="rect">
            <a:avLst/>
          </a:prstGeom>
          <a:noFill/>
          <a:ln>
            <a:noFill/>
          </a:ln>
        </p:spPr>
        <p:txBody>
          <a:bodyPr anchor="t" anchorCtr="0" bIns="121900" lIns="121900" rIns="121900" rtlCol="0" spcFirstLastPara="1" tIns="121900" vert="horz" wrap="square">
            <a:noAutofit/>
          </a:bodyPr>
          <a:lstStyle/>
          <a:p>
            <a:pPr>
              <a:lnSpc>
                <a:spcPct val="100000"/>
              </a:lnSpc>
            </a:pPr>
            <a:r>
              <a:rPr b="1" dirty="0" lang="en" sz="3733">
                <a:solidFill>
                  <a:schemeClr val="accent4">
                    <a:lumMod val="75000"/>
                  </a:schemeClr>
                </a:solidFill>
              </a:rPr>
              <a:t>Conceptual</a:t>
            </a:r>
            <a:r>
              <a:rPr dirty="0" lang="en" sz="3733"/>
              <a:t> Models: </a:t>
            </a:r>
            <a:r>
              <a:rPr dirty="0" lang="en" sz="3733" u="sng"/>
              <a:t>Personal</a:t>
            </a:r>
            <a:r>
              <a:rPr dirty="0" lang="en" sz="3733"/>
              <a:t> Library</a:t>
            </a:r>
            <a:endParaRPr dirty="0" sz="3733"/>
          </a:p>
        </p:txBody>
      </p:sp>
      <p:pic>
        <p:nvPicPr>
          <p:cNvPr descr="Screenshots of the Amazon Kindle interface" id="902" name="Google Shape;902;p102"/>
          <p:cNvPicPr preferRelativeResize="0"/>
          <p:nvPr/>
        </p:nvPicPr>
        <p:blipFill>
          <a:blip r:embed="rId3">
            <a:alphaModFix/>
          </a:blip>
          <a:stretch>
            <a:fillRect/>
          </a:stretch>
        </p:blipFill>
        <p:spPr>
          <a:xfrm>
            <a:off x="1280397" y="1617067"/>
            <a:ext cx="8848999" cy="4620367"/>
          </a:xfrm>
          <a:prstGeom prst="rect">
            <a:avLst/>
          </a:prstGeom>
          <a:noFill/>
          <a:ln>
            <a:noFill/>
          </a:ln>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Shape 906"/>
        <p:cNvGrpSpPr/>
        <p:nvPr/>
      </p:nvGrpSpPr>
      <p:grpSpPr>
        <a:xfrm>
          <a:off x="0" y="0"/>
          <a:ext cx="0" cy="0"/>
          <a:chOff x="0" y="0"/>
          <a:chExt cx="0" cy="0"/>
        </a:xfrm>
      </p:grpSpPr>
      <p:sp>
        <p:nvSpPr>
          <p:cNvPr id="907" name="Google Shape;907;p103"/>
          <p:cNvSpPr txBox="1">
            <a:spLocks noGrp="1"/>
          </p:cNvSpPr>
          <p:nvPr>
            <p:ph idx="4294967295" type="title"/>
          </p:nvPr>
        </p:nvSpPr>
        <p:spPr>
          <a:xfrm>
            <a:off x="1473200" y="593725"/>
            <a:ext cx="10718800" cy="763588"/>
          </a:xfrm>
          <a:prstGeom prst="rect">
            <a:avLst/>
          </a:prstGeom>
          <a:noFill/>
          <a:ln>
            <a:noFill/>
          </a:ln>
        </p:spPr>
        <p:txBody>
          <a:bodyPr anchor="t" anchorCtr="0" bIns="121900" lIns="121900" rIns="121900" rtlCol="0" spcFirstLastPara="1" tIns="121900" vert="horz" wrap="square">
            <a:noAutofit/>
          </a:bodyPr>
          <a:lstStyle/>
          <a:p>
            <a:pPr>
              <a:lnSpc>
                <a:spcPct val="100000"/>
              </a:lnSpc>
            </a:pPr>
            <a:r>
              <a:rPr b="1" dirty="0" lang="en" sz="3733">
                <a:solidFill>
                  <a:schemeClr val="accent4">
                    <a:lumMod val="75000"/>
                  </a:schemeClr>
                </a:solidFill>
              </a:rPr>
              <a:t>Conceptual</a:t>
            </a:r>
            <a:r>
              <a:rPr dirty="0" lang="en" sz="3733"/>
              <a:t> Models: </a:t>
            </a:r>
            <a:r>
              <a:rPr dirty="0" lang="en" sz="3733" u="sng"/>
              <a:t>Public</a:t>
            </a:r>
            <a:r>
              <a:rPr dirty="0" lang="en" sz="3733"/>
              <a:t> Library</a:t>
            </a:r>
            <a:endParaRPr dirty="0" sz="3733"/>
          </a:p>
        </p:txBody>
      </p:sp>
      <p:pic>
        <p:nvPicPr>
          <p:cNvPr descr="Screenshots of the Libby library app interface" id="908" name="Google Shape;908;p103"/>
          <p:cNvPicPr preferRelativeResize="0"/>
          <p:nvPr/>
        </p:nvPicPr>
        <p:blipFill>
          <a:blip r:embed="rId3">
            <a:alphaModFix/>
          </a:blip>
          <a:stretch>
            <a:fillRect/>
          </a:stretch>
        </p:blipFill>
        <p:spPr>
          <a:xfrm>
            <a:off x="1219201" y="1621401"/>
            <a:ext cx="8714303" cy="4453201"/>
          </a:xfrm>
          <a:prstGeom prst="rect">
            <a:avLst/>
          </a:prstGeom>
          <a:noFill/>
          <a:ln>
            <a:noFill/>
          </a:ln>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1E654-55A2-4EEF-16C9-3CAE4A18A5D5}"/>
              </a:ext>
            </a:extLst>
          </p:cNvPr>
          <p:cNvSpPr>
            <a:spLocks noGrp="1"/>
          </p:cNvSpPr>
          <p:nvPr>
            <p:ph type="title"/>
          </p:nvPr>
        </p:nvSpPr>
        <p:spPr/>
        <p:txBody>
          <a:bodyPr/>
          <a:lstStyle/>
          <a:p>
            <a:r>
              <a:rPr dirty="0" lang="en-US"/>
              <a:t>Challenge of Designing for Mental Models</a:t>
            </a:r>
          </a:p>
        </p:txBody>
      </p:sp>
      <p:sp>
        <p:nvSpPr>
          <p:cNvPr id="3" name="Content Placeholder 2">
            <a:extLst>
              <a:ext uri="{FF2B5EF4-FFF2-40B4-BE49-F238E27FC236}">
                <a16:creationId xmlns:a16="http://schemas.microsoft.com/office/drawing/2014/main" id="{DA3BD509-B1D2-E6B9-B163-CAC1F57AE38B}"/>
              </a:ext>
            </a:extLst>
          </p:cNvPr>
          <p:cNvSpPr>
            <a:spLocks noGrp="1"/>
          </p:cNvSpPr>
          <p:nvPr>
            <p:ph idx="1"/>
          </p:nvPr>
        </p:nvSpPr>
        <p:spPr/>
        <p:txBody>
          <a:bodyPr/>
          <a:lstStyle/>
          <a:p>
            <a:r>
              <a:rPr dirty="0" lang="en-US"/>
              <a:t>Mental models are adopted from </a:t>
            </a:r>
            <a:r>
              <a:rPr b="1" dirty="0" lang="en-US"/>
              <a:t>prior experience</a:t>
            </a:r>
            <a:r>
              <a:rPr dirty="0" lang="en-US"/>
              <a:t> with systems and technologies, e.g., “The same stimuli were grouped together in version x, so…” </a:t>
            </a:r>
          </a:p>
          <a:p>
            <a:r>
              <a:rPr dirty="0" lang="en-US"/>
              <a:t>Mental models are </a:t>
            </a:r>
            <a:r>
              <a:rPr b="1" dirty="0" lang="en-US"/>
              <a:t>age-based</a:t>
            </a:r>
            <a:r>
              <a:rPr dirty="0" lang="en-US"/>
              <a:t>, </a:t>
            </a:r>
            <a:r>
              <a:rPr b="1" dirty="0" lang="en-US"/>
              <a:t>culturally situated</a:t>
            </a:r>
            <a:r>
              <a:rPr dirty="0" lang="en-US"/>
              <a:t>, etc., so you have to design to multiple mental models to support more users</a:t>
            </a:r>
          </a:p>
          <a:p>
            <a:r>
              <a:rPr dirty="0" lang="en-US"/>
              <a:t>Your challenge as designer: determine the user’s Mental Model (but remember – </a:t>
            </a:r>
            <a:r>
              <a:rPr b="1" dirty="0" lang="en-US"/>
              <a:t>“The User Is Not Like Me”</a:t>
            </a:r>
            <a:r>
              <a:rPr dirty="0" lang="en-US"/>
              <a:t>)</a:t>
            </a:r>
          </a:p>
          <a:p>
            <a:endParaRPr dirty="0" lang="en-US"/>
          </a:p>
        </p:txBody>
      </p:sp>
    </p:spTree>
    <p:extLst>
      <p:ext uri="{BB962C8B-B14F-4D97-AF65-F5344CB8AC3E}">
        <p14:creationId xmlns:p14="http://schemas.microsoft.com/office/powerpoint/2010/main" val="1707109703"/>
      </p:ext>
    </p:extLst>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9EE1F13C-D0D0-1D2E-02B2-EDAD0CFD8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3EF5F-CBC0-2A7B-793C-80525F281D76}"/>
              </a:ext>
            </a:extLst>
          </p:cNvPr>
          <p:cNvSpPr>
            <a:spLocks noGrp="1"/>
          </p:cNvSpPr>
          <p:nvPr>
            <p:ph type="title"/>
          </p:nvPr>
        </p:nvSpPr>
        <p:spPr/>
        <p:txBody>
          <a:bodyPr/>
          <a:lstStyle/>
          <a:p>
            <a:r>
              <a:rPr dirty="0" lang="en-US"/>
              <a:t>Norman’s 6 Design Principles</a:t>
            </a:r>
          </a:p>
        </p:txBody>
      </p:sp>
      <p:sp>
        <p:nvSpPr>
          <p:cNvPr id="5" name="Content Placeholder 4">
            <a:extLst>
              <a:ext uri="{FF2B5EF4-FFF2-40B4-BE49-F238E27FC236}">
                <a16:creationId xmlns:a16="http://schemas.microsoft.com/office/drawing/2014/main" id="{5BD7214C-86AE-70B4-1C33-8022A9E3D9D9}"/>
              </a:ext>
            </a:extLst>
          </p:cNvPr>
          <p:cNvSpPr>
            <a:spLocks noGrp="1"/>
          </p:cNvSpPr>
          <p:nvPr>
            <p:ph idx="1"/>
          </p:nvPr>
        </p:nvSpPr>
        <p:spPr/>
        <p:txBody>
          <a:bodyPr numCol="1">
            <a:normAutofit/>
          </a:bodyPr>
          <a:lstStyle/>
          <a:p>
            <a:r>
              <a:rPr b="1" dirty="0" lang="en-US">
                <a:solidFill>
                  <a:schemeClr val="tx2"/>
                </a:solidFill>
              </a:rPr>
              <a:t>Affordances:</a:t>
            </a:r>
            <a:r>
              <a:rPr dirty="0" lang="en-US"/>
              <a:t> Suggest what action can be taken</a:t>
            </a:r>
          </a:p>
          <a:p>
            <a:r>
              <a:rPr b="1" dirty="0" lang="en-US">
                <a:solidFill>
                  <a:schemeClr val="tx2"/>
                </a:solidFill>
              </a:rPr>
              <a:t>Signifiers:</a:t>
            </a:r>
            <a:r>
              <a:rPr dirty="0" lang="en-US"/>
              <a:t> Indicate where the actions can take place</a:t>
            </a:r>
          </a:p>
          <a:p>
            <a:r>
              <a:rPr b="1" dirty="0" lang="en-US">
                <a:solidFill>
                  <a:schemeClr val="tx2"/>
                </a:solidFill>
              </a:rPr>
              <a:t>Constraints:</a:t>
            </a:r>
            <a:r>
              <a:rPr dirty="0" lang="en-US"/>
              <a:t> Limit possible actions to prevent error</a:t>
            </a:r>
          </a:p>
          <a:p>
            <a:r>
              <a:rPr b="1" dirty="0" lang="en-US">
                <a:solidFill>
                  <a:schemeClr val="tx2"/>
                </a:solidFill>
              </a:rPr>
              <a:t>Mappings:</a:t>
            </a:r>
            <a:r>
              <a:rPr dirty="0" lang="en-US"/>
              <a:t> Suggest what the result of actions will be</a:t>
            </a:r>
          </a:p>
          <a:p>
            <a:r>
              <a:rPr b="1" dirty="0" lang="en-US">
                <a:solidFill>
                  <a:schemeClr val="tx2"/>
                </a:solidFill>
              </a:rPr>
              <a:t>Feedback:</a:t>
            </a:r>
            <a:r>
              <a:rPr dirty="0" lang="en-US"/>
              <a:t> Indicate system status and response to input</a:t>
            </a:r>
          </a:p>
          <a:p>
            <a:r>
              <a:rPr b="1" dirty="0" lang="en-US">
                <a:solidFill>
                  <a:schemeClr val="tx2"/>
                </a:solidFill>
              </a:rPr>
              <a:t>Conceptual Model:</a:t>
            </a:r>
            <a:r>
              <a:rPr dirty="0" lang="en-US"/>
              <a:t> Representation of how the system works</a:t>
            </a:r>
          </a:p>
        </p:txBody>
      </p:sp>
    </p:spTree>
    <p:extLst>
      <p:ext uri="{BB962C8B-B14F-4D97-AF65-F5344CB8AC3E}">
        <p14:creationId xmlns:p14="http://schemas.microsoft.com/office/powerpoint/2010/main" val="598088062"/>
      </p:ext>
    </p:extLst>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06A0C4C9-7E46-3C9D-FAFB-9791B4F34D9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545988-75FB-7578-AB2D-8059D07F7E4B}"/>
              </a:ext>
            </a:extLst>
          </p:cNvPr>
          <p:cNvSpPr>
            <a:spLocks noGrp="1"/>
          </p:cNvSpPr>
          <p:nvPr>
            <p:ph type="title"/>
          </p:nvPr>
        </p:nvSpPr>
        <p:spPr/>
        <p:txBody>
          <a:bodyPr/>
          <a:lstStyle/>
          <a:p>
            <a:r>
              <a:rPr dirty="0" lang="en-US"/>
              <a:t>10 min break</a:t>
            </a:r>
          </a:p>
        </p:txBody>
      </p:sp>
      <p:sp>
        <p:nvSpPr>
          <p:cNvPr id="5" name="Text Placeholder 4">
            <a:extLst>
              <a:ext uri="{FF2B5EF4-FFF2-40B4-BE49-F238E27FC236}">
                <a16:creationId xmlns:a16="http://schemas.microsoft.com/office/drawing/2014/main" id="{6EFB47FC-8DB2-EDFE-6A45-F33818AE68FC}"/>
              </a:ext>
            </a:extLst>
          </p:cNvPr>
          <p:cNvSpPr>
            <a:spLocks noGrp="1"/>
          </p:cNvSpPr>
          <p:nvPr>
            <p:ph idx="1" type="body"/>
          </p:nvPr>
        </p:nvSpPr>
        <p:spPr/>
        <p:txBody>
          <a:bodyPr/>
          <a:lstStyle/>
          <a:p>
            <a:endParaRPr lang="en-US"/>
          </a:p>
        </p:txBody>
      </p:sp>
    </p:spTree>
    <p:extLst>
      <p:ext uri="{BB962C8B-B14F-4D97-AF65-F5344CB8AC3E}">
        <p14:creationId xmlns:p14="http://schemas.microsoft.com/office/powerpoint/2010/main" val="2646206016"/>
      </p:ext>
    </p:extLst>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F6C09667-3AD0-1B7E-87A0-4FA4D5587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D7237-3576-06FD-AB5C-0254E01DD6A9}"/>
              </a:ext>
            </a:extLst>
          </p:cNvPr>
          <p:cNvSpPr>
            <a:spLocks noGrp="1"/>
          </p:cNvSpPr>
          <p:nvPr>
            <p:ph type="title"/>
          </p:nvPr>
        </p:nvSpPr>
        <p:spPr/>
        <p:txBody>
          <a:bodyPr/>
          <a:lstStyle/>
          <a:p>
            <a:r>
              <a:rPr dirty="0" lang="en-US"/>
              <a:t>Today’s Agenda</a:t>
            </a:r>
          </a:p>
        </p:txBody>
      </p:sp>
      <p:sp>
        <p:nvSpPr>
          <p:cNvPr id="3" name="Content Placeholder 2">
            <a:extLst>
              <a:ext uri="{FF2B5EF4-FFF2-40B4-BE49-F238E27FC236}">
                <a16:creationId xmlns:a16="http://schemas.microsoft.com/office/drawing/2014/main" id="{2E404FE5-1D56-5582-DB37-CF8A9193CCED}"/>
              </a:ext>
            </a:extLst>
          </p:cNvPr>
          <p:cNvSpPr>
            <a:spLocks noGrp="1"/>
          </p:cNvSpPr>
          <p:nvPr>
            <p:ph idx="1"/>
          </p:nvPr>
        </p:nvSpPr>
        <p:spPr>
          <a:xfrm>
            <a:off x="1097280" y="1845734"/>
            <a:ext cx="10541726" cy="4023360"/>
          </a:xfrm>
        </p:spPr>
        <p:txBody>
          <a:bodyPr>
            <a:normAutofit/>
          </a:bodyPr>
          <a:lstStyle/>
          <a:p>
            <a:r>
              <a:rPr dirty="0" lang="en-US" sz="4000"/>
              <a:t>What Sets HCD Process Apart? </a:t>
            </a:r>
            <a:r>
              <a:rPr dirty="0" i="1" lang="en-US" sz="3200"/>
              <a:t>(~30 min)</a:t>
            </a:r>
            <a:endParaRPr dirty="0" i="1" lang="en-US" sz="4000"/>
          </a:p>
          <a:p>
            <a:r>
              <a:rPr dirty="0" lang="en-US" sz="4000"/>
              <a:t>Human Capabilities &amp; HCD + Break </a:t>
            </a:r>
            <a:r>
              <a:rPr dirty="0" i="1" lang="en-US" sz="3200"/>
              <a:t>(~30 min + 15 min)</a:t>
            </a:r>
            <a:endParaRPr dirty="0" i="1" lang="en-US" sz="4000"/>
          </a:p>
          <a:p>
            <a:r>
              <a:rPr dirty="0" lang="en-US" sz="4000"/>
              <a:t>Design Principles + Break </a:t>
            </a:r>
            <a:r>
              <a:rPr dirty="0" i="1" lang="en-US" sz="3200"/>
              <a:t>(~30 min + 15 min)</a:t>
            </a:r>
          </a:p>
          <a:p>
            <a:r>
              <a:rPr dirty="0" lang="en-US" sz="4000"/>
              <a:t>Activity </a:t>
            </a:r>
            <a:r>
              <a:rPr dirty="0" i="1" lang="en-US" sz="3200"/>
              <a:t>(~30 min + 15 min)</a:t>
            </a:r>
            <a:endParaRPr dirty="0" i="1" lang="en-US" sz="4000"/>
          </a:p>
          <a:p>
            <a:r>
              <a:rPr dirty="0" lang="en-US" sz="4000"/>
              <a:t>Coming Up </a:t>
            </a:r>
            <a:r>
              <a:rPr dirty="0" i="1" lang="en-US" sz="3200"/>
              <a:t>(~5 min)</a:t>
            </a:r>
            <a:endParaRPr dirty="0" i="1" lang="en-US" sz="4000"/>
          </a:p>
        </p:txBody>
      </p:sp>
      <p:sp>
        <p:nvSpPr>
          <p:cNvPr id="4" name="Arrow: Right 3">
            <a:extLst>
              <a:ext uri="{FF2B5EF4-FFF2-40B4-BE49-F238E27FC236}">
                <a16:creationId xmlns:a16="http://schemas.microsoft.com/office/drawing/2014/main" id="{1831BDA1-B0C8-D985-B8BE-3B173394D000}"/>
              </a:ext>
              <a:ext uri="{C183D7F6-B498-43B3-948B-1728B52AA6E4}">
                <adec:decorative xmlns:adec="http://schemas.microsoft.com/office/drawing/2017/decorative" val="1"/>
              </a:ext>
            </a:extLst>
          </p:cNvPr>
          <p:cNvSpPr/>
          <p:nvPr/>
        </p:nvSpPr>
        <p:spPr>
          <a:xfrm>
            <a:off x="195942" y="4148798"/>
            <a:ext cx="862149" cy="3657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lang="en-US"/>
          </a:p>
        </p:txBody>
      </p:sp>
    </p:spTree>
    <p:extLst>
      <p:ext uri="{BB962C8B-B14F-4D97-AF65-F5344CB8AC3E}">
        <p14:creationId xmlns:p14="http://schemas.microsoft.com/office/powerpoint/2010/main" val="1781686294"/>
      </p:ext>
    </p:extLst>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6C678-9CCE-166E-388C-3B30AA032A83}"/>
              </a:ext>
            </a:extLst>
          </p:cNvPr>
          <p:cNvSpPr>
            <a:spLocks noGrp="1"/>
          </p:cNvSpPr>
          <p:nvPr>
            <p:ph type="title"/>
          </p:nvPr>
        </p:nvSpPr>
        <p:spPr/>
        <p:txBody>
          <a:bodyPr/>
          <a:lstStyle/>
          <a:p>
            <a:r>
              <a:rPr dirty="0" lang="en-US"/>
              <a:t>In-Class Activity: Fundamental Principles</a:t>
            </a:r>
          </a:p>
        </p:txBody>
      </p:sp>
      <p:sp>
        <p:nvSpPr>
          <p:cNvPr id="3" name="Content Placeholder 2">
            <a:extLst>
              <a:ext uri="{FF2B5EF4-FFF2-40B4-BE49-F238E27FC236}">
                <a16:creationId xmlns:a16="http://schemas.microsoft.com/office/drawing/2014/main" id="{EE6990B8-CF8F-E263-0996-08E5F4DC8367}"/>
              </a:ext>
            </a:extLst>
          </p:cNvPr>
          <p:cNvSpPr>
            <a:spLocks noGrp="1"/>
          </p:cNvSpPr>
          <p:nvPr>
            <p:ph idx="1"/>
          </p:nvPr>
        </p:nvSpPr>
        <p:spPr/>
        <p:txBody>
          <a:bodyPr>
            <a:normAutofit/>
          </a:bodyPr>
          <a:lstStyle/>
          <a:p>
            <a:r>
              <a:rPr dirty="0" lang="en-US" sz="3200"/>
              <a:t>Form a group of 3-4 people</a:t>
            </a:r>
          </a:p>
          <a:p>
            <a:r>
              <a:rPr dirty="0" lang="en-US" sz="3200"/>
              <a:t>Analyze how a Google form does or does not support Norman’s design principles</a:t>
            </a:r>
          </a:p>
          <a:p>
            <a:r>
              <a:rPr dirty="0" lang="en-US" sz="3200"/>
              <a:t>Add a slide to share your findings</a:t>
            </a:r>
          </a:p>
          <a:p>
            <a:r>
              <a:rPr dirty="0" lang="en-US" sz="3200"/>
              <a:t>Links are available on the Canvas Week 2 page.</a:t>
            </a:r>
          </a:p>
        </p:txBody>
      </p:sp>
    </p:spTree>
    <p:extLst>
      <p:ext uri="{BB962C8B-B14F-4D97-AF65-F5344CB8AC3E}">
        <p14:creationId xmlns:p14="http://schemas.microsoft.com/office/powerpoint/2010/main" val="3744902347"/>
      </p:ext>
    </p:extLst>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69E62-F241-AF10-BFF5-09ECD9067192}"/>
              </a:ext>
            </a:extLst>
          </p:cNvPr>
          <p:cNvSpPr>
            <a:spLocks noGrp="1"/>
          </p:cNvSpPr>
          <p:nvPr>
            <p:ph type="title"/>
          </p:nvPr>
        </p:nvSpPr>
        <p:spPr/>
        <p:txBody>
          <a:bodyPr/>
          <a:lstStyle/>
          <a:p>
            <a:r>
              <a:rPr dirty="0" lang="en-US"/>
              <a:t>Assignment: “A Thing I Hate”</a:t>
            </a:r>
          </a:p>
        </p:txBody>
      </p:sp>
      <p:sp>
        <p:nvSpPr>
          <p:cNvPr id="5" name="Content Placeholder 4">
            <a:extLst>
              <a:ext uri="{FF2B5EF4-FFF2-40B4-BE49-F238E27FC236}">
                <a16:creationId xmlns:a16="http://schemas.microsoft.com/office/drawing/2014/main" id="{27E97638-3130-1102-9FB0-CD59E67E95EA}"/>
              </a:ext>
            </a:extLst>
          </p:cNvPr>
          <p:cNvSpPr>
            <a:spLocks noGrp="1"/>
          </p:cNvSpPr>
          <p:nvPr>
            <p:ph idx="1"/>
          </p:nvPr>
        </p:nvSpPr>
        <p:spPr/>
        <p:txBody>
          <a:bodyPr>
            <a:normAutofit/>
          </a:bodyPr>
          <a:lstStyle/>
          <a:p>
            <a:r>
              <a:rPr dirty="0" lang="en-US" sz="3200"/>
              <a:t>Identify and analyze some designed object (a physical object, a computer interface, etc.) that you personally find frustrating.</a:t>
            </a:r>
          </a:p>
          <a:p>
            <a:r>
              <a:rPr dirty="0" lang="en-US" sz="3200"/>
              <a:t>Use the ideas that we read about in Norman.</a:t>
            </a:r>
          </a:p>
          <a:p>
            <a:r>
              <a:rPr dirty="0" lang="en-US" sz="3200"/>
              <a:t>Write 400-500 words and submit by Sunday, 11:59pm.</a:t>
            </a:r>
          </a:p>
        </p:txBody>
      </p:sp>
    </p:spTree>
    <p:extLst>
      <p:ext uri="{BB962C8B-B14F-4D97-AF65-F5344CB8AC3E}">
        <p14:creationId xmlns:p14="http://schemas.microsoft.com/office/powerpoint/2010/main" val="4208046159"/>
      </p:ext>
    </p:extLst>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3B080-5C28-5900-B8E9-1A99F6E764DD}"/>
              </a:ext>
            </a:extLst>
          </p:cNvPr>
          <p:cNvSpPr>
            <a:spLocks noGrp="1"/>
          </p:cNvSpPr>
          <p:nvPr>
            <p:ph type="title"/>
          </p:nvPr>
        </p:nvSpPr>
        <p:spPr/>
        <p:txBody>
          <a:bodyPr/>
          <a:lstStyle/>
          <a:p>
            <a:r>
              <a:rPr dirty="0" lang="en-US"/>
              <a:t>This week</a:t>
            </a:r>
          </a:p>
        </p:txBody>
      </p:sp>
      <p:sp>
        <p:nvSpPr>
          <p:cNvPr id="4" name="Content Placeholder 3">
            <a:extLst>
              <a:ext uri="{FF2B5EF4-FFF2-40B4-BE49-F238E27FC236}">
                <a16:creationId xmlns:a16="http://schemas.microsoft.com/office/drawing/2014/main" id="{244EE5DF-1C1D-923F-01B0-C47AFEA78F91}"/>
              </a:ext>
            </a:extLst>
          </p:cNvPr>
          <p:cNvSpPr>
            <a:spLocks noGrp="1"/>
          </p:cNvSpPr>
          <p:nvPr>
            <p:ph idx="1" sz="half"/>
          </p:nvPr>
        </p:nvSpPr>
        <p:spPr/>
        <p:txBody>
          <a:bodyPr>
            <a:normAutofit/>
          </a:bodyPr>
          <a:lstStyle/>
          <a:p>
            <a:pPr indent="-461963" marL="461963">
              <a:spcBef>
                <a:spcPts val="2000"/>
              </a:spcBef>
              <a:buFont charset="0" panose="020B0604020202020204" pitchFamily="34" typeface="Arial"/>
              <a:buChar char="•"/>
            </a:pPr>
            <a:r>
              <a:rPr dirty="0" lang="en-US" sz="3200"/>
              <a:t>Complete Week 2 Deliverable </a:t>
            </a:r>
            <a:r>
              <a:rPr b="1" dirty="0" lang="en-US" sz="3200"/>
              <a:t>A Thing I Hate</a:t>
            </a:r>
            <a:endParaRPr dirty="0" lang="en-US" sz="3200"/>
          </a:p>
          <a:p>
            <a:pPr indent="-461963" marL="461963">
              <a:spcBef>
                <a:spcPts val="2000"/>
              </a:spcBef>
              <a:buFont charset="0" panose="020B0604020202020204" pitchFamily="34" typeface="Arial"/>
              <a:buChar char="•"/>
            </a:pPr>
            <a:r>
              <a:rPr dirty="0" lang="en-US" sz="3200"/>
              <a:t>Do Week 3 </a:t>
            </a:r>
            <a:r>
              <a:rPr b="1" dirty="0" lang="en-US" sz="3200"/>
              <a:t>readings</a:t>
            </a:r>
          </a:p>
        </p:txBody>
      </p:sp>
      <p:sp>
        <p:nvSpPr>
          <p:cNvPr id="5" name="Content Placeholder 4">
            <a:extLst>
              <a:ext uri="{FF2B5EF4-FFF2-40B4-BE49-F238E27FC236}">
                <a16:creationId xmlns:a16="http://schemas.microsoft.com/office/drawing/2014/main" id="{9A57436D-3E4E-0317-B912-589A294BD6A4}"/>
              </a:ext>
            </a:extLst>
          </p:cNvPr>
          <p:cNvSpPr>
            <a:spLocks noGrp="1"/>
          </p:cNvSpPr>
          <p:nvPr>
            <p:ph idx="2" sz="half"/>
          </p:nvPr>
        </p:nvSpPr>
        <p:spPr>
          <a:xfrm>
            <a:off x="6719365" y="715026"/>
            <a:ext cx="4937760" cy="4023360"/>
          </a:xfrm>
          <a:prstGeom prst="cloudCallout">
            <a:avLst>
              <a:gd fmla="val -70813" name="adj1"/>
              <a:gd fmla="val 35129" name="adj2"/>
            </a:avLst>
          </a:prstGeom>
        </p:spPr>
        <p:style>
          <a:lnRef idx="2">
            <a:schemeClr val="accent1">
              <a:shade val="15000"/>
            </a:schemeClr>
          </a:lnRef>
          <a:fillRef idx="1">
            <a:schemeClr val="accent1"/>
          </a:fillRef>
          <a:effectRef idx="0">
            <a:schemeClr val="accent1"/>
          </a:effectRef>
          <a:fontRef idx="minor">
            <a:schemeClr val="lt1"/>
          </a:fontRef>
        </p:style>
        <p:txBody>
          <a:bodyPr anchor="ctr">
            <a:normAutofit/>
          </a:bodyPr>
          <a:lstStyle/>
          <a:p>
            <a:pPr algn="ctr"/>
            <a:r>
              <a:rPr dirty="0" lang="en-US" sz="4000"/>
              <a:t>What were the 5 animals we recited earlier?</a:t>
            </a:r>
          </a:p>
        </p:txBody>
      </p:sp>
      <p:pic>
        <p:nvPicPr>
          <p:cNvPr descr="Curly haired woman raising hand" id="7" name="Graphic 6">
            <a:extLst>
              <a:ext uri="{FF2B5EF4-FFF2-40B4-BE49-F238E27FC236}">
                <a16:creationId xmlns:a16="http://schemas.microsoft.com/office/drawing/2014/main" id="{0AD522CD-63E3-3749-BBAD-6127B3454FC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52568" y="3764299"/>
            <a:ext cx="2082471" cy="2634963"/>
          </a:xfrm>
          <a:prstGeom prst="rect">
            <a:avLst/>
          </a:prstGeom>
        </p:spPr>
      </p:pic>
    </p:spTree>
    <p:extLst>
      <p:ext uri="{BB962C8B-B14F-4D97-AF65-F5344CB8AC3E}">
        <p14:creationId xmlns:p14="http://schemas.microsoft.com/office/powerpoint/2010/main" val="2457414531"/>
      </p:ext>
    </p:extLst>
  </p:cSld>
  <p:clrMapOvr>
    <a:masterClrMapping/>
  </p:clrMapOvr>
</p:sld>
</file>

<file path=ppt/theme/theme1.xml><?xml version="1.0" encoding="utf-8"?>
<a:theme xmlns:a="http://schemas.openxmlformats.org/drawingml/2006/main" name="Teaching2_cpyrt">
  <a:themeElements>
    <a:clrScheme name="UC Irvine">
      <a:dk1>
        <a:sysClr val="windowText" lastClr="000000"/>
      </a:dk1>
      <a:lt1>
        <a:sysClr val="window" lastClr="FFFFFF"/>
      </a:lt1>
      <a:dk2>
        <a:srgbClr val="1B3D6D"/>
      </a:dk2>
      <a:lt2>
        <a:srgbClr val="C5BEBF"/>
      </a:lt2>
      <a:accent1>
        <a:srgbClr val="0064A4"/>
      </a:accent1>
      <a:accent2>
        <a:srgbClr val="FFD200"/>
      </a:accent2>
      <a:accent3>
        <a:srgbClr val="6AA2B8"/>
      </a:accent3>
      <a:accent4>
        <a:srgbClr val="F78D2D"/>
      </a:accent4>
      <a:accent5>
        <a:srgbClr val="F7EB5F"/>
      </a:accent5>
      <a:accent6>
        <a:srgbClr val="555759"/>
      </a:accent6>
      <a:hlink>
        <a:srgbClr val="0563C1"/>
      </a:hlink>
      <a:folHlink>
        <a:srgbClr val="954F7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eaching2_cpyrt" id="{507D6BCA-3716-4338-A56E-4402D97C628C}" vid="{CA3C8DF3-8DF9-436E-BBAD-F1BD7A894A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Teaching2_cpyrt</Template>
  <TotalTime>5482</TotalTime>
  <Words>1978</Words>
  <Application>Microsoft Office PowerPoint</Application>
  <PresentationFormat>Widescreen</PresentationFormat>
  <Paragraphs>274</Paragraphs>
  <Slides>51</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51</vt:i4>
      </vt:variant>
    </vt:vector>
  </HeadingPairs>
  <TitlesOfParts>
    <vt:vector size="61" baseType="lpstr">
      <vt:lpstr>Arial</vt:lpstr>
      <vt:lpstr>Arial Black</vt:lpstr>
      <vt:lpstr>Avenir</vt:lpstr>
      <vt:lpstr>Avenir Book</vt:lpstr>
      <vt:lpstr>Calibri</vt:lpstr>
      <vt:lpstr>Calibri Light</vt:lpstr>
      <vt:lpstr>Comfortaa</vt:lpstr>
      <vt:lpstr>Helvetica Neue</vt:lpstr>
      <vt:lpstr>Lexend Deca Light</vt:lpstr>
      <vt:lpstr>Teaching2_cpyrt</vt:lpstr>
      <vt:lpstr>Human Capabilities</vt:lpstr>
      <vt:lpstr>Today’s Agenda</vt:lpstr>
      <vt:lpstr>The Human-Centered Design Perspective</vt:lpstr>
      <vt:lpstr>% of Software Projects that are...</vt:lpstr>
      <vt:lpstr>% of Software Projects that are...</vt:lpstr>
      <vt:lpstr>The Waterfall Model of Design</vt:lpstr>
      <vt:lpstr>The Agile SE Process</vt:lpstr>
      <vt:lpstr>The HCD Process</vt:lpstr>
      <vt:lpstr>Matt’s View on SE &amp; UX Process Models</vt:lpstr>
      <vt:lpstr>Tensions Between SE / UX Approaches</vt:lpstr>
      <vt:lpstr>IDEO’s Design Process</vt:lpstr>
      <vt:lpstr>Qualities of HCD (in IDEO video)</vt:lpstr>
      <vt:lpstr>Today’s Agenda</vt:lpstr>
      <vt:lpstr>Designing for  Human Capabilities</vt:lpstr>
      <vt:lpstr>Basic HCD Principle</vt:lpstr>
      <vt:lpstr>Memory Experiment</vt:lpstr>
      <vt:lpstr>R T J V P</vt:lpstr>
      <vt:lpstr>Recite The Letters</vt:lpstr>
      <vt:lpstr>W X Y I M C P   T X O P I Y Q A H E W M</vt:lpstr>
      <vt:lpstr>Recite the Letters</vt:lpstr>
      <vt:lpstr>Cow  Dog Bird  Cat Rabbit</vt:lpstr>
      <vt:lpstr>List the Animals</vt:lpstr>
      <vt:lpstr>Short-Term vs. Long-Term Memory</vt:lpstr>
      <vt:lpstr>Memory Quiz</vt:lpstr>
      <vt:lpstr>Which is a poster for a  Marvel Movie?</vt:lpstr>
      <vt:lpstr>Recognition vs. Recall</vt:lpstr>
      <vt:lpstr>15 min break</vt:lpstr>
      <vt:lpstr>Today’s Agenda</vt:lpstr>
      <vt:lpstr>Norman Doors</vt:lpstr>
      <vt:lpstr>Norman’s 6 Design Principles</vt:lpstr>
      <vt:lpstr>Affordances</vt:lpstr>
      <vt:lpstr>Signifiers</vt:lpstr>
      <vt:lpstr>Constraints</vt:lpstr>
      <vt:lpstr>Mapping</vt:lpstr>
      <vt:lpstr>Feedback</vt:lpstr>
      <vt:lpstr>Conceptual Model</vt:lpstr>
      <vt:lpstr>Designer’s Conceptual Model</vt:lpstr>
      <vt:lpstr>User’s Mental Model</vt:lpstr>
      <vt:lpstr>Designers and Users have Different Models</vt:lpstr>
      <vt:lpstr>Designers use Metaphors to Communicate the Conceptual Model</vt:lpstr>
      <vt:lpstr>Users revise their mental model through use</vt:lpstr>
      <vt:lpstr>Mental Model: Books / Libraries</vt:lpstr>
      <vt:lpstr>Conceptual Models: Personal Library</vt:lpstr>
      <vt:lpstr>Conceptual Models: Public Library</vt:lpstr>
      <vt:lpstr>Challenge of Designing for Mental Models</vt:lpstr>
      <vt:lpstr>Norman’s 6 Design Principles</vt:lpstr>
      <vt:lpstr>10 min break</vt:lpstr>
      <vt:lpstr>Today’s Agenda</vt:lpstr>
      <vt:lpstr>In-Class Activity: Fundamental Principles</vt:lpstr>
      <vt:lpstr>Assignment: “A Thing I Hate”</vt:lpstr>
      <vt:lpstr>This week</vt:lpstr>
    </vt:vector>
  </TitlesOfParts>
  <Company>UC Irvine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2018-01-14T18:08:46Z</dcterms:created>
  <dc:creator>Matthew Bietz</dc:creator>
  <cp:lastModifiedBy>Matthew Bietz</cp:lastModifiedBy>
  <dcterms:modified xsi:type="dcterms:W3CDTF">2026-04-06T22:42:39Z</dcterms:modified>
  <cp:revision>207</cp:revision>
  <dc:title>PowerPoint Presentation</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data-panorama-remediation-history">
    <vt:lpwstr>[{"isReadingOrderVerified":"true","pageNumber":0,"geomIndex":-1,"issueTypeId":"ReadingOrderIssue:PPTX","dismiss":false,"pageNumbers":[4],"coordinatesList":[[10.0,10.0,2.0,2.0]]},{"isReadingOrderVerified":"true","pageNumber":0,"geomIndex":-1,"issueTypeId":"ReadingOrderIssue:PPTX","dismiss":false,"pageNumbers":[5],"coordinatesList":[[10.0,10.0,2.0,2.0]]},{"isReadingOrderVerified":"true","pageNumber":0,"geomIndex":-1,"issueTypeId":"ReadingOrderIssue:PPTX","dismiss":false,"pageNumbers":[25],"coordinatesList":[[10.0,10.0,2.0,2.0]]},{"isReadingOrderVerified":"true","pageNumber":0,"geomIndex":-1,"issueTypeId":"ReadingOrderIssue:PPTX","dismiss":false,"pageNumbers":[30],"coordinatesList":[[10.0,10.0,2.0,2.0]]},{"isReadingOrderVerified":"true","pageNumber":0,"geomIndex":-1,"issueTypeId":"ReadingOrderIssue:PPTX","dismiss":false,"pageNumbers":[33],"coordinatesList":[[10.0,10.0,2.0,2.0]]},{"pageNumber":0,"geomIndex":890,"lastGeomIndex":989,"textElement":"https://soldevelo.com/blog/is-agile-always-the-best-solution-for-software-development-projects/","tableIndex":-1,"rowIndex":-1,"cellIndex":-1,"fontColor":"#000000","identifiers":{"PARAGRAPH_ID":"37","RUN_ID":"1","SLIDE_ID":"6"},"issueDetails":{"luminance25":"0.6735318685453604","isHeader":"false","luminance75":"0.6735318685453604","textColor":"000000"},"issueTypeId":"LowContrastIssue:PPTX","dismiss":false,"pageNumbers":[7],"coordinatesList":[[12.86400032043457,524.3040161132812,340.5030345916748,4.019999980926514]]},{"pageNumber":0,"geomIndex":890,"lastGeomIndex":989,"rowIndex":-1,"cellIndex":-1,"textElement":"https://soldevelo.com/blog/is-agile-always-the-best-solution-for-software-development-projects/","hyperlinkContext":"Is Agile Always the Best Solution","isLinkDescriptionVerified":false,"identifiers":{"PARAGRAPH_ID":"37","RUN_ID":"1","SLIDE_ID":"6"},"issueTypeId":"HyperlinkContextIssue:PPTX","dismiss":false,"pageNumbers":[7],"coordinatesList":[[12.86400032043457,524.3040161132812,340.5030345916748,4.019999980926514]]}]</vt:lpwstr>
  </property>
  <property pid="3" fmtid="{D5CDD505-2E9C-101B-9397-08002B2CF9AE}" name="ReadingOrderVerifiedPages">
    <vt:lpwstr>4,5,25,30,33</vt:lpwstr>
  </property>
  <property pid="4" fmtid="{D5CDD505-2E9C-101B-9397-08002B2CF9AE}" name="VerifiedLinkDescriptions">
    <vt:lpwstr>https://soldevelo.com/blog/is-agile-always-the-best-solution-for-software-development-projects/</vt:lpwstr>
  </property>
</Properties>
</file>